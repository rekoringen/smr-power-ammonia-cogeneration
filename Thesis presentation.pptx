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4"/>
  </p:sldMasterIdLst>
  <p:notesMasterIdLst>
    <p:notesMasterId r:id="rId37"/>
  </p:notesMasterIdLst>
  <p:handoutMasterIdLst>
    <p:handoutMasterId r:id="rId38"/>
  </p:handoutMasterIdLst>
  <p:sldIdLst>
    <p:sldId id="258" r:id="rId5"/>
    <p:sldId id="295" r:id="rId6"/>
    <p:sldId id="331" r:id="rId7"/>
    <p:sldId id="263" r:id="rId8"/>
    <p:sldId id="316" r:id="rId9"/>
    <p:sldId id="332" r:id="rId10"/>
    <p:sldId id="338" r:id="rId11"/>
    <p:sldId id="326" r:id="rId12"/>
    <p:sldId id="317" r:id="rId13"/>
    <p:sldId id="327" r:id="rId14"/>
    <p:sldId id="325" r:id="rId15"/>
    <p:sldId id="337" r:id="rId16"/>
    <p:sldId id="286" r:id="rId17"/>
    <p:sldId id="333" r:id="rId18"/>
    <p:sldId id="334" r:id="rId19"/>
    <p:sldId id="318" r:id="rId20"/>
    <p:sldId id="339" r:id="rId21"/>
    <p:sldId id="328" r:id="rId22"/>
    <p:sldId id="309" r:id="rId23"/>
    <p:sldId id="302" r:id="rId24"/>
    <p:sldId id="329" r:id="rId25"/>
    <p:sldId id="319" r:id="rId26"/>
    <p:sldId id="335" r:id="rId27"/>
    <p:sldId id="330" r:id="rId28"/>
    <p:sldId id="336" r:id="rId29"/>
    <p:sldId id="320" r:id="rId30"/>
    <p:sldId id="323" r:id="rId31"/>
    <p:sldId id="321" r:id="rId32"/>
    <p:sldId id="312" r:id="rId33"/>
    <p:sldId id="341" r:id="rId34"/>
    <p:sldId id="340" r:id="rId35"/>
    <p:sldId id="322" r:id="rId36"/>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E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9"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notesViewPr>
    <p:cSldViewPr snapToGrid="0">
      <p:cViewPr>
        <p:scale>
          <a:sx n="75" d="100"/>
          <a:sy n="75" d="100"/>
        </p:scale>
        <p:origin x="4074" y="4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overskrift 1">
            <a:extLst>
              <a:ext uri="{FF2B5EF4-FFF2-40B4-BE49-F238E27FC236}">
                <a16:creationId xmlns:a16="http://schemas.microsoft.com/office/drawing/2014/main" id="{623AA0E9-8CD0-4A6E-A65E-A06028B83F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b-NO"/>
          </a:p>
        </p:txBody>
      </p:sp>
      <p:sp>
        <p:nvSpPr>
          <p:cNvPr id="3" name="Plassholder for dato 2">
            <a:extLst>
              <a:ext uri="{FF2B5EF4-FFF2-40B4-BE49-F238E27FC236}">
                <a16:creationId xmlns:a16="http://schemas.microsoft.com/office/drawing/2014/main" id="{D5E2408B-C9AB-4665-AC99-B057BD0A43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2A27760-C090-418F-A8C8-D8F2EEA23F83}" type="datetime1">
              <a:rPr lang="nb-NO" smtClean="0"/>
              <a:t>30.03.2026</a:t>
            </a:fld>
            <a:endParaRPr lang="nb-NO" dirty="0"/>
          </a:p>
        </p:txBody>
      </p:sp>
      <p:sp>
        <p:nvSpPr>
          <p:cNvPr id="4" name="Plassholder for bunntekst 3">
            <a:extLst>
              <a:ext uri="{FF2B5EF4-FFF2-40B4-BE49-F238E27FC236}">
                <a16:creationId xmlns:a16="http://schemas.microsoft.com/office/drawing/2014/main" id="{8CD1B215-531B-4869-BD98-BD3B1390B1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b-NO"/>
          </a:p>
        </p:txBody>
      </p:sp>
      <p:sp>
        <p:nvSpPr>
          <p:cNvPr id="5" name="Plassholder for lysbildenummer 4">
            <a:extLst>
              <a:ext uri="{FF2B5EF4-FFF2-40B4-BE49-F238E27FC236}">
                <a16:creationId xmlns:a16="http://schemas.microsoft.com/office/drawing/2014/main" id="{60B53F21-4D67-455D-8074-E9E6EC26FA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52858E0-3D38-47B7-97D4-4FE08D90D359}" type="slidenum">
              <a:rPr lang="nb-NO" smtClean="0"/>
              <a:t>‹#›</a:t>
            </a:fld>
            <a:endParaRPr lang="nb-NO"/>
          </a:p>
        </p:txBody>
      </p:sp>
    </p:spTree>
    <p:extLst>
      <p:ext uri="{BB962C8B-B14F-4D97-AF65-F5344CB8AC3E}">
        <p14:creationId xmlns:p14="http://schemas.microsoft.com/office/powerpoint/2010/main" val="28214433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overskrif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b-NO" noProof="0"/>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1C08E-0494-44CE-B20B-B3D00F104427}" type="datetime1">
              <a:rPr lang="nb-NO" smtClean="0"/>
              <a:pPr/>
              <a:t>30.03.2026</a:t>
            </a:fld>
            <a:endParaRPr lang="nb-NO" dirty="0"/>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b-NO" noProof="0"/>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b-NO" noProof="0"/>
              <a:t>Klikk for å redigere tekststiler i malen</a:t>
            </a:r>
          </a:p>
          <a:p>
            <a:pPr lvl="1" rtl="0"/>
            <a:r>
              <a:rPr lang="nb-NO" noProof="0"/>
              <a:t>Andre nivå</a:t>
            </a:r>
          </a:p>
          <a:p>
            <a:pPr lvl="2" rtl="0"/>
            <a:r>
              <a:rPr lang="nb-NO" noProof="0"/>
              <a:t>Tredje nivå</a:t>
            </a:r>
          </a:p>
          <a:p>
            <a:pPr lvl="3" rtl="0"/>
            <a:r>
              <a:rPr lang="nb-NO" noProof="0"/>
              <a:t>Fjerde nivå</a:t>
            </a:r>
          </a:p>
          <a:p>
            <a:pPr lvl="4" rtl="0"/>
            <a:r>
              <a:rPr lang="nb-NO" noProof="0"/>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b-NO" noProof="0"/>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84ECAD9-32EE-4091-BDA5-6BD15ACC5E58}" type="slidenum">
              <a:rPr lang="nb-NO" noProof="0" smtClean="0"/>
              <a:t>‹#›</a:t>
            </a:fld>
            <a:endParaRPr lang="nb-NO" noProof="0"/>
          </a:p>
        </p:txBody>
      </p:sp>
    </p:spTree>
    <p:extLst>
      <p:ext uri="{BB962C8B-B14F-4D97-AF65-F5344CB8AC3E}">
        <p14:creationId xmlns:p14="http://schemas.microsoft.com/office/powerpoint/2010/main" val="11066189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txBody>
          <a:bodyPr/>
          <a:lstStyle/>
          <a:p>
            <a:endParaRPr lang="nb-NO"/>
          </a:p>
        </p:txBody>
      </p:sp>
      <p:sp>
        <p:nvSpPr>
          <p:cNvPr id="3" name="Plassholder for notater 2"/>
          <p:cNvSpPr>
            <a:spLocks noGrp="1"/>
          </p:cNvSpPr>
          <p:nvPr>
            <p:ph type="body" idx="1"/>
          </p:nvPr>
        </p:nvSpPr>
        <p:spPr/>
        <p:txBody>
          <a:bodyPr rtlCol="0"/>
          <a:lstStyle/>
          <a:p>
            <a:pPr rtl="0"/>
            <a:endParaRPr lang="nb-NO"/>
          </a:p>
        </p:txBody>
      </p:sp>
      <p:sp>
        <p:nvSpPr>
          <p:cNvPr id="4" name="Plassholder for lysbildenummer 3"/>
          <p:cNvSpPr>
            <a:spLocks noGrp="1"/>
          </p:cNvSpPr>
          <p:nvPr>
            <p:ph type="sldNum" sz="quarter" idx="5"/>
          </p:nvPr>
        </p:nvSpPr>
        <p:spPr/>
        <p:txBody>
          <a:bodyPr rtlCol="0"/>
          <a:lstStyle/>
          <a:p>
            <a:pPr rtl="0"/>
            <a:fld id="{284ECAD9-32EE-4091-BDA5-6BD15ACC5E58}" type="slidenum">
              <a:rPr lang="nb-NO" smtClean="0"/>
              <a:t>1</a:t>
            </a:fld>
            <a:endParaRPr lang="nb-NO"/>
          </a:p>
        </p:txBody>
      </p:sp>
    </p:spTree>
    <p:extLst>
      <p:ext uri="{BB962C8B-B14F-4D97-AF65-F5344CB8AC3E}">
        <p14:creationId xmlns:p14="http://schemas.microsoft.com/office/powerpoint/2010/main" val="2215981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D7EEB-F830-B353-A5FB-815585C1121C}"/>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011346D8-78ED-ABA1-689B-827C19C1A9F0}"/>
              </a:ext>
            </a:extLst>
          </p:cNvPr>
          <p:cNvSpPr>
            <a:spLocks noGrp="1" noRot="1" noChangeAspect="1"/>
          </p:cNvSpPr>
          <p:nvPr>
            <p:ph type="sldImg"/>
          </p:nvPr>
        </p:nvSpPr>
        <p:spPr/>
        <p:txBody>
          <a:bodyPr/>
          <a:lstStyle/>
          <a:p>
            <a:endParaRPr lang="nb-NO"/>
          </a:p>
        </p:txBody>
      </p:sp>
      <p:sp>
        <p:nvSpPr>
          <p:cNvPr id="3" name="Plassholder for notater 2">
            <a:extLst>
              <a:ext uri="{FF2B5EF4-FFF2-40B4-BE49-F238E27FC236}">
                <a16:creationId xmlns:a16="http://schemas.microsoft.com/office/drawing/2014/main" id="{4AC8E1D9-86B6-C3B3-BDC0-AFFBE0DDE2F1}"/>
              </a:ext>
            </a:extLst>
          </p:cNvPr>
          <p:cNvSpPr>
            <a:spLocks noGrp="1"/>
          </p:cNvSpPr>
          <p:nvPr>
            <p:ph type="body" idx="1"/>
          </p:nvPr>
        </p:nvSpPr>
        <p:spPr/>
        <p:txBody>
          <a:bodyPr rtlCol="0"/>
          <a:lstStyle/>
          <a:p>
            <a:pPr rtl="0"/>
            <a:endParaRPr lang="nb-NO"/>
          </a:p>
        </p:txBody>
      </p:sp>
      <p:sp>
        <p:nvSpPr>
          <p:cNvPr id="4" name="Plassholder for lysbildenummer 3">
            <a:extLst>
              <a:ext uri="{FF2B5EF4-FFF2-40B4-BE49-F238E27FC236}">
                <a16:creationId xmlns:a16="http://schemas.microsoft.com/office/drawing/2014/main" id="{1DEB19ED-6023-AFD4-F460-3B8D1A10EF07}"/>
              </a:ext>
            </a:extLst>
          </p:cNvPr>
          <p:cNvSpPr>
            <a:spLocks noGrp="1"/>
          </p:cNvSpPr>
          <p:nvPr>
            <p:ph type="sldNum" sz="quarter" idx="5"/>
          </p:nvPr>
        </p:nvSpPr>
        <p:spPr/>
        <p:txBody>
          <a:bodyPr rtlCol="0"/>
          <a:lstStyle/>
          <a:p>
            <a:pPr rtl="0"/>
            <a:fld id="{284ECAD9-32EE-4091-BDA5-6BD15ACC5E58}" type="slidenum">
              <a:rPr lang="nb-NO" smtClean="0"/>
              <a:t>2</a:t>
            </a:fld>
            <a:endParaRPr lang="nb-NO"/>
          </a:p>
        </p:txBody>
      </p:sp>
    </p:spTree>
    <p:extLst>
      <p:ext uri="{BB962C8B-B14F-4D97-AF65-F5344CB8AC3E}">
        <p14:creationId xmlns:p14="http://schemas.microsoft.com/office/powerpoint/2010/main" val="3812188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txBody>
          <a:bodyPr/>
          <a:lstStyle/>
          <a:p>
            <a:endParaRPr lang="nb-NO"/>
          </a:p>
        </p:txBody>
      </p:sp>
      <p:sp>
        <p:nvSpPr>
          <p:cNvPr id="3" name="Plassholder for notater 2"/>
          <p:cNvSpPr>
            <a:spLocks noGrp="1"/>
          </p:cNvSpPr>
          <p:nvPr>
            <p:ph type="body" idx="1"/>
          </p:nvPr>
        </p:nvSpPr>
        <p:spPr/>
        <p:txBody>
          <a:bodyPr rtlCol="0"/>
          <a:lstStyle/>
          <a:p>
            <a:pPr rtl="0"/>
            <a:endParaRPr lang="nb-NO"/>
          </a:p>
        </p:txBody>
      </p:sp>
      <p:sp>
        <p:nvSpPr>
          <p:cNvPr id="4" name="Plassholder for lysbildenummer 3"/>
          <p:cNvSpPr>
            <a:spLocks noGrp="1"/>
          </p:cNvSpPr>
          <p:nvPr>
            <p:ph type="sldNum" sz="quarter" idx="5"/>
          </p:nvPr>
        </p:nvSpPr>
        <p:spPr/>
        <p:txBody>
          <a:bodyPr rtlCol="0"/>
          <a:lstStyle/>
          <a:p>
            <a:pPr rtl="0"/>
            <a:fld id="{284ECAD9-32EE-4091-BDA5-6BD15ACC5E58}" type="slidenum">
              <a:rPr lang="nb-NO" smtClean="0"/>
              <a:t>4</a:t>
            </a:fld>
            <a:endParaRPr lang="nb-NO"/>
          </a:p>
        </p:txBody>
      </p:sp>
    </p:spTree>
    <p:extLst>
      <p:ext uri="{BB962C8B-B14F-4D97-AF65-F5344CB8AC3E}">
        <p14:creationId xmlns:p14="http://schemas.microsoft.com/office/powerpoint/2010/main" val="2445643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txBody>
          <a:bodyPr/>
          <a:lstStyle/>
          <a:p>
            <a:endParaRPr lang="nb-NO"/>
          </a:p>
        </p:txBody>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pPr rtl="0"/>
            <a:fld id="{284ECAD9-32EE-4091-BDA5-6BD15ACC5E58}" type="slidenum">
              <a:rPr lang="nb-NO" smtClean="0"/>
              <a:t>13</a:t>
            </a:fld>
            <a:endParaRPr lang="nb-NO"/>
          </a:p>
        </p:txBody>
      </p:sp>
    </p:spTree>
    <p:extLst>
      <p:ext uri="{BB962C8B-B14F-4D97-AF65-F5344CB8AC3E}">
        <p14:creationId xmlns:p14="http://schemas.microsoft.com/office/powerpoint/2010/main" val="4113398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93A5A-F0D8-4826-A91A-15C15E990093}"/>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D9EF3EC5-2B87-CB82-CC55-D50E715B936F}"/>
              </a:ext>
            </a:extLst>
          </p:cNvPr>
          <p:cNvSpPr>
            <a:spLocks noGrp="1" noRot="1" noChangeAspect="1"/>
          </p:cNvSpPr>
          <p:nvPr>
            <p:ph type="sldImg"/>
          </p:nvPr>
        </p:nvSpPr>
        <p:spPr/>
        <p:txBody>
          <a:bodyPr/>
          <a:lstStyle/>
          <a:p>
            <a:endParaRPr lang="nb-NO"/>
          </a:p>
        </p:txBody>
      </p:sp>
      <p:sp>
        <p:nvSpPr>
          <p:cNvPr id="3" name="Plassholder for notater 2">
            <a:extLst>
              <a:ext uri="{FF2B5EF4-FFF2-40B4-BE49-F238E27FC236}">
                <a16:creationId xmlns:a16="http://schemas.microsoft.com/office/drawing/2014/main" id="{7CB666CD-1CAA-0015-130B-9D1F95C915F6}"/>
              </a:ext>
            </a:extLst>
          </p:cNvPr>
          <p:cNvSpPr>
            <a:spLocks noGrp="1"/>
          </p:cNvSpPr>
          <p:nvPr>
            <p:ph type="body" idx="1"/>
          </p:nvPr>
        </p:nvSpPr>
        <p:spPr/>
        <p:txBody>
          <a:bodyPr/>
          <a:lstStyle/>
          <a:p>
            <a:r>
              <a:rPr lang="nb-NO" dirty="0"/>
              <a:t>Øyeblikksbildet av hva jeg ser på, men kan hende jeg dropper noen etterhvert</a:t>
            </a:r>
          </a:p>
        </p:txBody>
      </p:sp>
      <p:sp>
        <p:nvSpPr>
          <p:cNvPr id="4" name="Plassholder for lysbildenummer 3">
            <a:extLst>
              <a:ext uri="{FF2B5EF4-FFF2-40B4-BE49-F238E27FC236}">
                <a16:creationId xmlns:a16="http://schemas.microsoft.com/office/drawing/2014/main" id="{758B6535-11C5-982C-9A72-F0C9F0E337BA}"/>
              </a:ext>
            </a:extLst>
          </p:cNvPr>
          <p:cNvSpPr>
            <a:spLocks noGrp="1"/>
          </p:cNvSpPr>
          <p:nvPr>
            <p:ph type="sldNum" sz="quarter" idx="5"/>
          </p:nvPr>
        </p:nvSpPr>
        <p:spPr/>
        <p:txBody>
          <a:bodyPr/>
          <a:lstStyle/>
          <a:p>
            <a:pPr rtl="0"/>
            <a:fld id="{284ECAD9-32EE-4091-BDA5-6BD15ACC5E58}" type="slidenum">
              <a:rPr lang="nb-NO" smtClean="0"/>
              <a:t>20</a:t>
            </a:fld>
            <a:endParaRPr lang="nb-NO"/>
          </a:p>
        </p:txBody>
      </p:sp>
    </p:spTree>
    <p:extLst>
      <p:ext uri="{BB962C8B-B14F-4D97-AF65-F5344CB8AC3E}">
        <p14:creationId xmlns:p14="http://schemas.microsoft.com/office/powerpoint/2010/main" val="2887800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pPr rtl="0"/>
            <a:fld id="{284ECAD9-32EE-4091-BDA5-6BD15ACC5E58}" type="slidenum">
              <a:rPr lang="nb-NO" noProof="0" smtClean="0"/>
              <a:t>22</a:t>
            </a:fld>
            <a:endParaRPr lang="nb-NO" noProof="0"/>
          </a:p>
        </p:txBody>
      </p:sp>
    </p:spTree>
    <p:extLst>
      <p:ext uri="{BB962C8B-B14F-4D97-AF65-F5344CB8AC3E}">
        <p14:creationId xmlns:p14="http://schemas.microsoft.com/office/powerpoint/2010/main" val="418388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pPr rtl="0"/>
            <a:fld id="{284ECAD9-32EE-4091-BDA5-6BD15ACC5E58}" type="slidenum">
              <a:rPr lang="nb-NO" noProof="0" smtClean="0"/>
              <a:t>32</a:t>
            </a:fld>
            <a:endParaRPr lang="nb-NO" noProof="0"/>
          </a:p>
        </p:txBody>
      </p:sp>
    </p:spTree>
    <p:extLst>
      <p:ext uri="{BB962C8B-B14F-4D97-AF65-F5344CB8AC3E}">
        <p14:creationId xmlns:p14="http://schemas.microsoft.com/office/powerpoint/2010/main" val="4288955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081E-00B2-CB28-32FE-2E04F1F5EC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FB4636BC-4726-47E8-5963-B657907F6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F560A98E-1645-BA12-8EB2-52FE87C964CE}"/>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5" name="Footer Placeholder 4">
            <a:extLst>
              <a:ext uri="{FF2B5EF4-FFF2-40B4-BE49-F238E27FC236}">
                <a16:creationId xmlns:a16="http://schemas.microsoft.com/office/drawing/2014/main" id="{BE9042CC-042E-00F3-03E1-EF246DF5A631}"/>
              </a:ext>
            </a:extLst>
          </p:cNvPr>
          <p:cNvSpPr>
            <a:spLocks noGrp="1"/>
          </p:cNvSpPr>
          <p:nvPr>
            <p:ph type="ftr" sz="quarter" idx="11"/>
          </p:nvPr>
        </p:nvSpPr>
        <p:spPr/>
        <p:txBody>
          <a:bodyPr/>
          <a:lstStyle/>
          <a:p>
            <a:pPr rtl="0"/>
            <a:r>
              <a:rPr lang="nb-NO" noProof="0"/>
              <a:t>Bunntekst</a:t>
            </a:r>
          </a:p>
        </p:txBody>
      </p:sp>
      <p:sp>
        <p:nvSpPr>
          <p:cNvPr id="6" name="Slide Number Placeholder 5">
            <a:extLst>
              <a:ext uri="{FF2B5EF4-FFF2-40B4-BE49-F238E27FC236}">
                <a16:creationId xmlns:a16="http://schemas.microsoft.com/office/drawing/2014/main" id="{AFCFDC2D-CF18-8652-8BE3-E6D6B3EC8C79}"/>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346597035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AA2B-B359-7982-8C2A-9926B343629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1BA07233-0BB2-A9E0-1DFB-F11FA7C468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5F1D60D-E645-74FA-B708-6D61EECF0FF8}"/>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5" name="Footer Placeholder 4">
            <a:extLst>
              <a:ext uri="{FF2B5EF4-FFF2-40B4-BE49-F238E27FC236}">
                <a16:creationId xmlns:a16="http://schemas.microsoft.com/office/drawing/2014/main" id="{47ED113F-1DEA-0424-2F45-A783B59C501D}"/>
              </a:ext>
            </a:extLst>
          </p:cNvPr>
          <p:cNvSpPr>
            <a:spLocks noGrp="1"/>
          </p:cNvSpPr>
          <p:nvPr>
            <p:ph type="ftr" sz="quarter" idx="11"/>
          </p:nvPr>
        </p:nvSpPr>
        <p:spPr/>
        <p:txBody>
          <a:bodyPr/>
          <a:lstStyle/>
          <a:p>
            <a:pPr rtl="0"/>
            <a:r>
              <a:rPr lang="nb-NO" noProof="0"/>
              <a:t>Bunntekst</a:t>
            </a:r>
          </a:p>
        </p:txBody>
      </p:sp>
      <p:sp>
        <p:nvSpPr>
          <p:cNvPr id="6" name="Slide Number Placeholder 5">
            <a:extLst>
              <a:ext uri="{FF2B5EF4-FFF2-40B4-BE49-F238E27FC236}">
                <a16:creationId xmlns:a16="http://schemas.microsoft.com/office/drawing/2014/main" id="{721B8EF0-0C8F-2398-AB69-F6948319C15A}"/>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33346542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3D128-FBCB-6C08-FC37-B77EC2688F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01D9A952-2137-DFF4-2964-649616FBF0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643B73-9F32-3DE8-9BA1-0B5890EC8A52}"/>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5" name="Footer Placeholder 4">
            <a:extLst>
              <a:ext uri="{FF2B5EF4-FFF2-40B4-BE49-F238E27FC236}">
                <a16:creationId xmlns:a16="http://schemas.microsoft.com/office/drawing/2014/main" id="{555A0FB7-F243-5020-33D9-D3FAF7BB4516}"/>
              </a:ext>
            </a:extLst>
          </p:cNvPr>
          <p:cNvSpPr>
            <a:spLocks noGrp="1"/>
          </p:cNvSpPr>
          <p:nvPr>
            <p:ph type="ftr" sz="quarter" idx="11"/>
          </p:nvPr>
        </p:nvSpPr>
        <p:spPr/>
        <p:txBody>
          <a:bodyPr/>
          <a:lstStyle/>
          <a:p>
            <a:pPr rtl="0"/>
            <a:r>
              <a:rPr lang="nb-NO" noProof="0"/>
              <a:t>Bunntekst</a:t>
            </a:r>
          </a:p>
        </p:txBody>
      </p:sp>
      <p:sp>
        <p:nvSpPr>
          <p:cNvPr id="6" name="Slide Number Placeholder 5">
            <a:extLst>
              <a:ext uri="{FF2B5EF4-FFF2-40B4-BE49-F238E27FC236}">
                <a16:creationId xmlns:a16="http://schemas.microsoft.com/office/drawing/2014/main" id="{2C991897-BC4F-8791-797B-D805B58FFDE8}"/>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230447781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A68D7-30B2-3B97-90DD-45EF80F685AD}"/>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75F3B27-B7BC-CBA9-7840-EE37960EE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45949FBF-1532-9907-0F5F-C4C37E04F3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F4FA3085-1AB8-C1DD-6643-1F49882D9F86}"/>
              </a:ext>
            </a:extLst>
          </p:cNvPr>
          <p:cNvSpPr>
            <a:spLocks noGrp="1"/>
          </p:cNvSpPr>
          <p:nvPr>
            <p:ph type="dt" sz="half" idx="10"/>
          </p:nvPr>
        </p:nvSpPr>
        <p:spPr/>
        <p:txBody>
          <a:bodyPr/>
          <a:lstStyle/>
          <a:p>
            <a:pPr rtl="0"/>
            <a:fld id="{1F00988B-FDB4-48F5-8872-F1C0DAE0B66C}" type="datetime1">
              <a:rPr lang="nb-NO" noProof="0" smtClean="0"/>
              <a:t>30.03.2026</a:t>
            </a:fld>
            <a:endParaRPr lang="nb-NO" noProof="0"/>
          </a:p>
        </p:txBody>
      </p:sp>
      <p:sp>
        <p:nvSpPr>
          <p:cNvPr id="6" name="Footer Placeholder 5">
            <a:extLst>
              <a:ext uri="{FF2B5EF4-FFF2-40B4-BE49-F238E27FC236}">
                <a16:creationId xmlns:a16="http://schemas.microsoft.com/office/drawing/2014/main" id="{0EA325E6-A461-47DB-B0FA-39810E4B8877}"/>
              </a:ext>
            </a:extLst>
          </p:cNvPr>
          <p:cNvSpPr>
            <a:spLocks noGrp="1"/>
          </p:cNvSpPr>
          <p:nvPr>
            <p:ph type="ftr" sz="quarter" idx="11"/>
          </p:nvPr>
        </p:nvSpPr>
        <p:spPr/>
        <p:txBody>
          <a:bodyPr/>
          <a:lstStyle/>
          <a:p>
            <a:pPr rtl="0"/>
            <a:r>
              <a:rPr lang="nb-NO" noProof="0"/>
              <a:t>Bunntekst</a:t>
            </a:r>
          </a:p>
        </p:txBody>
      </p:sp>
      <p:sp>
        <p:nvSpPr>
          <p:cNvPr id="7" name="Slide Number Placeholder 6">
            <a:extLst>
              <a:ext uri="{FF2B5EF4-FFF2-40B4-BE49-F238E27FC236}">
                <a16:creationId xmlns:a16="http://schemas.microsoft.com/office/drawing/2014/main" id="{00E08994-519E-4213-EA9B-A64073AD27C3}"/>
              </a:ext>
            </a:extLst>
          </p:cNvPr>
          <p:cNvSpPr>
            <a:spLocks noGrp="1"/>
          </p:cNvSpPr>
          <p:nvPr>
            <p:ph type="sldNum" sz="quarter" idx="12"/>
          </p:nvPr>
        </p:nvSpPr>
        <p:spPr/>
        <p:txBody>
          <a:bodyPr/>
          <a:lstStyle/>
          <a:p>
            <a:pPr rtl="0"/>
            <a:fld id="{3A98EE3D-8CD1-4C3F-BD1C-C98C9596463C}" type="slidenum">
              <a:rPr lang="nb-NO" noProof="0" smtClean="0"/>
              <a:t>‹#›</a:t>
            </a:fld>
            <a:endParaRPr lang="nb-NO" noProof="0"/>
          </a:p>
        </p:txBody>
      </p:sp>
    </p:spTree>
    <p:extLst>
      <p:ext uri="{BB962C8B-B14F-4D97-AF65-F5344CB8AC3E}">
        <p14:creationId xmlns:p14="http://schemas.microsoft.com/office/powerpoint/2010/main" val="730222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4B8D-5288-052B-BD85-AA19CCD2E482}"/>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2B9BD54C-5F58-9107-5B91-B562DE7F93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36ECB-C906-1040-438D-A21FC9487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3F28FF3F-D28C-F4BF-F42C-8B9799366B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C70B07-4835-B451-8BCA-A4017E018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E34729A1-FF14-2CCD-EA9F-2DEA4B12EEF4}"/>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8" name="Footer Placeholder 7">
            <a:extLst>
              <a:ext uri="{FF2B5EF4-FFF2-40B4-BE49-F238E27FC236}">
                <a16:creationId xmlns:a16="http://schemas.microsoft.com/office/drawing/2014/main" id="{511B1E9E-3903-2285-ED5D-B8FD9670D6B7}"/>
              </a:ext>
            </a:extLst>
          </p:cNvPr>
          <p:cNvSpPr>
            <a:spLocks noGrp="1"/>
          </p:cNvSpPr>
          <p:nvPr>
            <p:ph type="ftr" sz="quarter" idx="11"/>
          </p:nvPr>
        </p:nvSpPr>
        <p:spPr/>
        <p:txBody>
          <a:bodyPr/>
          <a:lstStyle/>
          <a:p>
            <a:pPr rtl="0"/>
            <a:r>
              <a:rPr lang="nb-NO" noProof="0"/>
              <a:t>Bunntekst</a:t>
            </a:r>
          </a:p>
        </p:txBody>
      </p:sp>
      <p:sp>
        <p:nvSpPr>
          <p:cNvPr id="9" name="Slide Number Placeholder 8">
            <a:extLst>
              <a:ext uri="{FF2B5EF4-FFF2-40B4-BE49-F238E27FC236}">
                <a16:creationId xmlns:a16="http://schemas.microsoft.com/office/drawing/2014/main" id="{479114E5-8369-81E9-2B30-F0F03F1C91AC}"/>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426828647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CADE7-3C4B-9BEE-0B38-8FD0A1E5DFE5}"/>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B58F4BA4-7BD2-3DE0-798B-7C3481591C14}"/>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4" name="Footer Placeholder 3">
            <a:extLst>
              <a:ext uri="{FF2B5EF4-FFF2-40B4-BE49-F238E27FC236}">
                <a16:creationId xmlns:a16="http://schemas.microsoft.com/office/drawing/2014/main" id="{0F047542-4BD4-AD05-35A9-549799CFD5A1}"/>
              </a:ext>
            </a:extLst>
          </p:cNvPr>
          <p:cNvSpPr>
            <a:spLocks noGrp="1"/>
          </p:cNvSpPr>
          <p:nvPr>
            <p:ph type="ftr" sz="quarter" idx="11"/>
          </p:nvPr>
        </p:nvSpPr>
        <p:spPr/>
        <p:txBody>
          <a:bodyPr/>
          <a:lstStyle/>
          <a:p>
            <a:pPr rtl="0"/>
            <a:r>
              <a:rPr lang="nb-NO" noProof="0"/>
              <a:t>Bunntekst</a:t>
            </a:r>
          </a:p>
        </p:txBody>
      </p:sp>
      <p:sp>
        <p:nvSpPr>
          <p:cNvPr id="5" name="Slide Number Placeholder 4">
            <a:extLst>
              <a:ext uri="{FF2B5EF4-FFF2-40B4-BE49-F238E27FC236}">
                <a16:creationId xmlns:a16="http://schemas.microsoft.com/office/drawing/2014/main" id="{290C3E28-D6EA-5543-01CD-27F9E9B2D756}"/>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382339011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95D750-CA4A-C40B-7912-FB4691C3415F}"/>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3" name="Footer Placeholder 2">
            <a:extLst>
              <a:ext uri="{FF2B5EF4-FFF2-40B4-BE49-F238E27FC236}">
                <a16:creationId xmlns:a16="http://schemas.microsoft.com/office/drawing/2014/main" id="{8E2B37B7-1BD0-2EAF-5A18-EB8AA0402A6A}"/>
              </a:ext>
            </a:extLst>
          </p:cNvPr>
          <p:cNvSpPr>
            <a:spLocks noGrp="1"/>
          </p:cNvSpPr>
          <p:nvPr>
            <p:ph type="ftr" sz="quarter" idx="11"/>
          </p:nvPr>
        </p:nvSpPr>
        <p:spPr/>
        <p:txBody>
          <a:bodyPr/>
          <a:lstStyle/>
          <a:p>
            <a:pPr rtl="0"/>
            <a:r>
              <a:rPr lang="nb-NO" noProof="0"/>
              <a:t>Bunntekst</a:t>
            </a:r>
          </a:p>
        </p:txBody>
      </p:sp>
      <p:sp>
        <p:nvSpPr>
          <p:cNvPr id="4" name="Slide Number Placeholder 3">
            <a:extLst>
              <a:ext uri="{FF2B5EF4-FFF2-40B4-BE49-F238E27FC236}">
                <a16:creationId xmlns:a16="http://schemas.microsoft.com/office/drawing/2014/main" id="{83784630-3A88-3649-82C2-9F8A48283492}"/>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343732574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6D232-9C5C-C713-6D28-9A9BBBC391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BBA9C8FC-A004-856C-772B-5E6BF00764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637C5551-5371-F1B7-50AD-96672C29D8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B19FD6-115F-4707-AE25-BBEEB759B4B0}"/>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6" name="Footer Placeholder 5">
            <a:extLst>
              <a:ext uri="{FF2B5EF4-FFF2-40B4-BE49-F238E27FC236}">
                <a16:creationId xmlns:a16="http://schemas.microsoft.com/office/drawing/2014/main" id="{56B4A9B1-A098-4428-E66E-C30FCE0AD031}"/>
              </a:ext>
            </a:extLst>
          </p:cNvPr>
          <p:cNvSpPr>
            <a:spLocks noGrp="1"/>
          </p:cNvSpPr>
          <p:nvPr>
            <p:ph type="ftr" sz="quarter" idx="11"/>
          </p:nvPr>
        </p:nvSpPr>
        <p:spPr/>
        <p:txBody>
          <a:bodyPr/>
          <a:lstStyle/>
          <a:p>
            <a:pPr rtl="0"/>
            <a:r>
              <a:rPr lang="nb-NO" noProof="0"/>
              <a:t>Bunntekst</a:t>
            </a:r>
          </a:p>
        </p:txBody>
      </p:sp>
      <p:sp>
        <p:nvSpPr>
          <p:cNvPr id="7" name="Slide Number Placeholder 6">
            <a:extLst>
              <a:ext uri="{FF2B5EF4-FFF2-40B4-BE49-F238E27FC236}">
                <a16:creationId xmlns:a16="http://schemas.microsoft.com/office/drawing/2014/main" id="{4C9B060A-680F-43A9-444E-24D3C3126B8C}"/>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376704116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509B-82E2-E095-FD9D-1B71A12ED5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020B330E-B1C8-6116-249E-E6DD2F8347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867C07E6-97E9-EE4C-A2D7-40B70E8ABE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199B69-7A2C-AF36-AFC0-72F8128334B0}"/>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6" name="Footer Placeholder 5">
            <a:extLst>
              <a:ext uri="{FF2B5EF4-FFF2-40B4-BE49-F238E27FC236}">
                <a16:creationId xmlns:a16="http://schemas.microsoft.com/office/drawing/2014/main" id="{DFA3926D-F957-3284-3DB8-6B1226811FD5}"/>
              </a:ext>
            </a:extLst>
          </p:cNvPr>
          <p:cNvSpPr>
            <a:spLocks noGrp="1"/>
          </p:cNvSpPr>
          <p:nvPr>
            <p:ph type="ftr" sz="quarter" idx="11"/>
          </p:nvPr>
        </p:nvSpPr>
        <p:spPr/>
        <p:txBody>
          <a:bodyPr/>
          <a:lstStyle/>
          <a:p>
            <a:pPr rtl="0"/>
            <a:r>
              <a:rPr lang="nb-NO" noProof="0"/>
              <a:t>Bunntekst</a:t>
            </a:r>
          </a:p>
        </p:txBody>
      </p:sp>
      <p:sp>
        <p:nvSpPr>
          <p:cNvPr id="7" name="Slide Number Placeholder 6">
            <a:extLst>
              <a:ext uri="{FF2B5EF4-FFF2-40B4-BE49-F238E27FC236}">
                <a16:creationId xmlns:a16="http://schemas.microsoft.com/office/drawing/2014/main" id="{0794DDE5-FAD8-5EA9-73B5-FD6DC481C71B}"/>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176901550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C81D-08ED-B064-8ADE-A07582D5D308}"/>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DD214554-FCAF-AFB5-EE9D-CD1790467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A691F0D1-92F3-FF6C-F29A-12772424ABDD}"/>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5" name="Footer Placeholder 4">
            <a:extLst>
              <a:ext uri="{FF2B5EF4-FFF2-40B4-BE49-F238E27FC236}">
                <a16:creationId xmlns:a16="http://schemas.microsoft.com/office/drawing/2014/main" id="{8C21406D-1470-5F42-6FB1-2C0A86B6488F}"/>
              </a:ext>
            </a:extLst>
          </p:cNvPr>
          <p:cNvSpPr>
            <a:spLocks noGrp="1"/>
          </p:cNvSpPr>
          <p:nvPr>
            <p:ph type="ftr" sz="quarter" idx="11"/>
          </p:nvPr>
        </p:nvSpPr>
        <p:spPr/>
        <p:txBody>
          <a:bodyPr/>
          <a:lstStyle/>
          <a:p>
            <a:pPr rtl="0"/>
            <a:r>
              <a:rPr lang="nb-NO" noProof="0"/>
              <a:t>Bunntekst</a:t>
            </a:r>
          </a:p>
        </p:txBody>
      </p:sp>
      <p:sp>
        <p:nvSpPr>
          <p:cNvPr id="6" name="Slide Number Placeholder 5">
            <a:extLst>
              <a:ext uri="{FF2B5EF4-FFF2-40B4-BE49-F238E27FC236}">
                <a16:creationId xmlns:a16="http://schemas.microsoft.com/office/drawing/2014/main" id="{6BAA821E-63E4-C039-DF63-23148D5E8207}"/>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265658360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4A7CC-A370-2709-AE9A-90665F5918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3D3D71F3-A107-9FFB-7E40-6861020818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BDEB715-23FD-EC4F-052A-FAE1D453D130}"/>
              </a:ext>
            </a:extLst>
          </p:cNvPr>
          <p:cNvSpPr>
            <a:spLocks noGrp="1"/>
          </p:cNvSpPr>
          <p:nvPr>
            <p:ph type="dt" sz="half" idx="10"/>
          </p:nvPr>
        </p:nvSpPr>
        <p:spPr/>
        <p:txBody>
          <a:bodyPr/>
          <a:lstStyle/>
          <a:p>
            <a:pPr rtl="0"/>
            <a:fld id="{C44CB6DA-BB36-4E96-B7C4-41B5598F1BBC}" type="datetime1">
              <a:rPr lang="nb-NO" noProof="0" smtClean="0"/>
              <a:t>30.03.2026</a:t>
            </a:fld>
            <a:endParaRPr lang="nb-NO" noProof="0"/>
          </a:p>
        </p:txBody>
      </p:sp>
      <p:sp>
        <p:nvSpPr>
          <p:cNvPr id="5" name="Footer Placeholder 4">
            <a:extLst>
              <a:ext uri="{FF2B5EF4-FFF2-40B4-BE49-F238E27FC236}">
                <a16:creationId xmlns:a16="http://schemas.microsoft.com/office/drawing/2014/main" id="{E40F625F-9D00-6E51-A8F1-F232152D3961}"/>
              </a:ext>
            </a:extLst>
          </p:cNvPr>
          <p:cNvSpPr>
            <a:spLocks noGrp="1"/>
          </p:cNvSpPr>
          <p:nvPr>
            <p:ph type="ftr" sz="quarter" idx="11"/>
          </p:nvPr>
        </p:nvSpPr>
        <p:spPr/>
        <p:txBody>
          <a:bodyPr/>
          <a:lstStyle/>
          <a:p>
            <a:pPr rtl="0"/>
            <a:r>
              <a:rPr lang="nb-NO" noProof="0"/>
              <a:t>Bunntekst</a:t>
            </a:r>
          </a:p>
        </p:txBody>
      </p:sp>
      <p:sp>
        <p:nvSpPr>
          <p:cNvPr id="6" name="Slide Number Placeholder 5">
            <a:extLst>
              <a:ext uri="{FF2B5EF4-FFF2-40B4-BE49-F238E27FC236}">
                <a16:creationId xmlns:a16="http://schemas.microsoft.com/office/drawing/2014/main" id="{3DA77C0F-8F6F-DF52-80A5-9321EFE8B5E4}"/>
              </a:ext>
            </a:extLst>
          </p:cNvPr>
          <p:cNvSpPr>
            <a:spLocks noGrp="1"/>
          </p:cNvSpPr>
          <p:nvPr>
            <p:ph type="sldNum" sz="quarter" idx="12"/>
          </p:nvPr>
        </p:nvSpPr>
        <p:spPr/>
        <p:txBody>
          <a:bodyPr/>
          <a:lstStyle/>
          <a:p>
            <a:pPr rtl="0"/>
            <a:fld id="{3A98EE3D-8CD1-4C3F-BD1C-C98C9596463C}" type="slidenum">
              <a:rPr lang="nb-NO" noProof="0" smtClean="0"/>
              <a:pPr/>
              <a:t>‹#›</a:t>
            </a:fld>
            <a:endParaRPr lang="nb-NO" noProof="0"/>
          </a:p>
        </p:txBody>
      </p:sp>
    </p:spTree>
    <p:extLst>
      <p:ext uri="{BB962C8B-B14F-4D97-AF65-F5344CB8AC3E}">
        <p14:creationId xmlns:p14="http://schemas.microsoft.com/office/powerpoint/2010/main" val="41001526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tellysbilde">
    <p:spTree>
      <p:nvGrpSpPr>
        <p:cNvPr id="1" name=""/>
        <p:cNvGrpSpPr/>
        <p:nvPr/>
      </p:nvGrpSpPr>
      <p:grpSpPr>
        <a:xfrm>
          <a:off x="0" y="0"/>
          <a:ext cx="0" cy="0"/>
          <a:chOff x="0" y="0"/>
          <a:chExt cx="0" cy="0"/>
        </a:xfrm>
      </p:grpSpPr>
      <p:sp>
        <p:nvSpPr>
          <p:cNvPr id="13" name="Parallellogram 14">
            <a:extLst>
              <a:ext uri="{FF2B5EF4-FFF2-40B4-BE49-F238E27FC236}">
                <a16:creationId xmlns:a16="http://schemas.microsoft.com/office/drawing/2014/main" id="{F5AA8A10-E19C-430B-9D5D-8D12F92BFEC5}"/>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b-NO" noProof="0"/>
          </a:p>
        </p:txBody>
      </p:sp>
      <p:sp>
        <p:nvSpPr>
          <p:cNvPr id="12" name="Rektangel 11">
            <a:extLst>
              <a:ext uri="{FF2B5EF4-FFF2-40B4-BE49-F238E27FC236}">
                <a16:creationId xmlns:a16="http://schemas.microsoft.com/office/drawing/2014/main" id="{A7C93D4F-3003-4D58-9AFB-356A0F800F42}"/>
              </a:ext>
            </a:extLst>
          </p:cNvPr>
          <p:cNvSpPr/>
          <p:nvPr userDrawn="1"/>
        </p:nvSpPr>
        <p:spPr>
          <a:xfrm>
            <a:off x="6394450" y="0"/>
            <a:ext cx="15392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
        <p:nvSpPr>
          <p:cNvPr id="4" name="Plassholder for dato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86744623-7880-4550-B260-3950779CE188}" type="datetime1">
              <a:rPr lang="nb-NO" noProof="0" smtClean="0"/>
              <a:t>30.03.2026</a:t>
            </a:fld>
            <a:endParaRPr lang="nb-NO" noProof="0"/>
          </a:p>
        </p:txBody>
      </p:sp>
      <p:sp>
        <p:nvSpPr>
          <p:cNvPr id="5" name="Plassholder for bunntekst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r>
              <a:rPr lang="nb-NO" noProof="0"/>
              <a:t>Bunntekst</a:t>
            </a:r>
          </a:p>
        </p:txBody>
      </p:sp>
      <p:sp>
        <p:nvSpPr>
          <p:cNvPr id="6" name="Plassholder for lysbildenumm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nb-NO" noProof="0" smtClean="0"/>
              <a:t>‹#›</a:t>
            </a:fld>
            <a:endParaRPr lang="nb-NO" noProof="0"/>
          </a:p>
        </p:txBody>
      </p:sp>
      <p:sp>
        <p:nvSpPr>
          <p:cNvPr id="10" name="Plassholder for bilde 9">
            <a:extLst>
              <a:ext uri="{FF2B5EF4-FFF2-40B4-BE49-F238E27FC236}">
                <a16:creationId xmlns:a16="http://schemas.microsoft.com/office/drawing/2014/main" id="{86028FDE-6655-4B55-B3B4-5B366034E8A8}"/>
              </a:ext>
            </a:extLst>
          </p:cNvPr>
          <p:cNvSpPr>
            <a:spLocks noGrp="1"/>
          </p:cNvSpPr>
          <p:nvPr>
            <p:ph type="pic" sz="quarter" idx="13"/>
          </p:nvPr>
        </p:nvSpPr>
        <p:spPr>
          <a:xfrm>
            <a:off x="0" y="0"/>
            <a:ext cx="6311900" cy="6858000"/>
          </a:xfrm>
        </p:spPr>
        <p:txBody>
          <a:bodyPr rtlCol="0"/>
          <a:lstStyle/>
          <a:p>
            <a:pPr rtl="0"/>
            <a:r>
              <a:rPr lang="en-US" noProof="0"/>
              <a:t>Click icon to add picture</a:t>
            </a:r>
            <a:endParaRPr lang="nb-NO" noProof="0"/>
          </a:p>
        </p:txBody>
      </p:sp>
      <p:sp>
        <p:nvSpPr>
          <p:cNvPr id="2" name="Tittel 1"/>
          <p:cNvSpPr>
            <a:spLocks noGrp="1"/>
          </p:cNvSpPr>
          <p:nvPr>
            <p:ph type="ctrTitle" hasCustomPrompt="1"/>
          </p:nvPr>
        </p:nvSpPr>
        <p:spPr>
          <a:xfrm>
            <a:off x="6629400" y="758952"/>
            <a:ext cx="4526280" cy="3227514"/>
          </a:xfrm>
        </p:spPr>
        <p:txBody>
          <a:bodyPr rtlCol="0" anchor="b">
            <a:normAutofit/>
          </a:bodyPr>
          <a:lstStyle>
            <a:lvl1pPr algn="l">
              <a:lnSpc>
                <a:spcPct val="90000"/>
              </a:lnSpc>
              <a:defRPr sz="6000" b="1" spc="-50" baseline="0">
                <a:solidFill>
                  <a:schemeClr val="accent1"/>
                </a:solidFill>
                <a:latin typeface="+mn-lt"/>
              </a:defRPr>
            </a:lvl1pPr>
          </a:lstStyle>
          <a:p>
            <a:pPr rtl="0"/>
            <a:r>
              <a:rPr lang="nb-NO" noProof="0"/>
              <a:t>Klikk for å redigere tittelstil i malen</a:t>
            </a:r>
          </a:p>
        </p:txBody>
      </p:sp>
      <p:sp>
        <p:nvSpPr>
          <p:cNvPr id="3" name="Undertittel 2"/>
          <p:cNvSpPr>
            <a:spLocks noGrp="1"/>
          </p:cNvSpPr>
          <p:nvPr>
            <p:ph type="subTitle" idx="1"/>
          </p:nvPr>
        </p:nvSpPr>
        <p:spPr>
          <a:xfrm>
            <a:off x="6632171" y="4508500"/>
            <a:ext cx="4526280" cy="1279652"/>
          </a:xfrm>
        </p:spPr>
        <p:txBody>
          <a:bodyPr lIns="91440" rIns="91440" rtlCol="0">
            <a:normAutofit/>
          </a:bodyPr>
          <a:lstStyle>
            <a:lvl1pPr marL="0" indent="0" algn="l">
              <a:buNone/>
              <a:defRPr sz="2400" cap="all" spc="200" baseline="0">
                <a:solidFill>
                  <a:schemeClr val="tx1">
                    <a:lumMod val="75000"/>
                    <a:lumOff val="25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nb-NO" noProof="0"/>
          </a:p>
        </p:txBody>
      </p:sp>
      <p:sp>
        <p:nvSpPr>
          <p:cNvPr id="11" name="Rektangel 10">
            <a:extLst>
              <a:ext uri="{FF2B5EF4-FFF2-40B4-BE49-F238E27FC236}">
                <a16:creationId xmlns:a16="http://schemas.microsoft.com/office/drawing/2014/main" id="{6D3E1BBA-670B-4CAE-B839-50ADB23DDBC6}"/>
              </a:ext>
            </a:extLst>
          </p:cNvPr>
          <p:cNvSpPr/>
          <p:nvPr userDrawn="1"/>
        </p:nvSpPr>
        <p:spPr>
          <a:xfrm>
            <a:off x="6311900" y="0"/>
            <a:ext cx="1539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3828332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3_Innhold med bildetekst">
    <p:spTree>
      <p:nvGrpSpPr>
        <p:cNvPr id="1" name=""/>
        <p:cNvGrpSpPr/>
        <p:nvPr/>
      </p:nvGrpSpPr>
      <p:grpSpPr>
        <a:xfrm>
          <a:off x="0" y="0"/>
          <a:ext cx="0" cy="0"/>
          <a:chOff x="0" y="0"/>
          <a:chExt cx="0" cy="0"/>
        </a:xfrm>
      </p:grpSpPr>
      <p:sp>
        <p:nvSpPr>
          <p:cNvPr id="10" name="Parallellogram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b-NO" noProof="0"/>
          </a:p>
        </p:txBody>
      </p:sp>
      <p:sp>
        <p:nvSpPr>
          <p:cNvPr id="4" name="Rektangel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
        <p:nvSpPr>
          <p:cNvPr id="8" name="Rektangel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nb-NO"/>
          </a:p>
        </p:txBody>
      </p:sp>
      <p:sp>
        <p:nvSpPr>
          <p:cNvPr id="2" name="Tittel 1"/>
          <p:cNvSpPr>
            <a:spLocks noGrp="1"/>
          </p:cNvSpPr>
          <p:nvPr>
            <p:ph type="title" hasCustomPrompt="1"/>
          </p:nvPr>
        </p:nvSpPr>
        <p:spPr>
          <a:xfrm>
            <a:off x="1092200" y="1885125"/>
            <a:ext cx="3068833" cy="2093975"/>
          </a:xfrm>
        </p:spPr>
        <p:txBody>
          <a:bodyPr rtlCol="0" anchor="ctr">
            <a:normAutofit/>
          </a:bodyPr>
          <a:lstStyle>
            <a:lvl1pPr>
              <a:lnSpc>
                <a:spcPct val="90000"/>
              </a:lnSpc>
              <a:defRPr sz="4400" b="1" i="0">
                <a:solidFill>
                  <a:srgbClr val="FFFFFF"/>
                </a:solidFill>
                <a:latin typeface="+mn-lt"/>
              </a:defRPr>
            </a:lvl1pPr>
          </a:lstStyle>
          <a:p>
            <a:pPr rtl="0"/>
            <a:r>
              <a:rPr lang="nb-NO" noProof="0"/>
              <a:t>Klikk for å redigere tittelstil i malen</a:t>
            </a:r>
          </a:p>
        </p:txBody>
      </p:sp>
      <p:sp>
        <p:nvSpPr>
          <p:cNvPr id="3" name="Plassholder for innhold 2"/>
          <p:cNvSpPr>
            <a:spLocks noGrp="1"/>
          </p:cNvSpPr>
          <p:nvPr>
            <p:ph idx="1"/>
          </p:nvPr>
        </p:nvSpPr>
        <p:spPr>
          <a:xfrm>
            <a:off x="6473373" y="943430"/>
            <a:ext cx="4699452" cy="3977366"/>
          </a:xfrm>
        </p:spPr>
        <p:txBody>
          <a:bodyPr rtlCol="0" anchor="ctr">
            <a:normAutofit/>
          </a:bodyPr>
          <a:lstStyle>
            <a:lvl1pPr>
              <a:defRPr sz="2400"/>
            </a:lvl1pPr>
            <a:lvl2pPr>
              <a:defRPr sz="2000"/>
            </a:lvl2pPr>
            <a:lvl3pPr>
              <a:defRPr sz="1600"/>
            </a:lvl3pPr>
            <a:lvl4pPr>
              <a:defRPr sz="1600"/>
            </a:lvl4pPr>
            <a:lvl5pPr>
              <a:defRPr sz="16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12" name="Plassholder for dato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defRPr>
            </a:lvl1pPr>
          </a:lstStyle>
          <a:p>
            <a:pPr rtl="0"/>
            <a:fld id="{9C50BA77-D8E5-4E1F-A5B2-E7C9AE1CE466}" type="datetime1">
              <a:rPr lang="nb-NO" noProof="0" smtClean="0"/>
              <a:t>30.03.2026</a:t>
            </a:fld>
            <a:endParaRPr lang="nb-NO" noProof="0"/>
          </a:p>
        </p:txBody>
      </p:sp>
      <p:sp>
        <p:nvSpPr>
          <p:cNvPr id="13" name="Plassholder for bunntekst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defRPr>
            </a:lvl1pPr>
          </a:lstStyle>
          <a:p>
            <a:pPr rtl="0"/>
            <a:r>
              <a:rPr lang="nb-NO" noProof="0"/>
              <a:t>Bunntekst</a:t>
            </a:r>
          </a:p>
        </p:txBody>
      </p:sp>
      <p:sp>
        <p:nvSpPr>
          <p:cNvPr id="14" name="Plassholder for lysbildenumm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defRPr>
            </a:lvl1pPr>
          </a:lstStyle>
          <a:p>
            <a:pPr rtl="0"/>
            <a:fld id="{3A98EE3D-8CD1-4C3F-BD1C-C98C9596463C}" type="slidenum">
              <a:rPr lang="nb-NO" noProof="0" smtClean="0"/>
              <a:pPr/>
              <a:t>‹#›</a:t>
            </a:fld>
            <a:endParaRPr lang="nb-NO" noProof="0"/>
          </a:p>
        </p:txBody>
      </p:sp>
      <p:sp>
        <p:nvSpPr>
          <p:cNvPr id="20" name="Rektangel 19">
            <a:extLst>
              <a:ext uri="{FF2B5EF4-FFF2-40B4-BE49-F238E27FC236}">
                <a16:creationId xmlns:a16="http://schemas.microsoft.com/office/drawing/2014/main" id="{EF73BF96-A07C-4AAA-A37F-65151BD22A70}"/>
              </a:ext>
            </a:extLst>
          </p:cNvPr>
          <p:cNvSpPr/>
          <p:nvPr userDrawn="1"/>
        </p:nvSpPr>
        <p:spPr>
          <a:xfrm>
            <a:off x="4370251" y="2322780"/>
            <a:ext cx="1348378" cy="12186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946769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tellysbilde">
    <p:spTree>
      <p:nvGrpSpPr>
        <p:cNvPr id="1" name=""/>
        <p:cNvGrpSpPr/>
        <p:nvPr/>
      </p:nvGrpSpPr>
      <p:grpSpPr>
        <a:xfrm>
          <a:off x="0" y="0"/>
          <a:ext cx="0" cy="0"/>
          <a:chOff x="0" y="0"/>
          <a:chExt cx="0" cy="0"/>
        </a:xfrm>
      </p:grpSpPr>
      <p:sp>
        <p:nvSpPr>
          <p:cNvPr id="11" name="Plassholder for bilde 9">
            <a:extLst>
              <a:ext uri="{FF2B5EF4-FFF2-40B4-BE49-F238E27FC236}">
                <a16:creationId xmlns:a16="http://schemas.microsoft.com/office/drawing/2014/main" id="{D1D313A2-A4D4-40DF-A0C2-C29F64168525}"/>
              </a:ext>
            </a:extLst>
          </p:cNvPr>
          <p:cNvSpPr>
            <a:spLocks noGrp="1"/>
          </p:cNvSpPr>
          <p:nvPr>
            <p:ph type="pic" sz="quarter" idx="13"/>
          </p:nvPr>
        </p:nvSpPr>
        <p:spPr>
          <a:xfrm>
            <a:off x="0" y="0"/>
            <a:ext cx="12192000" cy="6858000"/>
          </a:xfrm>
        </p:spPr>
        <p:txBody>
          <a:bodyPr rtlCol="0"/>
          <a:lstStyle/>
          <a:p>
            <a:pPr rtl="0"/>
            <a:r>
              <a:rPr lang="en-US" noProof="0"/>
              <a:t>Click icon to add picture</a:t>
            </a:r>
            <a:endParaRPr lang="nb-NO" noProof="0"/>
          </a:p>
        </p:txBody>
      </p:sp>
      <p:sp>
        <p:nvSpPr>
          <p:cNvPr id="4" name="Plassholder for dato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20DB1F37-6ADF-47BB-BFA8-274B82F1D753}" type="datetime1">
              <a:rPr lang="nb-NO" noProof="0" smtClean="0"/>
              <a:t>30.03.2026</a:t>
            </a:fld>
            <a:endParaRPr lang="nb-NO" noProof="0"/>
          </a:p>
        </p:txBody>
      </p:sp>
      <p:sp>
        <p:nvSpPr>
          <p:cNvPr id="5" name="Plassholder for bunntekst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r>
              <a:rPr lang="nb-NO" noProof="0"/>
              <a:t>Bunntekst</a:t>
            </a:r>
          </a:p>
        </p:txBody>
      </p:sp>
      <p:sp>
        <p:nvSpPr>
          <p:cNvPr id="6" name="Plassholder for lysbildenumm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nb-NO" noProof="0" smtClean="0"/>
              <a:t>‹#›</a:t>
            </a:fld>
            <a:endParaRPr lang="nb-NO" noProof="0"/>
          </a:p>
        </p:txBody>
      </p:sp>
      <p:sp>
        <p:nvSpPr>
          <p:cNvPr id="3" name="Undertittel 2"/>
          <p:cNvSpPr>
            <a:spLocks noGrp="1"/>
          </p:cNvSpPr>
          <p:nvPr>
            <p:ph type="subTitle" idx="1"/>
          </p:nvPr>
        </p:nvSpPr>
        <p:spPr>
          <a:xfrm>
            <a:off x="1212850" y="4508500"/>
            <a:ext cx="5118100" cy="1279652"/>
          </a:xfrm>
        </p:spPr>
        <p:txBody>
          <a:bodyPr lIns="91440" rIns="91440" rtlCol="0">
            <a:normAutofit/>
          </a:bodyPr>
          <a:lstStyle>
            <a:lvl1pPr marL="0" indent="0" algn="l">
              <a:buNone/>
              <a:defRPr sz="24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nb-NO" noProof="0"/>
          </a:p>
        </p:txBody>
      </p:sp>
      <p:sp>
        <p:nvSpPr>
          <p:cNvPr id="2" name="Tittel 1"/>
          <p:cNvSpPr>
            <a:spLocks noGrp="1"/>
          </p:cNvSpPr>
          <p:nvPr>
            <p:ph type="ctrTitle" hasCustomPrompt="1"/>
          </p:nvPr>
        </p:nvSpPr>
        <p:spPr>
          <a:xfrm>
            <a:off x="1212850" y="2057400"/>
            <a:ext cx="5118100" cy="1929066"/>
          </a:xfrm>
        </p:spPr>
        <p:txBody>
          <a:bodyPr rtlCol="0" anchor="b">
            <a:noAutofit/>
          </a:bodyPr>
          <a:lstStyle>
            <a:lvl1pPr algn="l">
              <a:lnSpc>
                <a:spcPct val="90000"/>
              </a:lnSpc>
              <a:defRPr sz="5400" b="1" spc="-50" baseline="0">
                <a:solidFill>
                  <a:schemeClr val="bg1"/>
                </a:solidFill>
                <a:latin typeface="+mn-lt"/>
              </a:defRPr>
            </a:lvl1pPr>
          </a:lstStyle>
          <a:p>
            <a:pPr rtl="0"/>
            <a:r>
              <a:rPr lang="nb-NO" noProof="0"/>
              <a:t>Klikk for å redigere tittelstil i malen</a:t>
            </a:r>
          </a:p>
        </p:txBody>
      </p:sp>
    </p:spTree>
    <p:extLst>
      <p:ext uri="{BB962C8B-B14F-4D97-AF65-F5344CB8AC3E}">
        <p14:creationId xmlns:p14="http://schemas.microsoft.com/office/powerpoint/2010/main" val="672700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eloverskrift">
    <p:spTree>
      <p:nvGrpSpPr>
        <p:cNvPr id="1" name=""/>
        <p:cNvGrpSpPr/>
        <p:nvPr/>
      </p:nvGrpSpPr>
      <p:grpSpPr>
        <a:xfrm>
          <a:off x="0" y="0"/>
          <a:ext cx="0" cy="0"/>
          <a:chOff x="0" y="0"/>
          <a:chExt cx="0" cy="0"/>
        </a:xfrm>
      </p:grpSpPr>
      <p:sp>
        <p:nvSpPr>
          <p:cNvPr id="15" name="Parallellogram 14">
            <a:extLst>
              <a:ext uri="{FF2B5EF4-FFF2-40B4-BE49-F238E27FC236}">
                <a16:creationId xmlns:a16="http://schemas.microsoft.com/office/drawing/2014/main" id="{98B82A56-7790-48EC-983D-AB8F703699B2}"/>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b-NO" noProof="0"/>
          </a:p>
        </p:txBody>
      </p:sp>
      <p:sp>
        <p:nvSpPr>
          <p:cNvPr id="7" name="Plassholder for dato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lvl1pPr>
              <a:defRPr>
                <a:solidFill>
                  <a:schemeClr val="tx1">
                    <a:lumMod val="75000"/>
                    <a:lumOff val="25000"/>
                  </a:schemeClr>
                </a:solidFill>
              </a:defRPr>
            </a:lvl1pPr>
          </a:lstStyle>
          <a:p>
            <a:pPr rtl="0"/>
            <a:fld id="{F8D433DA-F00A-4378-9EA2-946B1B05EE3D}" type="datetime1">
              <a:rPr lang="nb-NO" noProof="0" smtClean="0"/>
              <a:t>30.03.2026</a:t>
            </a:fld>
            <a:endParaRPr lang="nb-NO" noProof="0"/>
          </a:p>
        </p:txBody>
      </p:sp>
      <p:sp>
        <p:nvSpPr>
          <p:cNvPr id="8" name="Plassholder for bunntekst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lvl1pPr>
              <a:defRPr>
                <a:solidFill>
                  <a:schemeClr val="tx1">
                    <a:lumMod val="75000"/>
                    <a:lumOff val="25000"/>
                  </a:schemeClr>
                </a:solidFill>
              </a:defRPr>
            </a:lvl1pPr>
          </a:lstStyle>
          <a:p>
            <a:pPr rtl="0"/>
            <a:r>
              <a:rPr lang="nb-NO" noProof="0"/>
              <a:t>Bunntekst</a:t>
            </a:r>
          </a:p>
        </p:txBody>
      </p:sp>
      <p:sp>
        <p:nvSpPr>
          <p:cNvPr id="11" name="Plassholder for lysbildenumm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lvl1pPr>
              <a:defRPr>
                <a:solidFill>
                  <a:schemeClr val="tx1">
                    <a:lumMod val="75000"/>
                    <a:lumOff val="25000"/>
                  </a:schemeClr>
                </a:solidFill>
              </a:defRPr>
            </a:lvl1pPr>
          </a:lstStyle>
          <a:p>
            <a:pPr rtl="0"/>
            <a:fld id="{3A98EE3D-8CD1-4C3F-BD1C-C98C9596463C}" type="slidenum">
              <a:rPr lang="nb-NO" noProof="0" smtClean="0"/>
              <a:pPr/>
              <a:t>‹#›</a:t>
            </a:fld>
            <a:endParaRPr lang="nb-NO" noProof="0"/>
          </a:p>
        </p:txBody>
      </p:sp>
      <p:sp>
        <p:nvSpPr>
          <p:cNvPr id="12" name="Plassholder for bilde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6311900" cy="6858000"/>
          </a:xfrm>
        </p:spPr>
        <p:txBody>
          <a:bodyPr rtlCol="0"/>
          <a:lstStyle/>
          <a:p>
            <a:pPr rtl="0"/>
            <a:r>
              <a:rPr lang="en-US" noProof="0"/>
              <a:t>Click icon to add picture</a:t>
            </a:r>
            <a:endParaRPr lang="nb-NO" noProof="0"/>
          </a:p>
        </p:txBody>
      </p:sp>
      <p:sp>
        <p:nvSpPr>
          <p:cNvPr id="13" name="Rektangel 12">
            <a:extLst>
              <a:ext uri="{FF2B5EF4-FFF2-40B4-BE49-F238E27FC236}">
                <a16:creationId xmlns:a16="http://schemas.microsoft.com/office/drawing/2014/main" id="{33820398-8D1F-4543-ABA0-7A67C38769B3}"/>
              </a:ext>
            </a:extLst>
          </p:cNvPr>
          <p:cNvSpPr/>
          <p:nvPr userDrawn="1"/>
        </p:nvSpPr>
        <p:spPr>
          <a:xfrm>
            <a:off x="2451099"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rtl="0"/>
            <a:endParaRPr lang="nb-NO" sz="1400" noProof="0"/>
          </a:p>
        </p:txBody>
      </p:sp>
      <p:sp>
        <p:nvSpPr>
          <p:cNvPr id="2" name="Tittel 1"/>
          <p:cNvSpPr>
            <a:spLocks noGrp="1"/>
          </p:cNvSpPr>
          <p:nvPr>
            <p:ph type="title" hasCustomPrompt="1"/>
          </p:nvPr>
        </p:nvSpPr>
        <p:spPr>
          <a:xfrm>
            <a:off x="2641599" y="3746500"/>
            <a:ext cx="8331202" cy="1308100"/>
          </a:xfrm>
        </p:spPr>
        <p:txBody>
          <a:bodyPr rtlCol="0" anchor="b" anchorCtr="0">
            <a:noAutofit/>
          </a:bodyPr>
          <a:lstStyle>
            <a:lvl1pPr>
              <a:lnSpc>
                <a:spcPct val="90000"/>
              </a:lnSpc>
              <a:defRPr sz="4800" b="1">
                <a:solidFill>
                  <a:schemeClr val="bg1"/>
                </a:solidFill>
                <a:latin typeface="+mn-lt"/>
              </a:defRPr>
            </a:lvl1pPr>
          </a:lstStyle>
          <a:p>
            <a:pPr rtl="0"/>
            <a:r>
              <a:rPr lang="nb-NO" noProof="0"/>
              <a:t>Klikk for å redigere tittelstil i malen</a:t>
            </a:r>
          </a:p>
        </p:txBody>
      </p:sp>
      <p:sp>
        <p:nvSpPr>
          <p:cNvPr id="3" name="Plassholder for tekst 2"/>
          <p:cNvSpPr>
            <a:spLocks noGrp="1"/>
          </p:cNvSpPr>
          <p:nvPr>
            <p:ph type="body" idx="1"/>
          </p:nvPr>
        </p:nvSpPr>
        <p:spPr>
          <a:xfrm>
            <a:off x="2641600" y="5219700"/>
            <a:ext cx="8331201" cy="586740"/>
          </a:xfrm>
        </p:spPr>
        <p:txBody>
          <a:bodyPr lIns="91440" rIns="91440" rtlCol="0" anchor="t" anchorCtr="0">
            <a:normAutofit/>
          </a:bodyPr>
          <a:lstStyle>
            <a:lvl1pPr marL="0" indent="0">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14" name="Rektangel 13">
            <a:extLst>
              <a:ext uri="{FF2B5EF4-FFF2-40B4-BE49-F238E27FC236}">
                <a16:creationId xmlns:a16="http://schemas.microsoft.com/office/drawing/2014/main" id="{45757C57-BBBA-44C6-9A4D-12F5D1E400AA}"/>
              </a:ext>
            </a:extLst>
          </p:cNvPr>
          <p:cNvSpPr/>
          <p:nvPr userDrawn="1"/>
        </p:nvSpPr>
        <p:spPr>
          <a:xfrm>
            <a:off x="37528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2596984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Deloverskrift">
    <p:spTree>
      <p:nvGrpSpPr>
        <p:cNvPr id="1" name=""/>
        <p:cNvGrpSpPr/>
        <p:nvPr/>
      </p:nvGrpSpPr>
      <p:grpSpPr>
        <a:xfrm>
          <a:off x="0" y="0"/>
          <a:ext cx="0" cy="0"/>
          <a:chOff x="0" y="0"/>
          <a:chExt cx="0" cy="0"/>
        </a:xfrm>
      </p:grpSpPr>
      <p:sp>
        <p:nvSpPr>
          <p:cNvPr id="7" name="Plassholder for dato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lvl1pPr>
              <a:defRPr>
                <a:solidFill>
                  <a:schemeClr val="tx1">
                    <a:lumMod val="75000"/>
                    <a:lumOff val="25000"/>
                  </a:schemeClr>
                </a:solidFill>
              </a:defRPr>
            </a:lvl1pPr>
          </a:lstStyle>
          <a:p>
            <a:pPr rtl="0"/>
            <a:fld id="{94BE9017-7DE9-4B7F-9FBF-E579E370ECAC}" type="datetime1">
              <a:rPr lang="nb-NO" noProof="0" smtClean="0"/>
              <a:t>30.03.2026</a:t>
            </a:fld>
            <a:endParaRPr lang="nb-NO" noProof="0"/>
          </a:p>
        </p:txBody>
      </p:sp>
      <p:sp>
        <p:nvSpPr>
          <p:cNvPr id="8" name="Plassholder for bunntekst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lvl1pPr>
              <a:defRPr>
                <a:solidFill>
                  <a:schemeClr val="tx1">
                    <a:lumMod val="75000"/>
                    <a:lumOff val="25000"/>
                  </a:schemeClr>
                </a:solidFill>
              </a:defRPr>
            </a:lvl1pPr>
          </a:lstStyle>
          <a:p>
            <a:pPr rtl="0"/>
            <a:r>
              <a:rPr lang="nb-NO" noProof="0"/>
              <a:t>Bunntekst</a:t>
            </a:r>
          </a:p>
        </p:txBody>
      </p:sp>
      <p:sp>
        <p:nvSpPr>
          <p:cNvPr id="11" name="Plassholder for lysbildenumm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lvl1pPr>
              <a:defRPr>
                <a:solidFill>
                  <a:schemeClr val="tx1">
                    <a:lumMod val="75000"/>
                    <a:lumOff val="25000"/>
                  </a:schemeClr>
                </a:solidFill>
              </a:defRPr>
            </a:lvl1pPr>
          </a:lstStyle>
          <a:p>
            <a:pPr rtl="0"/>
            <a:fld id="{3A98EE3D-8CD1-4C3F-BD1C-C98C9596463C}" type="slidenum">
              <a:rPr lang="nb-NO" noProof="0" smtClean="0"/>
              <a:pPr/>
              <a:t>‹#›</a:t>
            </a:fld>
            <a:endParaRPr lang="nb-NO" noProof="0"/>
          </a:p>
        </p:txBody>
      </p:sp>
      <p:sp>
        <p:nvSpPr>
          <p:cNvPr id="12" name="Plassholder for bilde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12192000" cy="6858000"/>
          </a:xfrm>
        </p:spPr>
        <p:txBody>
          <a:bodyPr rtlCol="0"/>
          <a:lstStyle/>
          <a:p>
            <a:pPr rtl="0"/>
            <a:r>
              <a:rPr lang="en-US" noProof="0"/>
              <a:t>Click icon to add picture</a:t>
            </a:r>
            <a:endParaRPr lang="nb-NO" noProof="0"/>
          </a:p>
        </p:txBody>
      </p:sp>
      <p:sp>
        <p:nvSpPr>
          <p:cNvPr id="13" name="Rektangel 12">
            <a:extLst>
              <a:ext uri="{FF2B5EF4-FFF2-40B4-BE49-F238E27FC236}">
                <a16:creationId xmlns:a16="http://schemas.microsoft.com/office/drawing/2014/main" id="{33820398-8D1F-4543-ABA0-7A67C38769B3}"/>
              </a:ext>
            </a:extLst>
          </p:cNvPr>
          <p:cNvSpPr/>
          <p:nvPr userDrawn="1"/>
        </p:nvSpPr>
        <p:spPr>
          <a:xfrm>
            <a:off x="1735138"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rtl="0"/>
            <a:endParaRPr lang="nb-NO" sz="1400" noProof="0"/>
          </a:p>
        </p:txBody>
      </p:sp>
      <p:sp>
        <p:nvSpPr>
          <p:cNvPr id="2" name="Tittel 1"/>
          <p:cNvSpPr>
            <a:spLocks noGrp="1"/>
          </p:cNvSpPr>
          <p:nvPr>
            <p:ph type="title" hasCustomPrompt="1"/>
          </p:nvPr>
        </p:nvSpPr>
        <p:spPr>
          <a:xfrm>
            <a:off x="1930399" y="3746500"/>
            <a:ext cx="8331202" cy="1308100"/>
          </a:xfrm>
        </p:spPr>
        <p:txBody>
          <a:bodyPr rtlCol="0" anchor="b" anchorCtr="0">
            <a:noAutofit/>
          </a:bodyPr>
          <a:lstStyle>
            <a:lvl1pPr algn="ctr">
              <a:lnSpc>
                <a:spcPct val="90000"/>
              </a:lnSpc>
              <a:defRPr sz="4800" b="1">
                <a:solidFill>
                  <a:schemeClr val="bg1"/>
                </a:solidFill>
                <a:latin typeface="+mn-lt"/>
              </a:defRPr>
            </a:lvl1pPr>
          </a:lstStyle>
          <a:p>
            <a:pPr rtl="0"/>
            <a:r>
              <a:rPr lang="nb-NO" noProof="0"/>
              <a:t>Klikk for å redigere tittelstil i malen</a:t>
            </a:r>
          </a:p>
        </p:txBody>
      </p:sp>
      <p:sp>
        <p:nvSpPr>
          <p:cNvPr id="3" name="Plassholder for tekst 2"/>
          <p:cNvSpPr>
            <a:spLocks noGrp="1"/>
          </p:cNvSpPr>
          <p:nvPr>
            <p:ph type="body" idx="1"/>
          </p:nvPr>
        </p:nvSpPr>
        <p:spPr>
          <a:xfrm>
            <a:off x="1930400" y="5219700"/>
            <a:ext cx="8331201" cy="586740"/>
          </a:xfrm>
        </p:spPr>
        <p:txBody>
          <a:bodyPr lIns="91440" rIns="91440" rtlCol="0" anchor="t" anchorCtr="0">
            <a:normAutofit/>
          </a:bodyPr>
          <a:lstStyle>
            <a:lvl1pPr marL="0" indent="0" algn="ctr">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14" name="Rektangel 13">
            <a:extLst>
              <a:ext uri="{FF2B5EF4-FFF2-40B4-BE49-F238E27FC236}">
                <a16:creationId xmlns:a16="http://schemas.microsoft.com/office/drawing/2014/main" id="{45757C57-BBBA-44C6-9A4D-12F5D1E400AA}"/>
              </a:ext>
            </a:extLst>
          </p:cNvPr>
          <p:cNvSpPr/>
          <p:nvPr userDrawn="1"/>
        </p:nvSpPr>
        <p:spPr>
          <a:xfrm>
            <a:off x="35369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3766489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7_Innhold med bildetekst">
    <p:spTree>
      <p:nvGrpSpPr>
        <p:cNvPr id="1" name=""/>
        <p:cNvGrpSpPr/>
        <p:nvPr/>
      </p:nvGrpSpPr>
      <p:grpSpPr>
        <a:xfrm>
          <a:off x="0" y="0"/>
          <a:ext cx="0" cy="0"/>
          <a:chOff x="0" y="0"/>
          <a:chExt cx="0" cy="0"/>
        </a:xfrm>
      </p:grpSpPr>
      <p:sp>
        <p:nvSpPr>
          <p:cNvPr id="18" name="Plassholder for bilde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12192000" cy="3541486"/>
          </a:xfrm>
        </p:spPr>
        <p:txBody>
          <a:bodyPr rtlCol="0"/>
          <a:lstStyle>
            <a:lvl1pPr>
              <a:defRPr>
                <a:solidFill>
                  <a:schemeClr val="tx1">
                    <a:lumMod val="75000"/>
                    <a:lumOff val="25000"/>
                  </a:schemeClr>
                </a:solidFill>
              </a:defRPr>
            </a:lvl1pPr>
          </a:lstStyle>
          <a:p>
            <a:pPr rtl="0"/>
            <a:r>
              <a:rPr lang="en-US" noProof="0"/>
              <a:t>Click icon to add picture</a:t>
            </a:r>
            <a:endParaRPr lang="nb-NO" noProof="0"/>
          </a:p>
        </p:txBody>
      </p:sp>
      <p:sp>
        <p:nvSpPr>
          <p:cNvPr id="10" name="Parallellogram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b-NO" noProof="0"/>
          </a:p>
        </p:txBody>
      </p:sp>
      <p:sp>
        <p:nvSpPr>
          <p:cNvPr id="2" name="Tittel 1"/>
          <p:cNvSpPr>
            <a:spLocks noGrp="1"/>
          </p:cNvSpPr>
          <p:nvPr>
            <p:ph type="title" hasCustomPrompt="1"/>
          </p:nvPr>
        </p:nvSpPr>
        <p:spPr>
          <a:xfrm>
            <a:off x="3068577" y="880375"/>
            <a:ext cx="6054846" cy="634336"/>
          </a:xfrm>
        </p:spPr>
        <p:txBody>
          <a:bodyPr rtlCol="0" anchor="ctr">
            <a:noAutofit/>
          </a:bodyPr>
          <a:lstStyle>
            <a:lvl1pPr algn="ctr">
              <a:lnSpc>
                <a:spcPct val="90000"/>
              </a:lnSpc>
              <a:defRPr sz="3600" b="1" i="0">
                <a:solidFill>
                  <a:schemeClr val="tx1">
                    <a:lumMod val="75000"/>
                    <a:lumOff val="25000"/>
                  </a:schemeClr>
                </a:solidFill>
                <a:latin typeface="+mn-lt"/>
              </a:defRPr>
            </a:lvl1pPr>
          </a:lstStyle>
          <a:p>
            <a:pPr rtl="0"/>
            <a:r>
              <a:rPr lang="nb-NO" noProof="0"/>
              <a:t>Klikk for å redigere tittelstil i malen</a:t>
            </a:r>
          </a:p>
        </p:txBody>
      </p:sp>
      <p:sp>
        <p:nvSpPr>
          <p:cNvPr id="12" name="Plassholder for dato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defRPr>
            </a:lvl1pPr>
          </a:lstStyle>
          <a:p>
            <a:pPr rtl="0"/>
            <a:fld id="{9F3B0F11-20F4-47BC-B8EE-0AFDD008C960}" type="datetime1">
              <a:rPr lang="nb-NO" noProof="0" smtClean="0"/>
              <a:t>30.03.2026</a:t>
            </a:fld>
            <a:endParaRPr lang="nb-NO" noProof="0"/>
          </a:p>
        </p:txBody>
      </p:sp>
      <p:sp>
        <p:nvSpPr>
          <p:cNvPr id="13" name="Plassholder for bunntekst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defRPr>
            </a:lvl1pPr>
          </a:lstStyle>
          <a:p>
            <a:pPr rtl="0"/>
            <a:r>
              <a:rPr lang="nb-NO" noProof="0"/>
              <a:t>Bunntekst</a:t>
            </a:r>
          </a:p>
        </p:txBody>
      </p:sp>
      <p:sp>
        <p:nvSpPr>
          <p:cNvPr id="14" name="Plassholder for lysbildenumm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defRPr>
            </a:lvl1pPr>
          </a:lstStyle>
          <a:p>
            <a:pPr rtl="0"/>
            <a:fld id="{3A98EE3D-8CD1-4C3F-BD1C-C98C9596463C}" type="slidenum">
              <a:rPr lang="nb-NO" noProof="0" smtClean="0"/>
              <a:pPr/>
              <a:t>‹#›</a:t>
            </a:fld>
            <a:endParaRPr lang="nb-NO" noProof="0"/>
          </a:p>
        </p:txBody>
      </p:sp>
      <p:sp>
        <p:nvSpPr>
          <p:cNvPr id="19" name="Rektangel 18">
            <a:extLst>
              <a:ext uri="{FF2B5EF4-FFF2-40B4-BE49-F238E27FC236}">
                <a16:creationId xmlns:a16="http://schemas.microsoft.com/office/drawing/2014/main" id="{AF446475-024F-4C71-99D3-501468ACAD11}"/>
              </a:ext>
            </a:extLst>
          </p:cNvPr>
          <p:cNvSpPr/>
          <p:nvPr userDrawn="1"/>
        </p:nvSpPr>
        <p:spPr>
          <a:xfrm>
            <a:off x="5577840" y="0"/>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767602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Innhold med bildetekst">
    <p:spTree>
      <p:nvGrpSpPr>
        <p:cNvPr id="1" name=""/>
        <p:cNvGrpSpPr/>
        <p:nvPr/>
      </p:nvGrpSpPr>
      <p:grpSpPr>
        <a:xfrm>
          <a:off x="0" y="0"/>
          <a:ext cx="0" cy="0"/>
          <a:chOff x="0" y="0"/>
          <a:chExt cx="0" cy="0"/>
        </a:xfrm>
      </p:grpSpPr>
      <p:sp>
        <p:nvSpPr>
          <p:cNvPr id="10" name="Parallellogram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b-NO" noProof="0"/>
          </a:p>
        </p:txBody>
      </p:sp>
      <p:sp>
        <p:nvSpPr>
          <p:cNvPr id="4" name="Rektangel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
        <p:nvSpPr>
          <p:cNvPr id="8" name="Rektangel 7">
            <a:extLst>
              <a:ext uri="{FF2B5EF4-FFF2-40B4-BE49-F238E27FC236}">
                <a16:creationId xmlns:a16="http://schemas.microsoft.com/office/drawing/2014/main" id="{16D90D66-BCB9-4229-A829-628874352AC0}"/>
              </a:ext>
            </a:extLst>
          </p:cNvPr>
          <p:cNvSpPr/>
          <p:nvPr userDrawn="1"/>
        </p:nvSpPr>
        <p:spPr>
          <a:xfrm>
            <a:off x="16" y="0"/>
            <a:ext cx="4654296" cy="5864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nb-NO"/>
          </a:p>
        </p:txBody>
      </p:sp>
      <p:sp>
        <p:nvSpPr>
          <p:cNvPr id="2" name="Tittel 1"/>
          <p:cNvSpPr>
            <a:spLocks noGrp="1"/>
          </p:cNvSpPr>
          <p:nvPr>
            <p:ph type="title" hasCustomPrompt="1"/>
          </p:nvPr>
        </p:nvSpPr>
        <p:spPr>
          <a:xfrm>
            <a:off x="1092200" y="1885125"/>
            <a:ext cx="3068833" cy="2093975"/>
          </a:xfrm>
        </p:spPr>
        <p:txBody>
          <a:bodyPr rtlCol="0" anchor="ctr">
            <a:normAutofit/>
          </a:bodyPr>
          <a:lstStyle>
            <a:lvl1pPr>
              <a:lnSpc>
                <a:spcPct val="90000"/>
              </a:lnSpc>
              <a:defRPr sz="4400" b="1" i="0">
                <a:solidFill>
                  <a:srgbClr val="FFFFFF"/>
                </a:solidFill>
                <a:latin typeface="+mn-lt"/>
              </a:defRPr>
            </a:lvl1pPr>
          </a:lstStyle>
          <a:p>
            <a:pPr rtl="0"/>
            <a:r>
              <a:rPr lang="nb-NO" noProof="0"/>
              <a:t>Klikk for å redigere tittelstil i malen</a:t>
            </a:r>
          </a:p>
        </p:txBody>
      </p:sp>
      <p:sp>
        <p:nvSpPr>
          <p:cNvPr id="3" name="Plassholder for innhold 2"/>
          <p:cNvSpPr>
            <a:spLocks noGrp="1"/>
          </p:cNvSpPr>
          <p:nvPr>
            <p:ph idx="1"/>
          </p:nvPr>
        </p:nvSpPr>
        <p:spPr>
          <a:xfrm>
            <a:off x="6518529" y="943430"/>
            <a:ext cx="4654296" cy="3977366"/>
          </a:xfrm>
        </p:spPr>
        <p:txBody>
          <a:bodyPr rtlCol="0" anchor="ctr">
            <a:normAutofit/>
          </a:bodyPr>
          <a:lstStyle>
            <a:lvl1pPr>
              <a:defRPr sz="2400"/>
            </a:lvl1pPr>
            <a:lvl2pPr>
              <a:defRPr sz="2000"/>
            </a:lvl2pPr>
            <a:lvl3pPr>
              <a:defRPr sz="1600"/>
            </a:lvl3pPr>
            <a:lvl4pPr>
              <a:defRPr sz="1600"/>
            </a:lvl4pPr>
            <a:lvl5pPr>
              <a:defRPr sz="16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nb-NO" noProof="0"/>
          </a:p>
        </p:txBody>
      </p:sp>
      <p:sp>
        <p:nvSpPr>
          <p:cNvPr id="12" name="Plassholder for dato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rtlCol="0"/>
          <a:lstStyle>
            <a:lvl1pPr>
              <a:defRPr>
                <a:solidFill>
                  <a:schemeClr val="tx1">
                    <a:lumMod val="75000"/>
                    <a:lumOff val="25000"/>
                  </a:schemeClr>
                </a:solidFill>
              </a:defRPr>
            </a:lvl1pPr>
          </a:lstStyle>
          <a:p>
            <a:pPr rtl="0"/>
            <a:fld id="{E9F8622B-C9FA-442A-B236-C8530DA43369}" type="datetime1">
              <a:rPr lang="nb-NO" noProof="0" smtClean="0"/>
              <a:t>30.03.2026</a:t>
            </a:fld>
            <a:endParaRPr lang="nb-NO" noProof="0"/>
          </a:p>
        </p:txBody>
      </p:sp>
      <p:sp>
        <p:nvSpPr>
          <p:cNvPr id="13" name="Plassholder for bunntekst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rtlCol="0"/>
          <a:lstStyle>
            <a:lvl1pPr>
              <a:defRPr>
                <a:solidFill>
                  <a:schemeClr val="tx1">
                    <a:lumMod val="75000"/>
                    <a:lumOff val="25000"/>
                  </a:schemeClr>
                </a:solidFill>
              </a:defRPr>
            </a:lvl1pPr>
          </a:lstStyle>
          <a:p>
            <a:pPr rtl="0"/>
            <a:r>
              <a:rPr lang="nb-NO" noProof="0"/>
              <a:t>Bunntekst</a:t>
            </a:r>
          </a:p>
        </p:txBody>
      </p:sp>
      <p:sp>
        <p:nvSpPr>
          <p:cNvPr id="14" name="Plassholder for lysbildenumm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rtlCol="0"/>
          <a:lstStyle>
            <a:lvl1pPr>
              <a:defRPr>
                <a:solidFill>
                  <a:schemeClr val="tx1">
                    <a:lumMod val="75000"/>
                    <a:lumOff val="25000"/>
                  </a:schemeClr>
                </a:solidFill>
              </a:defRPr>
            </a:lvl1pPr>
          </a:lstStyle>
          <a:p>
            <a:pPr rtl="0"/>
            <a:fld id="{3A98EE3D-8CD1-4C3F-BD1C-C98C9596463C}" type="slidenum">
              <a:rPr lang="nb-NO" noProof="0" smtClean="0"/>
              <a:pPr/>
              <a:t>‹#›</a:t>
            </a:fld>
            <a:endParaRPr lang="nb-NO" noProof="0"/>
          </a:p>
        </p:txBody>
      </p:sp>
      <p:sp>
        <p:nvSpPr>
          <p:cNvPr id="18" name="Rektangel 17">
            <a:extLst>
              <a:ext uri="{FF2B5EF4-FFF2-40B4-BE49-F238E27FC236}">
                <a16:creationId xmlns:a16="http://schemas.microsoft.com/office/drawing/2014/main" id="{6127F28F-6C7B-471B-9839-EF88426C1976}"/>
              </a:ext>
            </a:extLst>
          </p:cNvPr>
          <p:cNvSpPr/>
          <p:nvPr userDrawn="1"/>
        </p:nvSpPr>
        <p:spPr>
          <a:xfrm>
            <a:off x="4370251" y="2322780"/>
            <a:ext cx="1348378" cy="12186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3498616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A312C5-A4AF-9F38-E820-B980070D6C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231CBDA-3612-A306-A029-77320E351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EFB51152-22D9-DE25-B60A-CBB32F5B44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fld id="{C44CB6DA-BB36-4E96-B7C4-41B5598F1BBC}" type="datetime1">
              <a:rPr lang="nb-NO" noProof="0" smtClean="0"/>
              <a:t>30.03.2026</a:t>
            </a:fld>
            <a:endParaRPr lang="nb-NO" noProof="0"/>
          </a:p>
        </p:txBody>
      </p:sp>
      <p:sp>
        <p:nvSpPr>
          <p:cNvPr id="5" name="Footer Placeholder 4">
            <a:extLst>
              <a:ext uri="{FF2B5EF4-FFF2-40B4-BE49-F238E27FC236}">
                <a16:creationId xmlns:a16="http://schemas.microsoft.com/office/drawing/2014/main" id="{DA3D9A6F-B7D8-88A2-0B84-44D270C028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r>
              <a:rPr lang="nb-NO" noProof="0"/>
              <a:t>Bunntekst</a:t>
            </a:r>
          </a:p>
        </p:txBody>
      </p:sp>
      <p:sp>
        <p:nvSpPr>
          <p:cNvPr id="6" name="Slide Number Placeholder 5">
            <a:extLst>
              <a:ext uri="{FF2B5EF4-FFF2-40B4-BE49-F238E27FC236}">
                <a16:creationId xmlns:a16="http://schemas.microsoft.com/office/drawing/2014/main" id="{8C00C03B-8A54-EBEF-B4CC-26ACE228BA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3A98EE3D-8CD1-4C3F-BD1C-C98C9596463C}" type="slidenum">
              <a:rPr lang="nb-NO" noProof="0" smtClean="0"/>
              <a:pPr/>
              <a:t>‹#›</a:t>
            </a:fld>
            <a:endParaRPr lang="nb-NO" noProof="0"/>
          </a:p>
        </p:txBody>
      </p:sp>
      <p:sp>
        <p:nvSpPr>
          <p:cNvPr id="7" name="Parallellogram 14">
            <a:extLst>
              <a:ext uri="{FF2B5EF4-FFF2-40B4-BE49-F238E27FC236}">
                <a16:creationId xmlns:a16="http://schemas.microsoft.com/office/drawing/2014/main" id="{7BD68F09-7619-28F4-336B-4044D7EB7FE4}"/>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nb-NO" noProof="0"/>
          </a:p>
        </p:txBody>
      </p:sp>
      <p:sp>
        <p:nvSpPr>
          <p:cNvPr id="8" name="Rektangel 7">
            <a:extLst>
              <a:ext uri="{FF2B5EF4-FFF2-40B4-BE49-F238E27FC236}">
                <a16:creationId xmlns:a16="http://schemas.microsoft.com/office/drawing/2014/main" id="{9FC65942-92C9-D86D-ECE1-5C9BA5A6F8E2}"/>
              </a:ext>
            </a:extLst>
          </p:cNvPr>
          <p:cNvSpPr/>
          <p:nvPr userDrawn="1"/>
        </p:nvSpPr>
        <p:spPr>
          <a:xfrm>
            <a:off x="0" y="1011981"/>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b-NO" noProof="0"/>
          </a:p>
        </p:txBody>
      </p:sp>
    </p:spTree>
    <p:extLst>
      <p:ext uri="{BB962C8B-B14F-4D97-AF65-F5344CB8AC3E}">
        <p14:creationId xmlns:p14="http://schemas.microsoft.com/office/powerpoint/2010/main" val="3546814897"/>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06" r:id="rId14"/>
    <p:sldLayoutId id="2147483708" r:id="rId15"/>
    <p:sldLayoutId id="2147483719" r:id="rId16"/>
    <p:sldLayoutId id="2147483726" r:id="rId17"/>
    <p:sldLayoutId id="2147483723" r:id="rId1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userDrawn="1">
          <p15:clr>
            <a:srgbClr val="F26B43"/>
          </p15:clr>
        </p15:guide>
        <p15:guide id="2" pos="688" userDrawn="1">
          <p15:clr>
            <a:srgbClr val="F26B43"/>
          </p15:clr>
        </p15:guide>
        <p15:guide id="3" pos="7038" userDrawn="1">
          <p15:clr>
            <a:srgbClr val="F26B43"/>
          </p15:clr>
        </p15:guide>
        <p15:guide id="4" orient="horz" pos="3702" userDrawn="1">
          <p15:clr>
            <a:srgbClr val="F26B43"/>
          </p15:clr>
        </p15:guide>
        <p15:guide id="5"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hyperlink" Target="https://www.sciencedirect.com/science/article/abs/pii/S036054421401295X?via%3Dihub" TargetMode="External"/><Relationship Id="rId7" Type="http://schemas.openxmlformats.org/officeDocument/2006/relationships/hyperlink" Target="https://www-pub.iaea.org/MTCD/Publications/PDF/p15790-PUB9062_web.pdf"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hyperlink" Target="https://hydrogeneurope.eu/wp-content/uploads/2023/03/2023.03_H2Europe_Clean_Ammonia_Report_DIGITAL_FINAL.pdf" TargetMode="External"/><Relationship Id="rId5" Type="http://schemas.openxmlformats.org/officeDocument/2006/relationships/hyperlink" Target="https://www.iea.org/reports/ammonia-technology-roadmap/executive-summary" TargetMode="External"/><Relationship Id="rId4" Type="http://schemas.openxmlformats.org/officeDocument/2006/relationships/hyperlink" Target="https://www-pub.iaea.org/MTCD/Publications/PDF/P1862_web.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neutronbytes.com/2020/01/18/south-koreas-smart-smr-gets-new-life/" TargetMode="External"/><Relationship Id="rId2" Type="http://schemas.openxmlformats.org/officeDocument/2006/relationships/image" Target="../media/image8.png"/><Relationship Id="rId1" Type="http://schemas.openxmlformats.org/officeDocument/2006/relationships/slideLayout" Target="../slideLayouts/slideLayout8.xml"/><Relationship Id="rId4" Type="http://schemas.openxmlformats.org/officeDocument/2006/relationships/hyperlink" Target="https://www.mdpi.com/1996-1073/13/11/2898"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www.sciencedirect.com/science/chapter/referencework/pii/B9780444527455003154" TargetMode="External"/><Relationship Id="rId2" Type="http://schemas.openxmlformats.org/officeDocument/2006/relationships/image" Target="../media/image9.png"/><Relationship Id="rId1" Type="http://schemas.openxmlformats.org/officeDocument/2006/relationships/slideLayout" Target="../slideLayouts/slideLayout8.xml"/><Relationship Id="rId6" Type="http://schemas.openxmlformats.org/officeDocument/2006/relationships/hyperlink" Target="https://www.sciencedirect.com/science/chapter/edited-volume/abs/pii/B9780128114599000116"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inldigitallibrary.inl.gov/sites/sti/sti/4480292.pdf" TargetMode="External"/><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hyperlink" Target="https://www.sciencedirect.com/science/article/pii/S2352484722020625"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oecd-nea.org/upload/docs/application/pdf/2021-12/technical_and_economic_aspects_of_load_following_with_nuclear_power_plants.pdf" TargetMode="External"/><Relationship Id="rId2" Type="http://schemas.openxmlformats.org/officeDocument/2006/relationships/hyperlink" Target="https://www-pub.iaea.org/MTCD/Publications/PDF/P1862_web.pdf" TargetMode="Externa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ember-energy.org/data/european-wholesale-electricity-price-data/" TargetMode="External"/><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businessanalytiq.com/procurementanalytics/index/ammonia-price-index/" TargetMode="External"/><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hyperlink" Target="https://www.energyinst.org/statistical-review" TargetMode="External"/><Relationship Id="rId5" Type="http://schemas.openxmlformats.org/officeDocument/2006/relationships/hyperlink" Target="https://www.spglobal.com/energy/en/news-research/latest-news/energy-transition/051023-interactive-ammonia-price-chart-natural-gas-feedstock-europe-usgc-black-sea" TargetMode="External"/><Relationship Id="rId4" Type="http://schemas.openxmlformats.org/officeDocument/2006/relationships/hyperlink" Target="https://www.imarcgroup.com/ammonia-pricing-report"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ain.inl.gov/content/uploads/4/2024/11/INL-RPT-23-72972-Literature-Review-of-Adv-Reactor-Cost-Estimates.pdf" TargetMode="External"/><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hyperlink" Target="https://books.google.no/books/about/Analysis_Synthesis_and_Design_of_Chemica.html?id=kWXyhVXztZ8C&amp;redir_esc=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hyperlink" Target="https://www.sciencedirect.com/science/article/pii/S2213138825005260"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A017FF9C-6A7E-4A79-81BB-438E8EA9676A}"/>
              </a:ext>
              <a:ext uri="{C183D7F6-B498-43B3-948B-1728B52AA6E4}">
                <adec:decorative xmlns:adec="http://schemas.microsoft.com/office/drawing/2017/decorative" val="0"/>
              </a:ext>
            </a:extLst>
          </p:cNvPr>
          <p:cNvSpPr>
            <a:spLocks noGrp="1"/>
          </p:cNvSpPr>
          <p:nvPr>
            <p:ph type="ctrTitle"/>
          </p:nvPr>
        </p:nvSpPr>
        <p:spPr>
          <a:xfrm>
            <a:off x="6663682" y="644409"/>
            <a:ext cx="5351296" cy="3406341"/>
          </a:xfrm>
        </p:spPr>
        <p:txBody>
          <a:bodyPr rtlCol="0">
            <a:normAutofit/>
          </a:bodyPr>
          <a:lstStyle/>
          <a:p>
            <a:pPr algn="ctr" rtl="0">
              <a:lnSpc>
                <a:spcPct val="150000"/>
              </a:lnSpc>
            </a:pPr>
            <a:r>
              <a:rPr lang="nb-NO" sz="4400" dirty="0" err="1">
                <a:solidFill>
                  <a:schemeClr val="accent1">
                    <a:lumMod val="75000"/>
                  </a:schemeClr>
                </a:solidFill>
              </a:rPr>
              <a:t>Master’s</a:t>
            </a:r>
            <a:r>
              <a:rPr lang="nb-NO" sz="4400" dirty="0">
                <a:solidFill>
                  <a:schemeClr val="accent1">
                    <a:lumMod val="75000"/>
                  </a:schemeClr>
                </a:solidFill>
              </a:rPr>
              <a:t> </a:t>
            </a:r>
            <a:r>
              <a:rPr lang="nb-NO" sz="4400" dirty="0" err="1">
                <a:solidFill>
                  <a:schemeClr val="accent1">
                    <a:lumMod val="75000"/>
                  </a:schemeClr>
                </a:solidFill>
              </a:rPr>
              <a:t>thesis</a:t>
            </a:r>
            <a:r>
              <a:rPr lang="nb-NO" sz="4400" dirty="0">
                <a:solidFill>
                  <a:schemeClr val="accent1">
                    <a:lumMod val="75000"/>
                  </a:schemeClr>
                </a:solidFill>
              </a:rPr>
              <a:t> </a:t>
            </a:r>
            <a:r>
              <a:rPr lang="nb-NO" sz="4400" dirty="0" err="1">
                <a:solidFill>
                  <a:schemeClr val="accent1">
                    <a:lumMod val="75000"/>
                  </a:schemeClr>
                </a:solidFill>
              </a:rPr>
              <a:t>presentation</a:t>
            </a:r>
            <a:br>
              <a:rPr lang="nb-NO" sz="5300" dirty="0">
                <a:solidFill>
                  <a:schemeClr val="accent1">
                    <a:lumMod val="75000"/>
                  </a:schemeClr>
                </a:solidFill>
              </a:rPr>
            </a:br>
            <a:r>
              <a:rPr lang="nb-NO" sz="2000" dirty="0">
                <a:solidFill>
                  <a:schemeClr val="accent1">
                    <a:lumMod val="75000"/>
                  </a:schemeClr>
                </a:solidFill>
              </a:rPr>
              <a:t>by</a:t>
            </a:r>
            <a:br>
              <a:rPr lang="nb-NO" sz="4900" dirty="0">
                <a:solidFill>
                  <a:schemeClr val="accent1">
                    <a:lumMod val="75000"/>
                  </a:schemeClr>
                </a:solidFill>
              </a:rPr>
            </a:br>
            <a:r>
              <a:rPr lang="nb-NO" sz="3100" dirty="0">
                <a:solidFill>
                  <a:schemeClr val="accent1">
                    <a:lumMod val="75000"/>
                  </a:schemeClr>
                </a:solidFill>
              </a:rPr>
              <a:t>Henrik Bergersen</a:t>
            </a:r>
            <a:endParaRPr lang="nb-NO" dirty="0">
              <a:solidFill>
                <a:schemeClr val="accent1">
                  <a:lumMod val="75000"/>
                </a:schemeClr>
              </a:solidFill>
            </a:endParaRPr>
          </a:p>
        </p:txBody>
      </p:sp>
      <p:sp>
        <p:nvSpPr>
          <p:cNvPr id="8" name="Subtitle 7">
            <a:extLst>
              <a:ext uri="{FF2B5EF4-FFF2-40B4-BE49-F238E27FC236}">
                <a16:creationId xmlns:a16="http://schemas.microsoft.com/office/drawing/2014/main" id="{48504B36-654F-3545-9B03-9EFDF46A8A77}"/>
              </a:ext>
            </a:extLst>
          </p:cNvPr>
          <p:cNvSpPr>
            <a:spLocks noGrp="1"/>
          </p:cNvSpPr>
          <p:nvPr>
            <p:ph type="subTitle" idx="1"/>
          </p:nvPr>
        </p:nvSpPr>
        <p:spPr>
          <a:xfrm>
            <a:off x="7076190" y="4931287"/>
            <a:ext cx="4526280" cy="1279652"/>
          </a:xfrm>
        </p:spPr>
        <p:txBody>
          <a:bodyPr>
            <a:normAutofit/>
          </a:bodyPr>
          <a:lstStyle/>
          <a:p>
            <a:r>
              <a:rPr lang="nb-NO" sz="1600" b="1" dirty="0"/>
              <a:t>Supervisors:</a:t>
            </a:r>
          </a:p>
          <a:p>
            <a:r>
              <a:rPr lang="nb-NO" sz="1600" b="1" dirty="0"/>
              <a:t>DTU: </a:t>
            </a:r>
            <a:r>
              <a:rPr lang="nb-NO" sz="1600" dirty="0"/>
              <a:t>Bent Lauritzen, </a:t>
            </a:r>
            <a:r>
              <a:rPr lang="nb-NO" sz="1600" dirty="0" err="1"/>
              <a:t>Amalia</a:t>
            </a:r>
            <a:r>
              <a:rPr lang="nb-NO" sz="1600" dirty="0"/>
              <a:t> </a:t>
            </a:r>
            <a:r>
              <a:rPr lang="nb-NO" sz="1600" dirty="0" err="1"/>
              <a:t>Chambon</a:t>
            </a:r>
            <a:endParaRPr lang="nb-NO" sz="1600" dirty="0"/>
          </a:p>
          <a:p>
            <a:r>
              <a:rPr lang="nb-NO" sz="1600" b="1" dirty="0"/>
              <a:t>AFRY: </a:t>
            </a:r>
            <a:r>
              <a:rPr lang="nb-NO" sz="1600" dirty="0"/>
              <a:t>Jarl Robert Heer</a:t>
            </a:r>
          </a:p>
        </p:txBody>
      </p:sp>
      <p:sp>
        <p:nvSpPr>
          <p:cNvPr id="2" name="TextBox 1">
            <a:extLst>
              <a:ext uri="{FF2B5EF4-FFF2-40B4-BE49-F238E27FC236}">
                <a16:creationId xmlns:a16="http://schemas.microsoft.com/office/drawing/2014/main" id="{0572CF86-7E60-1C1C-0905-A4EF1452ED2E}"/>
              </a:ext>
            </a:extLst>
          </p:cNvPr>
          <p:cNvSpPr txBox="1"/>
          <p:nvPr/>
        </p:nvSpPr>
        <p:spPr>
          <a:xfrm>
            <a:off x="8721213" y="4221152"/>
            <a:ext cx="1236236" cy="369332"/>
          </a:xfrm>
          <a:prstGeom prst="rect">
            <a:avLst/>
          </a:prstGeom>
          <a:noFill/>
        </p:spPr>
        <p:txBody>
          <a:bodyPr wrap="none" rtlCol="0">
            <a:spAutoFit/>
          </a:bodyPr>
          <a:lstStyle/>
          <a:p>
            <a:r>
              <a:rPr lang="nb-NO" dirty="0"/>
              <a:t>26.02.2026</a:t>
            </a:r>
          </a:p>
        </p:txBody>
      </p:sp>
      <p:pic>
        <p:nvPicPr>
          <p:cNvPr id="1026" name="Picture 2">
            <a:extLst>
              <a:ext uri="{FF2B5EF4-FFF2-40B4-BE49-F238E27FC236}">
                <a16:creationId xmlns:a16="http://schemas.microsoft.com/office/drawing/2014/main" id="{6F97F9B9-B332-AF76-234F-C161245A31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4551" y="3427168"/>
            <a:ext cx="2125960" cy="3008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he AFRY Group brand portfolio">
            <a:extLst>
              <a:ext uri="{FF2B5EF4-FFF2-40B4-BE49-F238E27FC236}">
                <a16:creationId xmlns:a16="http://schemas.microsoft.com/office/drawing/2014/main" id="{6E317B29-24D6-2FBB-F898-0B3E16179E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6212" y="73407"/>
            <a:ext cx="3893764" cy="333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2296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149B7-9DC4-4153-5DFD-F6A1C48AA55A}"/>
            </a:ext>
          </a:extLst>
        </p:cNvPr>
        <p:cNvGrpSpPr/>
        <p:nvPr/>
      </p:nvGrpSpPr>
      <p:grpSpPr>
        <a:xfrm>
          <a:off x="0" y="0"/>
          <a:ext cx="0" cy="0"/>
          <a:chOff x="0" y="0"/>
          <a:chExt cx="0" cy="0"/>
        </a:xfrm>
      </p:grpSpPr>
      <p:pic>
        <p:nvPicPr>
          <p:cNvPr id="13" name="Picture Placeholder 12" descr="A city with a body of water and a sunset&#10;&#10;AI-generated content may be incorrect.">
            <a:extLst>
              <a:ext uri="{FF2B5EF4-FFF2-40B4-BE49-F238E27FC236}">
                <a16:creationId xmlns:a16="http://schemas.microsoft.com/office/drawing/2014/main" id="{59F913D8-1F65-46A9-B847-081371704D6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4115" r="24115"/>
          <a:stretch>
            <a:fillRect/>
          </a:stretch>
        </p:blipFill>
        <p:spPr>
          <a:noFill/>
        </p:spPr>
      </p:pic>
      <p:sp>
        <p:nvSpPr>
          <p:cNvPr id="7" name="Tittel 6">
            <a:extLst>
              <a:ext uri="{FF2B5EF4-FFF2-40B4-BE49-F238E27FC236}">
                <a16:creationId xmlns:a16="http://schemas.microsoft.com/office/drawing/2014/main" id="{F26DC500-8182-7658-7A1F-CFD976583272}"/>
              </a:ext>
            </a:extLst>
          </p:cNvPr>
          <p:cNvSpPr>
            <a:spLocks noGrp="1"/>
          </p:cNvSpPr>
          <p:nvPr>
            <p:ph type="ctrTitle"/>
          </p:nvPr>
        </p:nvSpPr>
        <p:spPr>
          <a:xfrm>
            <a:off x="6629400" y="758952"/>
            <a:ext cx="5179142" cy="3227514"/>
          </a:xfrm>
        </p:spPr>
        <p:txBody>
          <a:bodyPr rtlCol="0" anchor="b">
            <a:normAutofit/>
          </a:bodyPr>
          <a:lstStyle/>
          <a:p>
            <a:pPr algn="ctr"/>
            <a:r>
              <a:rPr lang="en-US" sz="3300" dirty="0">
                <a:solidFill>
                  <a:schemeClr val="accent1">
                    <a:lumMod val="75000"/>
                  </a:schemeClr>
                </a:solidFill>
              </a:rPr>
              <a:t>Cogeneration of Power and Ammonia in Europe using Small Modular Pressurized Water Reactors</a:t>
            </a:r>
            <a:br>
              <a:rPr lang="en-US" sz="3300" dirty="0"/>
            </a:br>
            <a:endParaRPr lang="nb-NO" sz="3300" dirty="0"/>
          </a:p>
        </p:txBody>
      </p:sp>
      <p:sp>
        <p:nvSpPr>
          <p:cNvPr id="17" name="Subtitle 3">
            <a:extLst>
              <a:ext uri="{FF2B5EF4-FFF2-40B4-BE49-F238E27FC236}">
                <a16:creationId xmlns:a16="http://schemas.microsoft.com/office/drawing/2014/main" id="{D98AEE47-A5F8-5330-F8D9-3EB60958B039}"/>
              </a:ext>
            </a:extLst>
          </p:cNvPr>
          <p:cNvSpPr>
            <a:spLocks noGrp="1"/>
          </p:cNvSpPr>
          <p:nvPr>
            <p:ph type="subTitle" idx="1"/>
          </p:nvPr>
        </p:nvSpPr>
        <p:spPr>
          <a:xfrm>
            <a:off x="6629400" y="4095545"/>
            <a:ext cx="5245197" cy="1279652"/>
          </a:xfrm>
        </p:spPr>
        <p:txBody>
          <a:bodyPr>
            <a:normAutofit/>
          </a:bodyPr>
          <a:lstStyle/>
          <a:p>
            <a:pPr algn="ctr"/>
            <a:r>
              <a:rPr lang="en-US" dirty="0"/>
              <a:t>A Techno-Economic Analysis &amp; Operational Strategy Optimization</a:t>
            </a:r>
          </a:p>
        </p:txBody>
      </p:sp>
    </p:spTree>
    <p:extLst>
      <p:ext uri="{BB962C8B-B14F-4D97-AF65-F5344CB8AC3E}">
        <p14:creationId xmlns:p14="http://schemas.microsoft.com/office/powerpoint/2010/main" val="340644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4883B5-0A4F-23C9-7BEB-EE70773EA8D9}"/>
              </a:ext>
            </a:extLst>
          </p:cNvPr>
          <p:cNvSpPr>
            <a:spLocks noGrp="1"/>
          </p:cNvSpPr>
          <p:nvPr>
            <p:ph type="title"/>
          </p:nvPr>
        </p:nvSpPr>
        <p:spPr>
          <a:xfrm>
            <a:off x="1092200" y="1885125"/>
            <a:ext cx="3068833" cy="2093975"/>
          </a:xfrm>
        </p:spPr>
        <p:txBody>
          <a:bodyPr anchor="ctr">
            <a:normAutofit/>
          </a:bodyPr>
          <a:lstStyle/>
          <a:p>
            <a:r>
              <a:rPr lang="nb-NO" dirty="0" err="1"/>
              <a:t>Table</a:t>
            </a:r>
            <a:r>
              <a:rPr lang="nb-NO" dirty="0"/>
              <a:t> </a:t>
            </a:r>
            <a:r>
              <a:rPr lang="nb-NO" dirty="0" err="1"/>
              <a:t>of</a:t>
            </a:r>
            <a:r>
              <a:rPr lang="nb-NO" dirty="0"/>
              <a:t> </a:t>
            </a:r>
            <a:r>
              <a:rPr lang="nb-NO" dirty="0" err="1"/>
              <a:t>contents</a:t>
            </a:r>
            <a:endParaRPr lang="nb-NO" dirty="0"/>
          </a:p>
        </p:txBody>
      </p:sp>
      <p:sp>
        <p:nvSpPr>
          <p:cNvPr id="14" name="Content Placeholder 2">
            <a:extLst>
              <a:ext uri="{FF2B5EF4-FFF2-40B4-BE49-F238E27FC236}">
                <a16:creationId xmlns:a16="http://schemas.microsoft.com/office/drawing/2014/main" id="{6A1625A9-7171-EEAA-A517-5B9FA2C0D093}"/>
              </a:ext>
            </a:extLst>
          </p:cNvPr>
          <p:cNvSpPr>
            <a:spLocks noGrp="1"/>
          </p:cNvSpPr>
          <p:nvPr>
            <p:ph idx="1"/>
          </p:nvPr>
        </p:nvSpPr>
        <p:spPr>
          <a:xfrm>
            <a:off x="6518529" y="533401"/>
            <a:ext cx="4654296" cy="4767942"/>
          </a:xfrm>
        </p:spPr>
        <p:txBody>
          <a:bodyPr>
            <a:normAutofit lnSpcReduction="10000"/>
          </a:bodyPr>
          <a:lstStyle/>
          <a:p>
            <a:r>
              <a:rPr lang="en-US" b="1" dirty="0"/>
              <a:t>Background</a:t>
            </a:r>
          </a:p>
          <a:p>
            <a:endParaRPr lang="en-US" b="1" dirty="0"/>
          </a:p>
          <a:p>
            <a:r>
              <a:rPr lang="en-US" b="1" dirty="0"/>
              <a:t>Objective</a:t>
            </a:r>
          </a:p>
          <a:p>
            <a:endParaRPr lang="en-US" b="1" dirty="0"/>
          </a:p>
          <a:p>
            <a:r>
              <a:rPr lang="en-US" b="1" dirty="0"/>
              <a:t>Theory</a:t>
            </a:r>
          </a:p>
          <a:p>
            <a:endParaRPr lang="en-US" b="1" dirty="0"/>
          </a:p>
          <a:p>
            <a:r>
              <a:rPr lang="en-US" b="1" dirty="0"/>
              <a:t>Methodology</a:t>
            </a:r>
          </a:p>
          <a:p>
            <a:endParaRPr lang="en-US" b="1" dirty="0"/>
          </a:p>
          <a:p>
            <a:r>
              <a:rPr lang="en-US" b="1" dirty="0"/>
              <a:t>Results</a:t>
            </a:r>
          </a:p>
          <a:p>
            <a:endParaRPr lang="en-US" b="1" dirty="0"/>
          </a:p>
          <a:p>
            <a:r>
              <a:rPr lang="en-US" b="1" dirty="0"/>
              <a:t>Conclusion</a:t>
            </a:r>
          </a:p>
        </p:txBody>
      </p:sp>
    </p:spTree>
    <p:extLst>
      <p:ext uri="{BB962C8B-B14F-4D97-AF65-F5344CB8AC3E}">
        <p14:creationId xmlns:p14="http://schemas.microsoft.com/office/powerpoint/2010/main" val="2732817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508C1DA8-DBDE-920F-58EB-D62425E1291D}"/>
              </a:ext>
            </a:extLst>
          </p:cNvPr>
          <p:cNvSpPr>
            <a:spLocks noGrp="1"/>
          </p:cNvSpPr>
          <p:nvPr>
            <p:ph type="title"/>
          </p:nvPr>
        </p:nvSpPr>
        <p:spPr>
          <a:xfrm>
            <a:off x="1268694" y="1021109"/>
            <a:ext cx="3932237" cy="659168"/>
          </a:xfrm>
        </p:spPr>
        <p:txBody>
          <a:bodyPr/>
          <a:lstStyle/>
          <a:p>
            <a:r>
              <a:rPr lang="en-US" sz="3600" b="1" dirty="0">
                <a:solidFill>
                  <a:schemeClr val="accent1">
                    <a:lumMod val="75000"/>
                  </a:schemeClr>
                </a:solidFill>
              </a:rPr>
              <a:t>Background</a:t>
            </a:r>
            <a:endParaRPr lang="en-US" b="1" dirty="0">
              <a:solidFill>
                <a:schemeClr val="accent1">
                  <a:lumMod val="75000"/>
                </a:schemeClr>
              </a:solidFill>
            </a:endParaRPr>
          </a:p>
        </p:txBody>
      </p:sp>
      <p:sp>
        <p:nvSpPr>
          <p:cNvPr id="39" name="Text Placeholder 3">
            <a:extLst>
              <a:ext uri="{FF2B5EF4-FFF2-40B4-BE49-F238E27FC236}">
                <a16:creationId xmlns:a16="http://schemas.microsoft.com/office/drawing/2014/main" id="{4F67553A-ED01-138C-34C0-CBF1A755BB77}"/>
              </a:ext>
            </a:extLst>
          </p:cNvPr>
          <p:cNvSpPr>
            <a:spLocks noGrp="1"/>
          </p:cNvSpPr>
          <p:nvPr>
            <p:ph type="body" sz="half" idx="2"/>
          </p:nvPr>
        </p:nvSpPr>
        <p:spPr>
          <a:xfrm>
            <a:off x="386300" y="1897992"/>
            <a:ext cx="11065472" cy="4960008"/>
          </a:xfrm>
        </p:spPr>
        <p:txBody>
          <a:bodyPr>
            <a:normAutofit fontScale="77500" lnSpcReduction="20000"/>
          </a:bodyPr>
          <a:lstStyle/>
          <a:p>
            <a:endParaRPr lang="en-US" sz="2000" b="1" dirty="0"/>
          </a:p>
          <a:p>
            <a:pPr marL="285750" indent="-285750">
              <a:buFont typeface="Arial" panose="020B0604020202020204" pitchFamily="34" charset="0"/>
              <a:buChar char="•"/>
            </a:pPr>
            <a:r>
              <a:rPr lang="en-US" sz="2400" dirty="0"/>
              <a:t>Nuclear reactors operate most efficiently as baseload providers, where reducing output in response to price fluctuations leads to fuel underutilization.				        </a:t>
            </a:r>
            <a:r>
              <a:rPr lang="en-US" sz="2100" i="1" dirty="0">
                <a:hlinkClick r:id="rId3"/>
              </a:rPr>
              <a:t>Giorgio Locatelli et al.</a:t>
            </a:r>
            <a:endParaRPr lang="en-US" sz="2400" i="1" dirty="0"/>
          </a:p>
          <a:p>
            <a:pPr marL="285750" indent="-285750">
              <a:buFont typeface="Arial" panose="020B0604020202020204" pitchFamily="34" charset="0"/>
              <a:buChar char="•"/>
            </a:pPr>
            <a:endParaRPr lang="en-US" sz="2400" i="1" dirty="0"/>
          </a:p>
          <a:p>
            <a:pPr marL="285750" indent="-285750">
              <a:buFont typeface="Arial" panose="020B0604020202020204" pitchFamily="34" charset="0"/>
              <a:buChar char="•"/>
            </a:pPr>
            <a:r>
              <a:rPr lang="en-US" sz="2400" dirty="0"/>
              <a:t>Cogeneration might serve as a mechanism to decouple the reactor power from grid demand and increase profitability.								    </a:t>
            </a:r>
            <a:r>
              <a:rPr lang="en-US" sz="2100" i="1" dirty="0">
                <a:hlinkClick r:id="rId4"/>
              </a:rPr>
              <a:t>IAEA 2019</a:t>
            </a:r>
            <a:endParaRPr lang="en-US" sz="2100" i="1" dirty="0"/>
          </a:p>
          <a:p>
            <a:endParaRPr lang="en-US" sz="2400" dirty="0"/>
          </a:p>
          <a:p>
            <a:pPr marL="285750" indent="-285750">
              <a:buFont typeface="Arial" panose="020B0604020202020204" pitchFamily="34" charset="0"/>
              <a:buChar char="•"/>
            </a:pPr>
            <a:r>
              <a:rPr lang="en-US" sz="2400" dirty="0"/>
              <a:t>The ammonia market is a mature industry with 70% used for fertilizer, and additional expansion is projected into the low-carbon fuel sector.			      		       	        </a:t>
            </a:r>
            <a:r>
              <a:rPr lang="en-US" sz="2100" i="1" dirty="0">
                <a:hlinkClick r:id="rId5"/>
              </a:rPr>
              <a:t>IEA 2021</a:t>
            </a:r>
            <a:endParaRPr lang="en-US" sz="2400" i="1" dirty="0"/>
          </a:p>
          <a:p>
            <a:endParaRPr lang="en-US" sz="2400" i="1" dirty="0"/>
          </a:p>
          <a:p>
            <a:pPr marL="285750" indent="-285750">
              <a:buFont typeface="Arial" panose="020B0604020202020204" pitchFamily="34" charset="0"/>
              <a:buChar char="•"/>
            </a:pPr>
            <a:r>
              <a:rPr lang="en-US" sz="2400" dirty="0"/>
              <a:t>Conventional ammonia synthesis relies on natural gas and offers opportunities for decarbonization.	           								      </a:t>
            </a:r>
            <a:r>
              <a:rPr lang="en-US" sz="2100" i="1" dirty="0" err="1">
                <a:hlinkClick r:id="rId6"/>
              </a:rPr>
              <a:t>HydrogenEurope</a:t>
            </a:r>
            <a:r>
              <a:rPr lang="en-US" sz="2100" i="1" dirty="0">
                <a:hlinkClick r:id="rId6"/>
              </a:rPr>
              <a:t> 2023</a:t>
            </a:r>
            <a:endParaRPr lang="en-US" sz="2100" i="1" dirty="0"/>
          </a:p>
          <a:p>
            <a:pPr marL="285750" indent="-285750">
              <a:buFont typeface="Arial" panose="020B0604020202020204" pitchFamily="34" charset="0"/>
              <a:buChar char="•"/>
            </a:pPr>
            <a:endParaRPr lang="en-US" sz="2100" i="1" dirty="0"/>
          </a:p>
          <a:p>
            <a:pPr marL="285750" indent="-285750">
              <a:buFont typeface="Arial" panose="020B0604020202020204" pitchFamily="34" charset="0"/>
              <a:buChar char="•"/>
            </a:pPr>
            <a:r>
              <a:rPr lang="en-US" sz="2400" dirty="0"/>
              <a:t>Small Modular Reactors have gained attraction in recent years for their potential lower upfront cost and site flexibility.	</a:t>
            </a:r>
            <a:r>
              <a:rPr lang="en-US" sz="2000" dirty="0"/>
              <a:t>				      		      	         </a:t>
            </a:r>
            <a:r>
              <a:rPr lang="en-US" sz="1700" i="1" dirty="0">
                <a:hlinkClick r:id="rId7"/>
              </a:rPr>
              <a:t>IAEA 2024</a:t>
            </a:r>
            <a:endParaRPr lang="en-US" sz="2000" dirty="0"/>
          </a:p>
          <a:p>
            <a:pPr marL="285750" indent="-285750">
              <a:buFont typeface="Arial" panose="020B0604020202020204" pitchFamily="34" charset="0"/>
              <a:buChar char="•"/>
            </a:pPr>
            <a:endParaRPr lang="en-US" sz="2000" b="1" i="1" dirty="0"/>
          </a:p>
        </p:txBody>
      </p:sp>
    </p:spTree>
    <p:extLst>
      <p:ext uri="{BB962C8B-B14F-4D97-AF65-F5344CB8AC3E}">
        <p14:creationId xmlns:p14="http://schemas.microsoft.com/office/powerpoint/2010/main" val="89322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6C0E-93E5-B3CA-D568-464280A2C78B}"/>
              </a:ext>
            </a:extLst>
          </p:cNvPr>
          <p:cNvSpPr>
            <a:spLocks noGrp="1"/>
          </p:cNvSpPr>
          <p:nvPr>
            <p:ph type="title"/>
          </p:nvPr>
        </p:nvSpPr>
        <p:spPr>
          <a:xfrm>
            <a:off x="1250951" y="1111044"/>
            <a:ext cx="3932237" cy="523568"/>
          </a:xfrm>
        </p:spPr>
        <p:txBody>
          <a:bodyPr>
            <a:normAutofit fontScale="90000"/>
          </a:bodyPr>
          <a:lstStyle/>
          <a:p>
            <a:r>
              <a:rPr lang="nb-NO" sz="4000" b="1" dirty="0" err="1">
                <a:solidFill>
                  <a:schemeClr val="accent1">
                    <a:lumMod val="75000"/>
                  </a:schemeClr>
                </a:solidFill>
              </a:rPr>
              <a:t>Objective</a:t>
            </a:r>
            <a:endParaRPr lang="nb-NO" b="1" dirty="0">
              <a:solidFill>
                <a:schemeClr val="accent1">
                  <a:lumMod val="75000"/>
                </a:schemeClr>
              </a:solidFill>
            </a:endParaRPr>
          </a:p>
        </p:txBody>
      </p:sp>
      <p:sp>
        <p:nvSpPr>
          <p:cNvPr id="5" name="Text Placeholder 3">
            <a:extLst>
              <a:ext uri="{FF2B5EF4-FFF2-40B4-BE49-F238E27FC236}">
                <a16:creationId xmlns:a16="http://schemas.microsoft.com/office/drawing/2014/main" id="{AA4A0FEC-DF46-576A-8E0A-F9AD5BB52D2C}"/>
              </a:ext>
            </a:extLst>
          </p:cNvPr>
          <p:cNvSpPr>
            <a:spLocks noGrp="1"/>
          </p:cNvSpPr>
          <p:nvPr>
            <p:ph type="body" sz="half" idx="2"/>
          </p:nvPr>
        </p:nvSpPr>
        <p:spPr>
          <a:xfrm>
            <a:off x="526946" y="3156292"/>
            <a:ext cx="5404648" cy="1812678"/>
          </a:xfrm>
        </p:spPr>
        <p:txBody>
          <a:bodyPr>
            <a:normAutofit fontScale="92500"/>
          </a:bodyPr>
          <a:lstStyle/>
          <a:p>
            <a:r>
              <a:rPr lang="en-US" sz="2400" i="1" dirty="0"/>
              <a:t>Investigate the techno-economic potential of deploying small modular pressurized water reactors for cogeneration of power and green ammonia within the European power market.</a:t>
            </a:r>
            <a:endParaRPr lang="en-US" sz="2000" i="1" dirty="0"/>
          </a:p>
        </p:txBody>
      </p:sp>
      <p:grpSp>
        <p:nvGrpSpPr>
          <p:cNvPr id="14" name="Group 13">
            <a:extLst>
              <a:ext uri="{FF2B5EF4-FFF2-40B4-BE49-F238E27FC236}">
                <a16:creationId xmlns:a16="http://schemas.microsoft.com/office/drawing/2014/main" id="{5091FDC8-1504-151D-D150-82AB63E2A80A}"/>
              </a:ext>
            </a:extLst>
          </p:cNvPr>
          <p:cNvGrpSpPr/>
          <p:nvPr/>
        </p:nvGrpSpPr>
        <p:grpSpPr>
          <a:xfrm>
            <a:off x="9702875" y="2168012"/>
            <a:ext cx="2709953" cy="1750164"/>
            <a:chOff x="7445404" y="2276264"/>
            <a:chExt cx="2709953" cy="1750164"/>
          </a:xfrm>
        </p:grpSpPr>
        <p:sp>
          <p:nvSpPr>
            <p:cNvPr id="15" name="Oval 14">
              <a:extLst>
                <a:ext uri="{FF2B5EF4-FFF2-40B4-BE49-F238E27FC236}">
                  <a16:creationId xmlns:a16="http://schemas.microsoft.com/office/drawing/2014/main" id="{09E5B132-DD78-A003-586C-72A0807BA344}"/>
                </a:ext>
              </a:extLst>
            </p:cNvPr>
            <p:cNvSpPr/>
            <p:nvPr/>
          </p:nvSpPr>
          <p:spPr>
            <a:xfrm>
              <a:off x="8254387" y="2276264"/>
              <a:ext cx="1106736" cy="1059546"/>
            </a:xfrm>
            <a:prstGeom prst="ellipse">
              <a:avLst/>
            </a:prstGeom>
            <a:solidFill>
              <a:schemeClr val="bg1">
                <a:lumMod val="65000"/>
              </a:schemeClr>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nb-NO"/>
            </a:p>
          </p:txBody>
        </p:sp>
        <p:grpSp>
          <p:nvGrpSpPr>
            <p:cNvPr id="16" name="Group 15">
              <a:extLst>
                <a:ext uri="{FF2B5EF4-FFF2-40B4-BE49-F238E27FC236}">
                  <a16:creationId xmlns:a16="http://schemas.microsoft.com/office/drawing/2014/main" id="{D401D34A-422B-0A04-43C4-5F4882DB1639}"/>
                </a:ext>
              </a:extLst>
            </p:cNvPr>
            <p:cNvGrpSpPr/>
            <p:nvPr/>
          </p:nvGrpSpPr>
          <p:grpSpPr>
            <a:xfrm>
              <a:off x="7445404" y="3373182"/>
              <a:ext cx="2709953" cy="653246"/>
              <a:chOff x="24074" y="2725539"/>
              <a:chExt cx="2992782" cy="720001"/>
            </a:xfrm>
          </p:grpSpPr>
          <p:sp>
            <p:nvSpPr>
              <p:cNvPr id="18" name="Rectangle 17">
                <a:extLst>
                  <a:ext uri="{FF2B5EF4-FFF2-40B4-BE49-F238E27FC236}">
                    <a16:creationId xmlns:a16="http://schemas.microsoft.com/office/drawing/2014/main" id="{B948166F-66CC-6EC0-2525-3FE3CD4CE18C}"/>
                  </a:ext>
                </a:extLst>
              </p:cNvPr>
              <p:cNvSpPr/>
              <p:nvPr/>
            </p:nvSpPr>
            <p:spPr>
              <a:xfrm>
                <a:off x="35606" y="2725540"/>
                <a:ext cx="2981250"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nb-NO"/>
              </a:p>
            </p:txBody>
          </p:sp>
          <p:sp>
            <p:nvSpPr>
              <p:cNvPr id="19" name="TextBox 18">
                <a:extLst>
                  <a:ext uri="{FF2B5EF4-FFF2-40B4-BE49-F238E27FC236}">
                    <a16:creationId xmlns:a16="http://schemas.microsoft.com/office/drawing/2014/main" id="{C3C1AA63-B5C6-92D4-4F28-EA737A5A6F2A}"/>
                  </a:ext>
                </a:extLst>
              </p:cNvPr>
              <p:cNvSpPr txBox="1"/>
              <p:nvPr/>
            </p:nvSpPr>
            <p:spPr>
              <a:xfrm>
                <a:off x="24074" y="2725539"/>
                <a:ext cx="2981250"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rtlCol="0" anchor="t" anchorCtr="0">
                <a:noAutofit/>
              </a:bodyPr>
              <a:lstStyle/>
              <a:p>
                <a:pPr marL="0" lvl="0" indent="0" algn="ctr" defTabSz="1155700">
                  <a:lnSpc>
                    <a:spcPct val="100000"/>
                  </a:lnSpc>
                  <a:spcBef>
                    <a:spcPct val="0"/>
                  </a:spcBef>
                  <a:spcAft>
                    <a:spcPct val="35000"/>
                  </a:spcAft>
                  <a:buNone/>
                  <a:defRPr cap="all"/>
                </a:pPr>
                <a:r>
                  <a:rPr lang="nb-NO" sz="2600" b="1" kern="1200" noProof="0" dirty="0">
                    <a:solidFill>
                      <a:schemeClr val="accent1">
                        <a:lumMod val="75000"/>
                      </a:schemeClr>
                    </a:solidFill>
                  </a:rPr>
                  <a:t>Power</a:t>
                </a:r>
              </a:p>
            </p:txBody>
          </p:sp>
        </p:grpSp>
        <p:pic>
          <p:nvPicPr>
            <p:cNvPr id="17" name="Picture 2" descr="Lightning ">
              <a:extLst>
                <a:ext uri="{FF2B5EF4-FFF2-40B4-BE49-F238E27FC236}">
                  <a16:creationId xmlns:a16="http://schemas.microsoft.com/office/drawing/2014/main" id="{DAF63009-E14E-61AB-3028-8941BF872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5460" y="2462277"/>
              <a:ext cx="703494" cy="7034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4A954274-3A55-CD52-4E5E-D9656D726C49}"/>
              </a:ext>
            </a:extLst>
          </p:cNvPr>
          <p:cNvGrpSpPr/>
          <p:nvPr/>
        </p:nvGrpSpPr>
        <p:grpSpPr>
          <a:xfrm>
            <a:off x="9702875" y="4499771"/>
            <a:ext cx="2795808" cy="1749251"/>
            <a:chOff x="7446826" y="4220412"/>
            <a:chExt cx="2795808" cy="1749251"/>
          </a:xfrm>
        </p:grpSpPr>
        <p:sp>
          <p:nvSpPr>
            <p:cNvPr id="21" name="Oval 20">
              <a:extLst>
                <a:ext uri="{FF2B5EF4-FFF2-40B4-BE49-F238E27FC236}">
                  <a16:creationId xmlns:a16="http://schemas.microsoft.com/office/drawing/2014/main" id="{79E07DF1-4AA0-6E6E-C71C-2A3C68B32417}"/>
                </a:ext>
              </a:extLst>
            </p:cNvPr>
            <p:cNvSpPr/>
            <p:nvPr/>
          </p:nvSpPr>
          <p:spPr>
            <a:xfrm>
              <a:off x="8250077" y="4220412"/>
              <a:ext cx="1111045" cy="1061100"/>
            </a:xfrm>
            <a:prstGeom prst="ellipse">
              <a:avLst/>
            </a:prstGeom>
            <a:solidFill>
              <a:schemeClr val="accent5">
                <a:lumMod val="60000"/>
                <a:lumOff val="40000"/>
              </a:schemeClr>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nb-NO"/>
            </a:p>
          </p:txBody>
        </p:sp>
        <p:grpSp>
          <p:nvGrpSpPr>
            <p:cNvPr id="22" name="Group 21">
              <a:extLst>
                <a:ext uri="{FF2B5EF4-FFF2-40B4-BE49-F238E27FC236}">
                  <a16:creationId xmlns:a16="http://schemas.microsoft.com/office/drawing/2014/main" id="{56580B24-C582-84FB-1AB9-F3D3CD836123}"/>
                </a:ext>
              </a:extLst>
            </p:cNvPr>
            <p:cNvGrpSpPr/>
            <p:nvPr/>
          </p:nvGrpSpPr>
          <p:grpSpPr>
            <a:xfrm>
              <a:off x="7446826" y="5456420"/>
              <a:ext cx="2795808" cy="513243"/>
              <a:chOff x="35603" y="1924016"/>
              <a:chExt cx="2981253" cy="1521524"/>
            </a:xfrm>
          </p:grpSpPr>
          <p:sp>
            <p:nvSpPr>
              <p:cNvPr id="24" name="Rectangle 23">
                <a:extLst>
                  <a:ext uri="{FF2B5EF4-FFF2-40B4-BE49-F238E27FC236}">
                    <a16:creationId xmlns:a16="http://schemas.microsoft.com/office/drawing/2014/main" id="{5A85ADDE-CAFF-FE05-EC19-0D40BDC80DD5}"/>
                  </a:ext>
                </a:extLst>
              </p:cNvPr>
              <p:cNvSpPr/>
              <p:nvPr/>
            </p:nvSpPr>
            <p:spPr>
              <a:xfrm>
                <a:off x="35606" y="2725540"/>
                <a:ext cx="2981250"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nb-NO"/>
              </a:p>
            </p:txBody>
          </p:sp>
          <p:sp>
            <p:nvSpPr>
              <p:cNvPr id="25" name="TextBox 24">
                <a:extLst>
                  <a:ext uri="{FF2B5EF4-FFF2-40B4-BE49-F238E27FC236}">
                    <a16:creationId xmlns:a16="http://schemas.microsoft.com/office/drawing/2014/main" id="{F07762CA-9E43-A926-B1C7-5B5DE8D17AE2}"/>
                  </a:ext>
                </a:extLst>
              </p:cNvPr>
              <p:cNvSpPr txBox="1"/>
              <p:nvPr/>
            </p:nvSpPr>
            <p:spPr>
              <a:xfrm>
                <a:off x="35603" y="1924016"/>
                <a:ext cx="2981250" cy="72000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rtlCol="0" anchor="t" anchorCtr="0">
                <a:noAutofit/>
              </a:bodyPr>
              <a:lstStyle/>
              <a:p>
                <a:pPr marL="0" lvl="0" indent="0" algn="ctr" defTabSz="1155700">
                  <a:lnSpc>
                    <a:spcPct val="100000"/>
                  </a:lnSpc>
                  <a:spcBef>
                    <a:spcPct val="0"/>
                  </a:spcBef>
                  <a:spcAft>
                    <a:spcPct val="35000"/>
                  </a:spcAft>
                  <a:buNone/>
                  <a:defRPr cap="all"/>
                </a:pPr>
                <a:r>
                  <a:rPr lang="nb-NO" sz="2600" b="1" dirty="0" err="1">
                    <a:solidFill>
                      <a:schemeClr val="accent1">
                        <a:lumMod val="75000"/>
                      </a:schemeClr>
                    </a:solidFill>
                  </a:rPr>
                  <a:t>Ammonia</a:t>
                </a:r>
                <a:endParaRPr lang="nb-NO" sz="2600" b="1" kern="1200" noProof="0" dirty="0">
                  <a:solidFill>
                    <a:schemeClr val="accent1">
                      <a:lumMod val="75000"/>
                    </a:schemeClr>
                  </a:solidFill>
                </a:endParaRPr>
              </a:p>
            </p:txBody>
          </p:sp>
        </p:grpSp>
        <p:pic>
          <p:nvPicPr>
            <p:cNvPr id="23" name="Picture 6" descr="Ammonia ">
              <a:extLst>
                <a:ext uri="{FF2B5EF4-FFF2-40B4-BE49-F238E27FC236}">
                  <a16:creationId xmlns:a16="http://schemas.microsoft.com/office/drawing/2014/main" id="{7800D827-27E5-F502-6D81-77792F13C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1805" y="4377629"/>
              <a:ext cx="727587" cy="72758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6" name="Straight Arrow Connector 25">
            <a:extLst>
              <a:ext uri="{FF2B5EF4-FFF2-40B4-BE49-F238E27FC236}">
                <a16:creationId xmlns:a16="http://schemas.microsoft.com/office/drawing/2014/main" id="{F3374589-32B8-A53B-51CE-8A64D741B502}"/>
              </a:ext>
            </a:extLst>
          </p:cNvPr>
          <p:cNvCxnSpPr>
            <a:cxnSpLocks/>
          </p:cNvCxnSpPr>
          <p:nvPr/>
        </p:nvCxnSpPr>
        <p:spPr>
          <a:xfrm flipV="1">
            <a:off x="8395412" y="2970213"/>
            <a:ext cx="1678704" cy="372159"/>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19AB608-BA2A-0C85-543B-50E86804583D}"/>
              </a:ext>
            </a:extLst>
          </p:cNvPr>
          <p:cNvCxnSpPr>
            <a:cxnSpLocks/>
          </p:cNvCxnSpPr>
          <p:nvPr/>
        </p:nvCxnSpPr>
        <p:spPr>
          <a:xfrm>
            <a:off x="8353280" y="4355383"/>
            <a:ext cx="1762968" cy="28877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2D50B1F8-F720-8B77-C5E7-9277F6A514C5}"/>
              </a:ext>
            </a:extLst>
          </p:cNvPr>
          <p:cNvGrpSpPr/>
          <p:nvPr/>
        </p:nvGrpSpPr>
        <p:grpSpPr>
          <a:xfrm>
            <a:off x="6096000" y="3227558"/>
            <a:ext cx="2319047" cy="2068773"/>
            <a:chOff x="2036643" y="2945298"/>
            <a:chExt cx="2981250" cy="2698621"/>
          </a:xfrm>
        </p:grpSpPr>
        <p:sp>
          <p:nvSpPr>
            <p:cNvPr id="30" name="Oval 29">
              <a:extLst>
                <a:ext uri="{FF2B5EF4-FFF2-40B4-BE49-F238E27FC236}">
                  <a16:creationId xmlns:a16="http://schemas.microsoft.com/office/drawing/2014/main" id="{507D06E8-C63A-1E26-78A9-56B5902F82A6}"/>
                </a:ext>
              </a:extLst>
            </p:cNvPr>
            <p:cNvSpPr/>
            <p:nvPr/>
          </p:nvSpPr>
          <p:spPr>
            <a:xfrm>
              <a:off x="2588488" y="2945298"/>
              <a:ext cx="1818562" cy="1818562"/>
            </a:xfrm>
            <a:prstGeom prst="ellipse">
              <a:avLst/>
            </a:prstGeom>
            <a:solidFill>
              <a:schemeClr val="accent1"/>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nb-NO"/>
            </a:p>
          </p:txBody>
        </p:sp>
        <p:sp>
          <p:nvSpPr>
            <p:cNvPr id="31" name="Rectangle 30" descr="Power Plant with solid fill">
              <a:extLst>
                <a:ext uri="{FF2B5EF4-FFF2-40B4-BE49-F238E27FC236}">
                  <a16:creationId xmlns:a16="http://schemas.microsoft.com/office/drawing/2014/main" id="{5F44E5A8-64EC-DF9F-12A0-0D74063D85EE}"/>
                </a:ext>
              </a:extLst>
            </p:cNvPr>
            <p:cNvSpPr/>
            <p:nvPr/>
          </p:nvSpPr>
          <p:spPr>
            <a:xfrm>
              <a:off x="2976051" y="3182154"/>
              <a:ext cx="1043437" cy="1043437"/>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nb-NO"/>
            </a:p>
          </p:txBody>
        </p:sp>
        <p:grpSp>
          <p:nvGrpSpPr>
            <p:cNvPr id="32" name="Group 31">
              <a:extLst>
                <a:ext uri="{FF2B5EF4-FFF2-40B4-BE49-F238E27FC236}">
                  <a16:creationId xmlns:a16="http://schemas.microsoft.com/office/drawing/2014/main" id="{B706B67F-F936-162C-F61D-0212FF35CE76}"/>
                </a:ext>
              </a:extLst>
            </p:cNvPr>
            <p:cNvGrpSpPr/>
            <p:nvPr/>
          </p:nvGrpSpPr>
          <p:grpSpPr>
            <a:xfrm>
              <a:off x="2036643" y="4923919"/>
              <a:ext cx="2981250" cy="720000"/>
              <a:chOff x="35606" y="2725540"/>
              <a:chExt cx="2981250" cy="720000"/>
            </a:xfrm>
          </p:grpSpPr>
          <p:sp>
            <p:nvSpPr>
              <p:cNvPr id="33" name="Rectangle 32">
                <a:extLst>
                  <a:ext uri="{FF2B5EF4-FFF2-40B4-BE49-F238E27FC236}">
                    <a16:creationId xmlns:a16="http://schemas.microsoft.com/office/drawing/2014/main" id="{50886C49-92B7-8710-6691-CB6C6356DD30}"/>
                  </a:ext>
                </a:extLst>
              </p:cNvPr>
              <p:cNvSpPr/>
              <p:nvPr/>
            </p:nvSpPr>
            <p:spPr>
              <a:xfrm>
                <a:off x="35606" y="2725540"/>
                <a:ext cx="2981250"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nb-NO"/>
              </a:p>
            </p:txBody>
          </p:sp>
          <p:sp>
            <p:nvSpPr>
              <p:cNvPr id="34" name="TextBox 33">
                <a:extLst>
                  <a:ext uri="{FF2B5EF4-FFF2-40B4-BE49-F238E27FC236}">
                    <a16:creationId xmlns:a16="http://schemas.microsoft.com/office/drawing/2014/main" id="{6D4E8A5F-86EA-00C9-D316-6ED85DA2C7C5}"/>
                  </a:ext>
                </a:extLst>
              </p:cNvPr>
              <p:cNvSpPr txBox="1"/>
              <p:nvPr/>
            </p:nvSpPr>
            <p:spPr>
              <a:xfrm>
                <a:off x="35606" y="2725540"/>
                <a:ext cx="2981250"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rtlCol="0" anchor="t" anchorCtr="0">
                <a:noAutofit/>
              </a:bodyPr>
              <a:lstStyle/>
              <a:p>
                <a:pPr marL="0" lvl="0" indent="0" algn="ctr" defTabSz="1155700">
                  <a:lnSpc>
                    <a:spcPct val="100000"/>
                  </a:lnSpc>
                  <a:spcBef>
                    <a:spcPct val="0"/>
                  </a:spcBef>
                  <a:spcAft>
                    <a:spcPct val="35000"/>
                  </a:spcAft>
                  <a:buNone/>
                  <a:defRPr cap="all"/>
                </a:pPr>
                <a:r>
                  <a:rPr lang="nb-NO" sz="2600" b="1" kern="1200" noProof="0" dirty="0">
                    <a:solidFill>
                      <a:schemeClr val="accent1">
                        <a:lumMod val="75000"/>
                      </a:schemeClr>
                    </a:solidFill>
                  </a:rPr>
                  <a:t>SMR plant</a:t>
                </a:r>
              </a:p>
            </p:txBody>
          </p:sp>
        </p:grpSp>
      </p:grpSp>
    </p:spTree>
    <p:extLst>
      <p:ext uri="{BB962C8B-B14F-4D97-AF65-F5344CB8AC3E}">
        <p14:creationId xmlns:p14="http://schemas.microsoft.com/office/powerpoint/2010/main" val="3776978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04318-534C-E155-45C1-2EE68FB658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033CB2-5437-71B4-328D-6963D57B4DA0}"/>
              </a:ext>
            </a:extLst>
          </p:cNvPr>
          <p:cNvSpPr>
            <a:spLocks noGrp="1"/>
          </p:cNvSpPr>
          <p:nvPr>
            <p:ph type="title"/>
          </p:nvPr>
        </p:nvSpPr>
        <p:spPr>
          <a:xfrm>
            <a:off x="1092200" y="1885125"/>
            <a:ext cx="3068833" cy="2093975"/>
          </a:xfrm>
        </p:spPr>
        <p:txBody>
          <a:bodyPr anchor="ctr">
            <a:normAutofit/>
          </a:bodyPr>
          <a:lstStyle/>
          <a:p>
            <a:r>
              <a:rPr lang="nb-NO" sz="3400" dirty="0" err="1"/>
              <a:t>Theory</a:t>
            </a:r>
            <a:r>
              <a:rPr lang="nb-NO" sz="3400" dirty="0"/>
              <a:t> </a:t>
            </a:r>
            <a:r>
              <a:rPr lang="nb-NO" sz="3400" dirty="0" err="1"/>
              <a:t>on</a:t>
            </a:r>
            <a:r>
              <a:rPr lang="nb-NO" sz="3400" dirty="0"/>
              <a:t> </a:t>
            </a:r>
            <a:r>
              <a:rPr lang="nb-NO" sz="3400" dirty="0" err="1"/>
              <a:t>nuclear</a:t>
            </a:r>
            <a:r>
              <a:rPr lang="nb-NO" sz="3400" dirty="0"/>
              <a:t> </a:t>
            </a:r>
            <a:r>
              <a:rPr lang="nb-NO" sz="3400" dirty="0" err="1"/>
              <a:t>cogeneration</a:t>
            </a:r>
            <a:endParaRPr lang="nb-NO" sz="3400" dirty="0"/>
          </a:p>
        </p:txBody>
      </p:sp>
    </p:spTree>
    <p:extLst>
      <p:ext uri="{BB962C8B-B14F-4D97-AF65-F5344CB8AC3E}">
        <p14:creationId xmlns:p14="http://schemas.microsoft.com/office/powerpoint/2010/main" val="275629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55207CD6-E440-4A71-B394-9B34999E3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80D6C-D847-CEF4-85F3-382A4EA8F1A5}"/>
              </a:ext>
            </a:extLst>
          </p:cNvPr>
          <p:cNvSpPr>
            <a:spLocks noGrp="1"/>
          </p:cNvSpPr>
          <p:nvPr>
            <p:ph type="title"/>
          </p:nvPr>
        </p:nvSpPr>
        <p:spPr>
          <a:xfrm>
            <a:off x="2269218" y="403910"/>
            <a:ext cx="7653563" cy="523568"/>
          </a:xfrm>
        </p:spPr>
        <p:txBody>
          <a:bodyPr>
            <a:noAutofit/>
          </a:bodyPr>
          <a:lstStyle/>
          <a:p>
            <a:pPr algn="ctr"/>
            <a:r>
              <a:rPr lang="nb-NO" sz="2800" b="1" dirty="0">
                <a:solidFill>
                  <a:schemeClr val="bg2">
                    <a:lumMod val="25000"/>
                  </a:schemeClr>
                </a:solidFill>
              </a:rPr>
              <a:t>Small </a:t>
            </a:r>
            <a:r>
              <a:rPr lang="nb-NO" sz="2800" b="1" dirty="0" err="1">
                <a:solidFill>
                  <a:schemeClr val="bg2">
                    <a:lumMod val="25000"/>
                  </a:schemeClr>
                </a:solidFill>
              </a:rPr>
              <a:t>modular</a:t>
            </a:r>
            <a:r>
              <a:rPr lang="nb-NO" sz="2800" b="1" dirty="0">
                <a:solidFill>
                  <a:schemeClr val="bg2">
                    <a:lumMod val="25000"/>
                  </a:schemeClr>
                </a:solidFill>
              </a:rPr>
              <a:t> </a:t>
            </a:r>
            <a:r>
              <a:rPr lang="nb-NO" sz="2800" b="1" dirty="0" err="1">
                <a:solidFill>
                  <a:schemeClr val="bg2">
                    <a:lumMod val="25000"/>
                  </a:schemeClr>
                </a:solidFill>
              </a:rPr>
              <a:t>pressurized</a:t>
            </a:r>
            <a:r>
              <a:rPr lang="nb-NO" sz="2800" b="1" dirty="0">
                <a:solidFill>
                  <a:schemeClr val="bg2">
                    <a:lumMod val="25000"/>
                  </a:schemeClr>
                </a:solidFill>
              </a:rPr>
              <a:t> water </a:t>
            </a:r>
            <a:r>
              <a:rPr lang="nb-NO" sz="2800" b="1" dirty="0" err="1">
                <a:solidFill>
                  <a:schemeClr val="bg2">
                    <a:lumMod val="25000"/>
                  </a:schemeClr>
                </a:solidFill>
              </a:rPr>
              <a:t>reactor</a:t>
            </a:r>
            <a:endParaRPr lang="nb-NO" sz="2400" b="1" dirty="0">
              <a:solidFill>
                <a:schemeClr val="bg2">
                  <a:lumMod val="25000"/>
                </a:schemeClr>
              </a:solidFill>
            </a:endParaRPr>
          </a:p>
        </p:txBody>
      </p:sp>
      <p:pic>
        <p:nvPicPr>
          <p:cNvPr id="3" name="Picture 2">
            <a:extLst>
              <a:ext uri="{FF2B5EF4-FFF2-40B4-BE49-F238E27FC236}">
                <a16:creationId xmlns:a16="http://schemas.microsoft.com/office/drawing/2014/main" id="{3E59A283-384C-2C7D-BFE1-94CCC3711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4787" y="1209017"/>
            <a:ext cx="8467172" cy="5178271"/>
          </a:xfrm>
          <a:prstGeom prst="rect">
            <a:avLst/>
          </a:prstGeom>
        </p:spPr>
      </p:pic>
      <p:sp>
        <p:nvSpPr>
          <p:cNvPr id="4" name="TextBox 3">
            <a:extLst>
              <a:ext uri="{FF2B5EF4-FFF2-40B4-BE49-F238E27FC236}">
                <a16:creationId xmlns:a16="http://schemas.microsoft.com/office/drawing/2014/main" id="{FA604C21-FC81-5491-1017-73090DB8423E}"/>
              </a:ext>
            </a:extLst>
          </p:cNvPr>
          <p:cNvSpPr txBox="1"/>
          <p:nvPr/>
        </p:nvSpPr>
        <p:spPr>
          <a:xfrm>
            <a:off x="7159556" y="6387288"/>
            <a:ext cx="1981761" cy="307777"/>
          </a:xfrm>
          <a:prstGeom prst="rect">
            <a:avLst/>
          </a:prstGeom>
          <a:noFill/>
        </p:spPr>
        <p:txBody>
          <a:bodyPr wrap="none" rtlCol="0">
            <a:spAutoFit/>
          </a:bodyPr>
          <a:lstStyle/>
          <a:p>
            <a:r>
              <a:rPr lang="nb-NO" sz="1400" dirty="0" err="1">
                <a:hlinkClick r:id="rId3"/>
              </a:rPr>
              <a:t>Illustration</a:t>
            </a:r>
            <a:r>
              <a:rPr lang="nb-NO" sz="1400" dirty="0">
                <a:hlinkClick r:id="rId3"/>
              </a:rPr>
              <a:t>: </a:t>
            </a:r>
            <a:r>
              <a:rPr lang="nb-NO" sz="1400" dirty="0" err="1">
                <a:hlinkClick r:id="rId3"/>
              </a:rPr>
              <a:t>djysrv</a:t>
            </a:r>
            <a:r>
              <a:rPr lang="nb-NO" sz="1400" dirty="0">
                <a:hlinkClick r:id="rId3"/>
              </a:rPr>
              <a:t> 2020</a:t>
            </a:r>
            <a:endParaRPr lang="nb-NO" dirty="0"/>
          </a:p>
        </p:txBody>
      </p:sp>
      <p:sp>
        <p:nvSpPr>
          <p:cNvPr id="7" name="TextBox 6">
            <a:extLst>
              <a:ext uri="{FF2B5EF4-FFF2-40B4-BE49-F238E27FC236}">
                <a16:creationId xmlns:a16="http://schemas.microsoft.com/office/drawing/2014/main" id="{54F695A2-A32F-F364-FE0A-6054E17C1EEF}"/>
              </a:ext>
            </a:extLst>
          </p:cNvPr>
          <p:cNvSpPr txBox="1"/>
          <p:nvPr/>
        </p:nvSpPr>
        <p:spPr>
          <a:xfrm>
            <a:off x="160042" y="3254829"/>
            <a:ext cx="3149216" cy="923330"/>
          </a:xfrm>
          <a:prstGeom prst="rect">
            <a:avLst/>
          </a:prstGeom>
          <a:noFill/>
        </p:spPr>
        <p:txBody>
          <a:bodyPr wrap="square">
            <a:spAutoFit/>
          </a:bodyPr>
          <a:lstStyle/>
          <a:p>
            <a:pPr marL="285750" indent="-285750">
              <a:buFont typeface="Arial" panose="020B0604020202020204" pitchFamily="34" charset="0"/>
              <a:buChar char="•"/>
            </a:pPr>
            <a:r>
              <a:rPr lang="en-US" sz="1800" dirty="0" err="1"/>
              <a:t>iPWR</a:t>
            </a:r>
            <a:r>
              <a:rPr lang="en-US" sz="1800" dirty="0"/>
              <a:t> is the most prominent type of SMR. 	     </a:t>
            </a:r>
            <a:r>
              <a:rPr lang="en-US" i="1" dirty="0">
                <a:hlinkClick r:id="rId4"/>
              </a:rPr>
              <a:t>C. </a:t>
            </a:r>
            <a:r>
              <a:rPr lang="en-US" i="1" dirty="0" err="1">
                <a:hlinkClick r:id="rId4"/>
              </a:rPr>
              <a:t>Zeliang</a:t>
            </a:r>
            <a:r>
              <a:rPr lang="en-US" i="1" dirty="0">
                <a:hlinkClick r:id="rId4"/>
              </a:rPr>
              <a:t> et al.</a:t>
            </a:r>
            <a:r>
              <a:rPr lang="en-US" sz="1800" dirty="0"/>
              <a:t>	</a:t>
            </a:r>
          </a:p>
        </p:txBody>
      </p:sp>
    </p:spTree>
    <p:extLst>
      <p:ext uri="{BB962C8B-B14F-4D97-AF65-F5344CB8AC3E}">
        <p14:creationId xmlns:p14="http://schemas.microsoft.com/office/powerpoint/2010/main" val="1674260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7E48-1617-CB9F-E146-726DDD83807C}"/>
              </a:ext>
            </a:extLst>
          </p:cNvPr>
          <p:cNvSpPr>
            <a:spLocks noGrp="1"/>
          </p:cNvSpPr>
          <p:nvPr>
            <p:ph type="title"/>
          </p:nvPr>
        </p:nvSpPr>
        <p:spPr>
          <a:xfrm>
            <a:off x="1651954" y="227764"/>
            <a:ext cx="8888091" cy="768096"/>
          </a:xfrm>
        </p:spPr>
        <p:txBody>
          <a:bodyPr>
            <a:noAutofit/>
          </a:bodyPr>
          <a:lstStyle/>
          <a:p>
            <a:pPr algn="ctr"/>
            <a:r>
              <a:rPr lang="nb-NO" sz="2800" b="1" dirty="0">
                <a:solidFill>
                  <a:schemeClr val="tx1">
                    <a:lumMod val="75000"/>
                    <a:lumOff val="25000"/>
                  </a:schemeClr>
                </a:solidFill>
              </a:rPr>
              <a:t>Green </a:t>
            </a:r>
            <a:r>
              <a:rPr lang="nb-NO" sz="2800" b="1" dirty="0" err="1">
                <a:solidFill>
                  <a:schemeClr val="tx1">
                    <a:lumMod val="75000"/>
                    <a:lumOff val="25000"/>
                  </a:schemeClr>
                </a:solidFill>
              </a:rPr>
              <a:t>ammonia</a:t>
            </a:r>
            <a:r>
              <a:rPr lang="nb-NO" sz="2800" b="1" dirty="0">
                <a:solidFill>
                  <a:schemeClr val="tx1">
                    <a:lumMod val="75000"/>
                    <a:lumOff val="25000"/>
                  </a:schemeClr>
                </a:solidFill>
              </a:rPr>
              <a:t> </a:t>
            </a:r>
            <a:r>
              <a:rPr lang="nb-NO" sz="2800" b="1" dirty="0" err="1">
                <a:solidFill>
                  <a:schemeClr val="tx1">
                    <a:lumMod val="75000"/>
                    <a:lumOff val="25000"/>
                  </a:schemeClr>
                </a:solidFill>
              </a:rPr>
              <a:t>synthesis</a:t>
            </a:r>
            <a:endParaRPr lang="nb-NO" sz="2800" dirty="0">
              <a:solidFill>
                <a:schemeClr val="tx1">
                  <a:lumMod val="75000"/>
                  <a:lumOff val="25000"/>
                </a:schemeClr>
              </a:solidFill>
            </a:endParaRPr>
          </a:p>
        </p:txBody>
      </p:sp>
      <p:pic>
        <p:nvPicPr>
          <p:cNvPr id="6" name="Content Placeholder 5">
            <a:extLst>
              <a:ext uri="{FF2B5EF4-FFF2-40B4-BE49-F238E27FC236}">
                <a16:creationId xmlns:a16="http://schemas.microsoft.com/office/drawing/2014/main" id="{2F584A9C-2248-8AEA-48F6-01C5251F09C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10"/>
          <a:stretch>
            <a:fillRect/>
          </a:stretch>
        </p:blipFill>
        <p:spPr>
          <a:xfrm>
            <a:off x="6556291" y="1534437"/>
            <a:ext cx="5526737" cy="2894796"/>
          </a:xfrm>
          <a:prstGeom prst="rect">
            <a:avLst/>
          </a:prstGeom>
          <a:solidFill>
            <a:schemeClr val="bg1"/>
          </a:solidFill>
          <a:ln w="28575">
            <a:solidFill>
              <a:schemeClr val="tx2"/>
            </a:solidFill>
          </a:ln>
        </p:spPr>
      </p:pic>
      <p:pic>
        <p:nvPicPr>
          <p:cNvPr id="8" name="Picture 7">
            <a:extLst>
              <a:ext uri="{FF2B5EF4-FFF2-40B4-BE49-F238E27FC236}">
                <a16:creationId xmlns:a16="http://schemas.microsoft.com/office/drawing/2014/main" id="{D036F93E-AEB4-AC2C-98B1-985A92F4E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30" y="2655103"/>
            <a:ext cx="6409007" cy="3887778"/>
          </a:xfrm>
          <a:prstGeom prst="rect">
            <a:avLst/>
          </a:prstGeom>
          <a:ln w="28575">
            <a:solidFill>
              <a:schemeClr val="tx2"/>
            </a:solidFill>
          </a:ln>
        </p:spPr>
      </p:pic>
      <p:sp>
        <p:nvSpPr>
          <p:cNvPr id="10" name="TextBox 9">
            <a:extLst>
              <a:ext uri="{FF2B5EF4-FFF2-40B4-BE49-F238E27FC236}">
                <a16:creationId xmlns:a16="http://schemas.microsoft.com/office/drawing/2014/main" id="{50B4EA0A-1A0A-D01E-1749-76F9BEE83CC3}"/>
              </a:ext>
            </a:extLst>
          </p:cNvPr>
          <p:cNvSpPr txBox="1"/>
          <p:nvPr/>
        </p:nvSpPr>
        <p:spPr>
          <a:xfrm>
            <a:off x="8841545" y="4476767"/>
            <a:ext cx="1608710" cy="369332"/>
          </a:xfrm>
          <a:prstGeom prst="rect">
            <a:avLst/>
          </a:prstGeom>
          <a:noFill/>
        </p:spPr>
        <p:txBody>
          <a:bodyPr wrap="square" rtlCol="0">
            <a:spAutoFit/>
          </a:bodyPr>
          <a:lstStyle/>
          <a:p>
            <a:r>
              <a:rPr lang="nb-NO" b="1" dirty="0" err="1">
                <a:solidFill>
                  <a:schemeClr val="tx2"/>
                </a:solidFill>
              </a:rPr>
              <a:t>Haber</a:t>
            </a:r>
            <a:r>
              <a:rPr lang="nb-NO" b="1" dirty="0">
                <a:solidFill>
                  <a:schemeClr val="tx2"/>
                </a:solidFill>
              </a:rPr>
              <a:t> Bosch</a:t>
            </a:r>
          </a:p>
        </p:txBody>
      </p:sp>
      <p:sp>
        <p:nvSpPr>
          <p:cNvPr id="12" name="TextBox 11">
            <a:extLst>
              <a:ext uri="{FF2B5EF4-FFF2-40B4-BE49-F238E27FC236}">
                <a16:creationId xmlns:a16="http://schemas.microsoft.com/office/drawing/2014/main" id="{D73A377F-3A82-38FF-701E-1325894BBD5F}"/>
              </a:ext>
            </a:extLst>
          </p:cNvPr>
          <p:cNvSpPr txBox="1"/>
          <p:nvPr/>
        </p:nvSpPr>
        <p:spPr>
          <a:xfrm>
            <a:off x="1196957" y="1568854"/>
            <a:ext cx="4714484" cy="369332"/>
          </a:xfrm>
          <a:prstGeom prst="rect">
            <a:avLst/>
          </a:prstGeom>
          <a:noFill/>
        </p:spPr>
        <p:txBody>
          <a:bodyPr wrap="square" rtlCol="0">
            <a:spAutoFit/>
          </a:bodyPr>
          <a:lstStyle/>
          <a:p>
            <a:r>
              <a:rPr lang="nb-NO" b="1" dirty="0">
                <a:solidFill>
                  <a:schemeClr val="tx2"/>
                </a:solidFill>
              </a:rPr>
              <a:t>High-</a:t>
            </a:r>
            <a:r>
              <a:rPr lang="nb-NO" b="1" dirty="0" err="1">
                <a:solidFill>
                  <a:schemeClr val="tx2"/>
                </a:solidFill>
              </a:rPr>
              <a:t>Temperature</a:t>
            </a:r>
            <a:r>
              <a:rPr lang="nb-NO" b="1" dirty="0">
                <a:solidFill>
                  <a:schemeClr val="tx2"/>
                </a:solidFill>
              </a:rPr>
              <a:t> Steam </a:t>
            </a:r>
            <a:r>
              <a:rPr lang="nb-NO" b="1" dirty="0" err="1">
                <a:solidFill>
                  <a:schemeClr val="tx2"/>
                </a:solidFill>
              </a:rPr>
              <a:t>Electrolysis</a:t>
            </a:r>
            <a:endParaRPr lang="nb-NO" b="1" dirty="0">
              <a:solidFill>
                <a:schemeClr val="tx2"/>
              </a:solidFill>
            </a:endParaRPr>
          </a:p>
        </p:txBody>
      </p:sp>
      <p:pic>
        <p:nvPicPr>
          <p:cNvPr id="13" name="Picture 12">
            <a:extLst>
              <a:ext uri="{FF2B5EF4-FFF2-40B4-BE49-F238E27FC236}">
                <a16:creationId xmlns:a16="http://schemas.microsoft.com/office/drawing/2014/main" id="{3A4E657D-89BF-5344-713C-D22B78FF7E7F}"/>
              </a:ext>
            </a:extLst>
          </p:cNvPr>
          <p:cNvPicPr>
            <a:picLocks noChangeAspect="1"/>
          </p:cNvPicPr>
          <p:nvPr/>
        </p:nvPicPr>
        <p:blipFill>
          <a:blip r:embed="rId4"/>
          <a:stretch>
            <a:fillRect/>
          </a:stretch>
        </p:blipFill>
        <p:spPr>
          <a:xfrm>
            <a:off x="2274429" y="1984133"/>
            <a:ext cx="1789569" cy="510427"/>
          </a:xfrm>
          <a:prstGeom prst="rect">
            <a:avLst/>
          </a:prstGeom>
        </p:spPr>
      </p:pic>
      <p:pic>
        <p:nvPicPr>
          <p:cNvPr id="16" name="Picture 15">
            <a:extLst>
              <a:ext uri="{FF2B5EF4-FFF2-40B4-BE49-F238E27FC236}">
                <a16:creationId xmlns:a16="http://schemas.microsoft.com/office/drawing/2014/main" id="{3F1360E7-4F50-D637-3DC9-1A46157031A0}"/>
              </a:ext>
            </a:extLst>
          </p:cNvPr>
          <p:cNvPicPr>
            <a:picLocks noChangeAspect="1"/>
          </p:cNvPicPr>
          <p:nvPr/>
        </p:nvPicPr>
        <p:blipFill>
          <a:blip r:embed="rId5"/>
          <a:stretch>
            <a:fillRect/>
          </a:stretch>
        </p:blipFill>
        <p:spPr>
          <a:xfrm>
            <a:off x="8558337" y="4898221"/>
            <a:ext cx="2157093" cy="425342"/>
          </a:xfrm>
          <a:prstGeom prst="rect">
            <a:avLst/>
          </a:prstGeom>
        </p:spPr>
      </p:pic>
      <p:sp>
        <p:nvSpPr>
          <p:cNvPr id="19" name="Arc 18">
            <a:extLst>
              <a:ext uri="{FF2B5EF4-FFF2-40B4-BE49-F238E27FC236}">
                <a16:creationId xmlns:a16="http://schemas.microsoft.com/office/drawing/2014/main" id="{EE7208AA-2BAD-8EE6-9FFA-39AD0F0B642A}"/>
              </a:ext>
            </a:extLst>
          </p:cNvPr>
          <p:cNvSpPr/>
          <p:nvPr/>
        </p:nvSpPr>
        <p:spPr>
          <a:xfrm rot="7065758">
            <a:off x="6262485" y="2843783"/>
            <a:ext cx="448056" cy="429768"/>
          </a:xfrm>
          <a:prstGeom prst="arc">
            <a:avLst/>
          </a:prstGeom>
          <a:noFill/>
          <a:ln w="28575">
            <a:solidFill>
              <a:schemeClr val="tx1"/>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b-NO"/>
          </a:p>
        </p:txBody>
      </p:sp>
      <p:sp>
        <p:nvSpPr>
          <p:cNvPr id="20" name="TextBox 19">
            <a:extLst>
              <a:ext uri="{FF2B5EF4-FFF2-40B4-BE49-F238E27FC236}">
                <a16:creationId xmlns:a16="http://schemas.microsoft.com/office/drawing/2014/main" id="{38877CD8-3388-A71C-10D0-A79C31667903}"/>
              </a:ext>
            </a:extLst>
          </p:cNvPr>
          <p:cNvSpPr txBox="1"/>
          <p:nvPr/>
        </p:nvSpPr>
        <p:spPr>
          <a:xfrm>
            <a:off x="8449959" y="1174538"/>
            <a:ext cx="2263825" cy="307777"/>
          </a:xfrm>
          <a:prstGeom prst="rect">
            <a:avLst/>
          </a:prstGeom>
          <a:noFill/>
        </p:spPr>
        <p:txBody>
          <a:bodyPr wrap="none" rtlCol="0">
            <a:spAutoFit/>
          </a:bodyPr>
          <a:lstStyle/>
          <a:p>
            <a:r>
              <a:rPr lang="nb-NO" sz="1400" dirty="0"/>
              <a:t>Image: </a:t>
            </a:r>
            <a:r>
              <a:rPr lang="nb-NO" sz="1400" dirty="0">
                <a:hlinkClick r:id="rId6"/>
              </a:rPr>
              <a:t>S. </a:t>
            </a:r>
            <a:r>
              <a:rPr lang="nb-NO" sz="1400" dirty="0" err="1">
                <a:hlinkClick r:id="rId6"/>
              </a:rPr>
              <a:t>Mitsushima</a:t>
            </a:r>
            <a:r>
              <a:rPr lang="nb-NO" sz="1400" dirty="0">
                <a:hlinkClick r:id="rId6"/>
              </a:rPr>
              <a:t> et al.</a:t>
            </a:r>
            <a:endParaRPr lang="nb-NO" sz="1400" dirty="0"/>
          </a:p>
        </p:txBody>
      </p:sp>
      <p:sp>
        <p:nvSpPr>
          <p:cNvPr id="21" name="TextBox 20">
            <a:extLst>
              <a:ext uri="{FF2B5EF4-FFF2-40B4-BE49-F238E27FC236}">
                <a16:creationId xmlns:a16="http://schemas.microsoft.com/office/drawing/2014/main" id="{6DF656A9-EAA0-12E7-A7C7-A0BB34EBF36E}"/>
              </a:ext>
            </a:extLst>
          </p:cNvPr>
          <p:cNvSpPr txBox="1"/>
          <p:nvPr/>
        </p:nvSpPr>
        <p:spPr>
          <a:xfrm>
            <a:off x="2466733" y="6542881"/>
            <a:ext cx="1634871" cy="307777"/>
          </a:xfrm>
          <a:prstGeom prst="rect">
            <a:avLst/>
          </a:prstGeom>
          <a:noFill/>
        </p:spPr>
        <p:txBody>
          <a:bodyPr wrap="none" rtlCol="0">
            <a:spAutoFit/>
          </a:bodyPr>
          <a:lstStyle/>
          <a:p>
            <a:r>
              <a:rPr lang="nb-NO" sz="1400" dirty="0"/>
              <a:t>Image: </a:t>
            </a:r>
            <a:r>
              <a:rPr lang="nb-NO" sz="1400" dirty="0">
                <a:hlinkClick r:id="rId7"/>
              </a:rPr>
              <a:t>T. </a:t>
            </a:r>
            <a:r>
              <a:rPr lang="nb-NO" sz="1400" dirty="0" err="1">
                <a:hlinkClick r:id="rId7"/>
              </a:rPr>
              <a:t>Smolinka</a:t>
            </a:r>
            <a:endParaRPr lang="nb-NO" sz="1400" dirty="0"/>
          </a:p>
        </p:txBody>
      </p:sp>
    </p:spTree>
    <p:extLst>
      <p:ext uri="{BB962C8B-B14F-4D97-AF65-F5344CB8AC3E}">
        <p14:creationId xmlns:p14="http://schemas.microsoft.com/office/powerpoint/2010/main" val="4042472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D804-C84E-926B-851D-3EE5AE72121B}"/>
              </a:ext>
            </a:extLst>
          </p:cNvPr>
          <p:cNvSpPr>
            <a:spLocks noGrp="1"/>
          </p:cNvSpPr>
          <p:nvPr>
            <p:ph type="title"/>
          </p:nvPr>
        </p:nvSpPr>
        <p:spPr>
          <a:xfrm>
            <a:off x="1185967" y="89996"/>
            <a:ext cx="10515600" cy="1325563"/>
          </a:xfrm>
        </p:spPr>
        <p:txBody>
          <a:bodyPr>
            <a:normAutofit/>
          </a:bodyPr>
          <a:lstStyle/>
          <a:p>
            <a:pPr algn="ctr"/>
            <a:r>
              <a:rPr lang="nb-NO" sz="2800" b="1" dirty="0" err="1">
                <a:solidFill>
                  <a:schemeClr val="tx1">
                    <a:lumMod val="75000"/>
                    <a:lumOff val="25000"/>
                  </a:schemeClr>
                </a:solidFill>
              </a:rPr>
              <a:t>Haber</a:t>
            </a:r>
            <a:r>
              <a:rPr lang="nb-NO" sz="2800" b="1" dirty="0">
                <a:solidFill>
                  <a:schemeClr val="tx1">
                    <a:lumMod val="75000"/>
                    <a:lumOff val="25000"/>
                  </a:schemeClr>
                </a:solidFill>
              </a:rPr>
              <a:t> Bosch </a:t>
            </a:r>
            <a:r>
              <a:rPr lang="nb-NO" sz="2800" b="1" dirty="0" err="1">
                <a:solidFill>
                  <a:schemeClr val="tx1">
                    <a:lumMod val="75000"/>
                    <a:lumOff val="25000"/>
                  </a:schemeClr>
                </a:solidFill>
              </a:rPr>
              <a:t>Process</a:t>
            </a:r>
            <a:endParaRPr lang="nb-NO" sz="3600" b="1" dirty="0">
              <a:solidFill>
                <a:schemeClr val="tx1">
                  <a:lumMod val="75000"/>
                  <a:lumOff val="25000"/>
                </a:schemeClr>
              </a:solidFill>
            </a:endParaRPr>
          </a:p>
        </p:txBody>
      </p:sp>
      <p:pic>
        <p:nvPicPr>
          <p:cNvPr id="5" name="Content Placeholder 5">
            <a:extLst>
              <a:ext uri="{FF2B5EF4-FFF2-40B4-BE49-F238E27FC236}">
                <a16:creationId xmlns:a16="http://schemas.microsoft.com/office/drawing/2014/main" id="{2BA2E4F1-0828-6338-D126-8AB997DBC86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139727" y="1507059"/>
            <a:ext cx="7767727" cy="4073101"/>
          </a:xfrm>
          <a:prstGeom prst="rect">
            <a:avLst/>
          </a:prstGeom>
        </p:spPr>
      </p:pic>
      <p:sp>
        <p:nvSpPr>
          <p:cNvPr id="10" name="TextBox 9">
            <a:extLst>
              <a:ext uri="{FF2B5EF4-FFF2-40B4-BE49-F238E27FC236}">
                <a16:creationId xmlns:a16="http://schemas.microsoft.com/office/drawing/2014/main" id="{723CFD9C-DC7B-15D0-8BAB-66D949D2335A}"/>
              </a:ext>
            </a:extLst>
          </p:cNvPr>
          <p:cNvSpPr txBox="1"/>
          <p:nvPr/>
        </p:nvSpPr>
        <p:spPr>
          <a:xfrm>
            <a:off x="122567" y="1507059"/>
            <a:ext cx="3765754" cy="4278094"/>
          </a:xfrm>
          <a:prstGeom prst="rect">
            <a:avLst/>
          </a:prstGeom>
          <a:noFill/>
        </p:spPr>
        <p:txBody>
          <a:bodyPr wrap="square" rtlCol="0">
            <a:spAutoFit/>
          </a:bodyPr>
          <a:lstStyle/>
          <a:p>
            <a:endParaRPr lang="en-US" sz="2000" dirty="0"/>
          </a:p>
          <a:p>
            <a:pPr marL="285750" indent="-285750">
              <a:buFont typeface="Arial" panose="020B0604020202020204" pitchFamily="34" charset="0"/>
              <a:buChar char="•"/>
            </a:pPr>
            <a:r>
              <a:rPr lang="en-US" dirty="0"/>
              <a:t>Operates at high pressures and temperatures for process optimization</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Hydrogen from electrolysis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Nitrogen from Pressure Swing Adsorption (PSA)</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Catalytic reaction</a:t>
            </a:r>
          </a:p>
          <a:p>
            <a:pPr marL="285750" indent="-285750">
              <a:buFont typeface="Arial" panose="020B0604020202020204" pitchFamily="34" charset="0"/>
              <a:buChar char="•"/>
            </a:pPr>
            <a:endParaRPr lang="nb-NO" dirty="0"/>
          </a:p>
        </p:txBody>
      </p:sp>
      <p:sp>
        <p:nvSpPr>
          <p:cNvPr id="13" name="TextBox 12">
            <a:extLst>
              <a:ext uri="{FF2B5EF4-FFF2-40B4-BE49-F238E27FC236}">
                <a16:creationId xmlns:a16="http://schemas.microsoft.com/office/drawing/2014/main" id="{42796292-6BA5-2504-515F-8E490B80DD37}"/>
              </a:ext>
            </a:extLst>
          </p:cNvPr>
          <p:cNvSpPr txBox="1"/>
          <p:nvPr/>
        </p:nvSpPr>
        <p:spPr>
          <a:xfrm>
            <a:off x="6836229" y="3237139"/>
            <a:ext cx="947695" cy="338554"/>
          </a:xfrm>
          <a:prstGeom prst="rect">
            <a:avLst/>
          </a:prstGeom>
          <a:noFill/>
        </p:spPr>
        <p:txBody>
          <a:bodyPr wrap="none" rtlCol="0">
            <a:spAutoFit/>
          </a:bodyPr>
          <a:lstStyle/>
          <a:p>
            <a:r>
              <a:rPr lang="nb-NO" sz="1600" b="1" dirty="0" err="1">
                <a:solidFill>
                  <a:schemeClr val="tx1">
                    <a:lumMod val="75000"/>
                    <a:lumOff val="25000"/>
                  </a:schemeClr>
                </a:solidFill>
                <a:latin typeface="Arial" panose="020B0604020202020204" pitchFamily="34" charset="0"/>
                <a:cs typeface="Arial" panose="020B0604020202020204" pitchFamily="34" charset="0"/>
              </a:rPr>
              <a:t>Reactor</a:t>
            </a:r>
            <a:endParaRPr lang="nb-NO" b="1"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694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A853DEBA-6D3A-7098-F866-9D64DB829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18F4F-8FF9-9E30-6DB3-3C3085F9BAD4}"/>
              </a:ext>
            </a:extLst>
          </p:cNvPr>
          <p:cNvSpPr>
            <a:spLocks noGrp="1"/>
          </p:cNvSpPr>
          <p:nvPr>
            <p:ph type="title"/>
          </p:nvPr>
        </p:nvSpPr>
        <p:spPr>
          <a:xfrm>
            <a:off x="1613719" y="230621"/>
            <a:ext cx="8964561" cy="1186968"/>
          </a:xfrm>
        </p:spPr>
        <p:txBody>
          <a:bodyPr>
            <a:normAutofit/>
          </a:bodyPr>
          <a:lstStyle/>
          <a:p>
            <a:pPr algn="ctr"/>
            <a:r>
              <a:rPr lang="nb-NO" sz="2800" b="1" dirty="0">
                <a:solidFill>
                  <a:schemeClr val="tx1">
                    <a:lumMod val="75000"/>
                    <a:lumOff val="25000"/>
                  </a:schemeClr>
                </a:solidFill>
              </a:rPr>
              <a:t>High-</a:t>
            </a:r>
            <a:r>
              <a:rPr lang="nb-NO" sz="2800" b="1" dirty="0" err="1">
                <a:solidFill>
                  <a:schemeClr val="tx1">
                    <a:lumMod val="75000"/>
                    <a:lumOff val="25000"/>
                  </a:schemeClr>
                </a:solidFill>
              </a:rPr>
              <a:t>Temperature</a:t>
            </a:r>
            <a:r>
              <a:rPr lang="nb-NO" sz="2800" b="1" dirty="0">
                <a:solidFill>
                  <a:schemeClr val="tx1">
                    <a:lumMod val="75000"/>
                    <a:lumOff val="25000"/>
                  </a:schemeClr>
                </a:solidFill>
              </a:rPr>
              <a:t> Steam </a:t>
            </a:r>
            <a:r>
              <a:rPr lang="nb-NO" sz="2800" b="1" dirty="0" err="1">
                <a:solidFill>
                  <a:schemeClr val="tx1">
                    <a:lumMod val="75000"/>
                    <a:lumOff val="25000"/>
                  </a:schemeClr>
                </a:solidFill>
              </a:rPr>
              <a:t>Electrolysis</a:t>
            </a:r>
            <a:endParaRPr lang="nb-NO" sz="3600" b="1" dirty="0">
              <a:solidFill>
                <a:schemeClr val="tx1">
                  <a:lumMod val="75000"/>
                  <a:lumOff val="25000"/>
                </a:schemeClr>
              </a:solidFill>
            </a:endParaRPr>
          </a:p>
        </p:txBody>
      </p:sp>
      <p:pic>
        <p:nvPicPr>
          <p:cNvPr id="11" name="Picture 10">
            <a:extLst>
              <a:ext uri="{FF2B5EF4-FFF2-40B4-BE49-F238E27FC236}">
                <a16:creationId xmlns:a16="http://schemas.microsoft.com/office/drawing/2014/main" id="{E0F4B2A7-82F9-EDD7-FF79-55F60C4C1695}"/>
              </a:ext>
            </a:extLst>
          </p:cNvPr>
          <p:cNvPicPr>
            <a:picLocks noChangeAspect="1"/>
          </p:cNvPicPr>
          <p:nvPr/>
        </p:nvPicPr>
        <p:blipFill>
          <a:blip r:embed="rId2"/>
          <a:stretch>
            <a:fillRect/>
          </a:stretch>
        </p:blipFill>
        <p:spPr>
          <a:xfrm>
            <a:off x="5036821" y="1429327"/>
            <a:ext cx="7025046" cy="4886572"/>
          </a:xfrm>
          <a:prstGeom prst="rect">
            <a:avLst/>
          </a:prstGeom>
        </p:spPr>
      </p:pic>
      <p:sp>
        <p:nvSpPr>
          <p:cNvPr id="7" name="TextBox 6">
            <a:extLst>
              <a:ext uri="{FF2B5EF4-FFF2-40B4-BE49-F238E27FC236}">
                <a16:creationId xmlns:a16="http://schemas.microsoft.com/office/drawing/2014/main" id="{9BAF2C88-3794-BE24-5FE2-91BAF82F0C8B}"/>
              </a:ext>
            </a:extLst>
          </p:cNvPr>
          <p:cNvSpPr txBox="1"/>
          <p:nvPr/>
        </p:nvSpPr>
        <p:spPr>
          <a:xfrm>
            <a:off x="8041277" y="6311042"/>
            <a:ext cx="1254318" cy="276999"/>
          </a:xfrm>
          <a:prstGeom prst="rect">
            <a:avLst/>
          </a:prstGeom>
          <a:noFill/>
        </p:spPr>
        <p:txBody>
          <a:bodyPr wrap="none" rtlCol="0">
            <a:spAutoFit/>
          </a:bodyPr>
          <a:lstStyle/>
          <a:p>
            <a:r>
              <a:rPr lang="nb-NO" sz="1200" dirty="0"/>
              <a:t>Image: </a:t>
            </a:r>
            <a:r>
              <a:rPr lang="nb-NO" sz="1200" dirty="0">
                <a:hlinkClick r:id="rId3"/>
              </a:rPr>
              <a:t>INL 2010</a:t>
            </a:r>
            <a:endParaRPr lang="nb-NO" sz="1200" dirty="0"/>
          </a:p>
        </p:txBody>
      </p:sp>
      <p:sp>
        <p:nvSpPr>
          <p:cNvPr id="9" name="TextBox 8">
            <a:extLst>
              <a:ext uri="{FF2B5EF4-FFF2-40B4-BE49-F238E27FC236}">
                <a16:creationId xmlns:a16="http://schemas.microsoft.com/office/drawing/2014/main" id="{91555465-2808-D604-A5A5-490795933045}"/>
              </a:ext>
            </a:extLst>
          </p:cNvPr>
          <p:cNvSpPr txBox="1"/>
          <p:nvPr/>
        </p:nvSpPr>
        <p:spPr>
          <a:xfrm>
            <a:off x="535414" y="1902843"/>
            <a:ext cx="4352271" cy="3939540"/>
          </a:xfrm>
          <a:prstGeom prst="rect">
            <a:avLst/>
          </a:prstGeom>
          <a:noFill/>
        </p:spPr>
        <p:txBody>
          <a:bodyPr wrap="square" rtlCol="0">
            <a:spAutoFit/>
          </a:bodyPr>
          <a:lstStyle/>
          <a:p>
            <a:pPr marL="285750" indent="-285750">
              <a:buFont typeface="Arial" panose="020B0604020202020204" pitchFamily="34" charset="0"/>
              <a:buChar char="•"/>
            </a:pPr>
            <a:r>
              <a:rPr lang="en-US" dirty="0"/>
              <a:t>Replacing conventional Steam Methane Reforming with electrolysis</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Uses steam for reduced electrical input (Gibbs energy)</a:t>
            </a:r>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Solid-Oxide Electrolysis Cells operates at 500-850ºC	    	</a:t>
            </a:r>
            <a:r>
              <a:rPr lang="en-US" sz="1400" dirty="0">
                <a:hlinkClick r:id="rId4"/>
              </a:rPr>
              <a:t>Kumar et al.</a:t>
            </a:r>
            <a:endParaRPr lang="en-US" dirty="0"/>
          </a:p>
          <a:p>
            <a:pPr marL="285750" indent="-285750">
              <a:buFont typeface="Arial" panose="020B0604020202020204" pitchFamily="34" charset="0"/>
              <a:buChar char="•"/>
            </a:pPr>
            <a:endParaRPr lang="en-US" sz="2000" b="1" dirty="0"/>
          </a:p>
          <a:p>
            <a:r>
              <a:rPr lang="en-US" sz="1400" dirty="0"/>
              <a:t>        </a:t>
            </a:r>
            <a:endParaRPr lang="nb-NO" dirty="0"/>
          </a:p>
        </p:txBody>
      </p:sp>
      <p:pic>
        <p:nvPicPr>
          <p:cNvPr id="25" name="Picture 24">
            <a:extLst>
              <a:ext uri="{FF2B5EF4-FFF2-40B4-BE49-F238E27FC236}">
                <a16:creationId xmlns:a16="http://schemas.microsoft.com/office/drawing/2014/main" id="{C3C1209B-AE55-75A4-DE8B-A9534210B37F}"/>
              </a:ext>
            </a:extLst>
          </p:cNvPr>
          <p:cNvPicPr>
            <a:picLocks noChangeAspect="1"/>
          </p:cNvPicPr>
          <p:nvPr/>
        </p:nvPicPr>
        <p:blipFill>
          <a:blip r:embed="rId5"/>
          <a:stretch>
            <a:fillRect/>
          </a:stretch>
        </p:blipFill>
        <p:spPr>
          <a:xfrm>
            <a:off x="888695" y="3721449"/>
            <a:ext cx="2861933" cy="466790"/>
          </a:xfrm>
          <a:prstGeom prst="rect">
            <a:avLst/>
          </a:prstGeom>
        </p:spPr>
      </p:pic>
    </p:spTree>
    <p:extLst>
      <p:ext uri="{BB962C8B-B14F-4D97-AF65-F5344CB8AC3E}">
        <p14:creationId xmlns:p14="http://schemas.microsoft.com/office/powerpoint/2010/main" val="399173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E0CAF40A-BA06-41B6-4A4D-8AEB4EB96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7A1CE-DECD-D268-6F98-F7800BBDCF8D}"/>
              </a:ext>
            </a:extLst>
          </p:cNvPr>
          <p:cNvSpPr>
            <a:spLocks noGrp="1"/>
          </p:cNvSpPr>
          <p:nvPr>
            <p:ph type="title"/>
          </p:nvPr>
        </p:nvSpPr>
        <p:spPr>
          <a:xfrm>
            <a:off x="2269218" y="675528"/>
            <a:ext cx="7653563" cy="523568"/>
          </a:xfrm>
        </p:spPr>
        <p:txBody>
          <a:bodyPr>
            <a:noAutofit/>
          </a:bodyPr>
          <a:lstStyle/>
          <a:p>
            <a:pPr algn="ctr"/>
            <a:r>
              <a:rPr lang="nb-NO" sz="2800" b="1" dirty="0" err="1">
                <a:solidFill>
                  <a:schemeClr val="bg2">
                    <a:lumMod val="25000"/>
                  </a:schemeClr>
                </a:solidFill>
              </a:rPr>
              <a:t>Cogeneration</a:t>
            </a:r>
            <a:endParaRPr lang="nb-NO" sz="2400" b="1" dirty="0">
              <a:solidFill>
                <a:schemeClr val="bg2">
                  <a:lumMod val="25000"/>
                </a:schemeClr>
              </a:solidFill>
            </a:endParaRPr>
          </a:p>
        </p:txBody>
      </p:sp>
      <p:sp>
        <p:nvSpPr>
          <p:cNvPr id="5" name="Text Placeholder 3">
            <a:extLst>
              <a:ext uri="{FF2B5EF4-FFF2-40B4-BE49-F238E27FC236}">
                <a16:creationId xmlns:a16="http://schemas.microsoft.com/office/drawing/2014/main" id="{1CC4050A-E228-56AB-A29D-72FA74CC8801}"/>
              </a:ext>
            </a:extLst>
          </p:cNvPr>
          <p:cNvSpPr>
            <a:spLocks noGrp="1"/>
          </p:cNvSpPr>
          <p:nvPr>
            <p:ph type="body" sz="half" idx="2"/>
          </p:nvPr>
        </p:nvSpPr>
        <p:spPr>
          <a:xfrm>
            <a:off x="237785" y="1935368"/>
            <a:ext cx="4062865" cy="3811588"/>
          </a:xfrm>
        </p:spPr>
        <p:txBody>
          <a:bodyPr>
            <a:normAutofit/>
          </a:bodyPr>
          <a:lstStyle/>
          <a:p>
            <a:endParaRPr lang="en-US" sz="2000" dirty="0"/>
          </a:p>
          <a:p>
            <a:pPr marL="285750" indent="-285750">
              <a:buFont typeface="Arial" panose="020B0604020202020204" pitchFamily="34" charset="0"/>
              <a:buChar char="•"/>
            </a:pPr>
            <a:r>
              <a:rPr lang="en-US" sz="2000" dirty="0"/>
              <a:t>Cogeneration by diverting steam from the secondary steam loop.	            </a:t>
            </a:r>
            <a:r>
              <a:rPr lang="en-US" i="1" dirty="0">
                <a:hlinkClick r:id="rId2"/>
              </a:rPr>
              <a:t>IAEA 2019</a:t>
            </a:r>
            <a:endParaRPr lang="en-US" sz="2000" i="1"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Continuous production of both power and ammonia to ensure operational stability.	</a:t>
            </a:r>
            <a:r>
              <a:rPr lang="en-US" i="1" dirty="0"/>
              <a:t> </a:t>
            </a:r>
            <a:r>
              <a:rPr lang="en-US" i="1" dirty="0">
                <a:hlinkClick r:id="rId3"/>
              </a:rPr>
              <a:t>NEA 2011</a:t>
            </a:r>
            <a:endParaRPr lang="en-US" dirty="0"/>
          </a:p>
        </p:txBody>
      </p:sp>
      <p:pic>
        <p:nvPicPr>
          <p:cNvPr id="7" name="Picture 6">
            <a:extLst>
              <a:ext uri="{FF2B5EF4-FFF2-40B4-BE49-F238E27FC236}">
                <a16:creationId xmlns:a16="http://schemas.microsoft.com/office/drawing/2014/main" id="{2A82D5C2-A29C-45C5-B288-7300EF598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1393" y="1935368"/>
            <a:ext cx="7577253" cy="3376072"/>
          </a:xfrm>
          <a:prstGeom prst="rect">
            <a:avLst/>
          </a:prstGeom>
        </p:spPr>
      </p:pic>
      <p:sp>
        <p:nvSpPr>
          <p:cNvPr id="11" name="TextBox 10">
            <a:extLst>
              <a:ext uri="{FF2B5EF4-FFF2-40B4-BE49-F238E27FC236}">
                <a16:creationId xmlns:a16="http://schemas.microsoft.com/office/drawing/2014/main" id="{006E5634-911D-0457-906A-17FD2E049C0F}"/>
              </a:ext>
            </a:extLst>
          </p:cNvPr>
          <p:cNvSpPr txBox="1"/>
          <p:nvPr/>
        </p:nvSpPr>
        <p:spPr>
          <a:xfrm>
            <a:off x="7804152" y="5311440"/>
            <a:ext cx="1411027" cy="307777"/>
          </a:xfrm>
          <a:prstGeom prst="rect">
            <a:avLst/>
          </a:prstGeom>
          <a:noFill/>
        </p:spPr>
        <p:txBody>
          <a:bodyPr wrap="none" rtlCol="0">
            <a:spAutoFit/>
          </a:bodyPr>
          <a:lstStyle/>
          <a:p>
            <a:r>
              <a:rPr lang="nb-NO" sz="1400" dirty="0" err="1"/>
              <a:t>Own</a:t>
            </a:r>
            <a:r>
              <a:rPr lang="nb-NO" sz="1400" dirty="0"/>
              <a:t> </a:t>
            </a:r>
            <a:r>
              <a:rPr lang="nb-NO" sz="1400" dirty="0" err="1"/>
              <a:t>illustration</a:t>
            </a:r>
            <a:endParaRPr lang="nb-NO" sz="1600" dirty="0"/>
          </a:p>
        </p:txBody>
      </p:sp>
    </p:spTree>
    <p:extLst>
      <p:ext uri="{BB962C8B-B14F-4D97-AF65-F5344CB8AC3E}">
        <p14:creationId xmlns:p14="http://schemas.microsoft.com/office/powerpoint/2010/main" val="130519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10DB99AB-9C06-A5DF-C4A1-B5EB92074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DD039-9266-A800-B712-0C9FD7C795E8}"/>
              </a:ext>
            </a:extLst>
          </p:cNvPr>
          <p:cNvSpPr>
            <a:spLocks noGrp="1"/>
          </p:cNvSpPr>
          <p:nvPr>
            <p:ph type="title"/>
          </p:nvPr>
        </p:nvSpPr>
        <p:spPr>
          <a:xfrm>
            <a:off x="2269217" y="457813"/>
            <a:ext cx="7653563" cy="523568"/>
          </a:xfrm>
        </p:spPr>
        <p:txBody>
          <a:bodyPr>
            <a:noAutofit/>
          </a:bodyPr>
          <a:lstStyle/>
          <a:p>
            <a:pPr algn="ctr"/>
            <a:r>
              <a:rPr lang="nb-NO" sz="2800" b="1" dirty="0" err="1">
                <a:solidFill>
                  <a:schemeClr val="bg2">
                    <a:lumMod val="25000"/>
                  </a:schemeClr>
                </a:solidFill>
              </a:rPr>
              <a:t>Cogeneration</a:t>
            </a:r>
            <a:r>
              <a:rPr lang="nb-NO" sz="2800" b="1" dirty="0">
                <a:solidFill>
                  <a:schemeClr val="bg2">
                    <a:lumMod val="25000"/>
                  </a:schemeClr>
                </a:solidFill>
              </a:rPr>
              <a:t> </a:t>
            </a:r>
            <a:r>
              <a:rPr lang="nb-NO" sz="2800" b="1" dirty="0" err="1">
                <a:solidFill>
                  <a:schemeClr val="bg2">
                    <a:lumMod val="25000"/>
                  </a:schemeClr>
                </a:solidFill>
              </a:rPr>
              <a:t>efficiency</a:t>
            </a:r>
            <a:endParaRPr lang="nb-NO" sz="2400" b="1" dirty="0">
              <a:solidFill>
                <a:schemeClr val="bg2">
                  <a:lumMod val="25000"/>
                </a:schemeClr>
              </a:solidFill>
            </a:endParaRPr>
          </a:p>
        </p:txBody>
      </p:sp>
      <p:pic>
        <p:nvPicPr>
          <p:cNvPr id="6" name="Picture 5">
            <a:extLst>
              <a:ext uri="{FF2B5EF4-FFF2-40B4-BE49-F238E27FC236}">
                <a16:creationId xmlns:a16="http://schemas.microsoft.com/office/drawing/2014/main" id="{6E7483E9-4960-F736-2E06-CB89B58E5DF8}"/>
              </a:ext>
            </a:extLst>
          </p:cNvPr>
          <p:cNvPicPr>
            <a:picLocks noChangeAspect="1"/>
          </p:cNvPicPr>
          <p:nvPr/>
        </p:nvPicPr>
        <p:blipFill>
          <a:blip r:embed="rId2"/>
          <a:stretch>
            <a:fillRect/>
          </a:stretch>
        </p:blipFill>
        <p:spPr>
          <a:xfrm>
            <a:off x="2372627" y="2757898"/>
            <a:ext cx="7446745" cy="1342203"/>
          </a:xfrm>
          <a:prstGeom prst="rect">
            <a:avLst/>
          </a:prstGeom>
        </p:spPr>
      </p:pic>
    </p:spTree>
    <p:extLst>
      <p:ext uri="{BB962C8B-B14F-4D97-AF65-F5344CB8AC3E}">
        <p14:creationId xmlns:p14="http://schemas.microsoft.com/office/powerpoint/2010/main" val="61351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CE09A200-4838-4284-BD1E-19701CABB5FE}"/>
              </a:ext>
            </a:extLst>
          </p:cNvPr>
          <p:cNvSpPr>
            <a:spLocks noGrp="1"/>
          </p:cNvSpPr>
          <p:nvPr>
            <p:ph type="title"/>
          </p:nvPr>
        </p:nvSpPr>
        <p:spPr>
          <a:xfrm>
            <a:off x="1193083" y="481782"/>
            <a:ext cx="10625291" cy="1127760"/>
          </a:xfrm>
        </p:spPr>
        <p:txBody>
          <a:bodyPr rtlCol="0" anchor="b">
            <a:normAutofit/>
          </a:bodyPr>
          <a:lstStyle/>
          <a:p>
            <a:r>
              <a:rPr lang="nb-NO" sz="3600" b="1" dirty="0" err="1">
                <a:solidFill>
                  <a:schemeClr val="accent1">
                    <a:lumMod val="75000"/>
                  </a:schemeClr>
                </a:solidFill>
              </a:rPr>
              <a:t>Cogeneration</a:t>
            </a:r>
            <a:r>
              <a:rPr lang="nb-NO" sz="3600" b="1" dirty="0">
                <a:solidFill>
                  <a:schemeClr val="accent1">
                    <a:lumMod val="75000"/>
                  </a:schemeClr>
                </a:solidFill>
              </a:rPr>
              <a:t> </a:t>
            </a:r>
            <a:r>
              <a:rPr lang="nb-NO" sz="3600" b="1" dirty="0" err="1">
                <a:solidFill>
                  <a:schemeClr val="accent1">
                    <a:lumMod val="75000"/>
                  </a:schemeClr>
                </a:solidFill>
              </a:rPr>
              <a:t>of</a:t>
            </a:r>
            <a:r>
              <a:rPr lang="nb-NO" sz="3600" b="1" dirty="0">
                <a:solidFill>
                  <a:schemeClr val="accent1">
                    <a:lumMod val="75000"/>
                  </a:schemeClr>
                </a:solidFill>
              </a:rPr>
              <a:t> </a:t>
            </a:r>
            <a:r>
              <a:rPr lang="nb-NO" sz="3600" b="1" dirty="0" err="1">
                <a:solidFill>
                  <a:schemeClr val="accent1">
                    <a:lumMod val="75000"/>
                  </a:schemeClr>
                </a:solidFill>
              </a:rPr>
              <a:t>power</a:t>
            </a:r>
            <a:r>
              <a:rPr lang="nb-NO" sz="3600" b="1" dirty="0">
                <a:solidFill>
                  <a:schemeClr val="accent1">
                    <a:lumMod val="75000"/>
                  </a:schemeClr>
                </a:solidFill>
              </a:rPr>
              <a:t> &amp; green </a:t>
            </a:r>
            <a:r>
              <a:rPr lang="nb-NO" sz="3600" b="1" dirty="0" err="1">
                <a:solidFill>
                  <a:schemeClr val="accent1">
                    <a:lumMod val="75000"/>
                  </a:schemeClr>
                </a:solidFill>
              </a:rPr>
              <a:t>ammonia</a:t>
            </a:r>
            <a:r>
              <a:rPr lang="nb-NO" sz="3600" b="1" dirty="0">
                <a:solidFill>
                  <a:schemeClr val="accent1">
                    <a:lumMod val="75000"/>
                  </a:schemeClr>
                </a:solidFill>
              </a:rPr>
              <a:t> diagram </a:t>
            </a:r>
          </a:p>
        </p:txBody>
      </p:sp>
      <p:pic>
        <p:nvPicPr>
          <p:cNvPr id="2054" name="Picture 6" descr="High-temperature electrolysis for large-scale hydrogen and syngas  production from nuclear energy – summary of system simulation and economic  analyses - ScienceDirect">
            <a:extLst>
              <a:ext uri="{FF2B5EF4-FFF2-40B4-BE49-F238E27FC236}">
                <a16:creationId xmlns:a16="http://schemas.microsoft.com/office/drawing/2014/main" id="{C98068DC-E640-7449-71B6-C4118F9B1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02337"/>
            <a:ext cx="6996573" cy="50556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0C39D64-4FCB-5B34-07BE-10ADF98855B3}"/>
              </a:ext>
            </a:extLst>
          </p:cNvPr>
          <p:cNvSpPr txBox="1"/>
          <p:nvPr/>
        </p:nvSpPr>
        <p:spPr>
          <a:xfrm>
            <a:off x="0" y="4379328"/>
            <a:ext cx="1378578" cy="738664"/>
          </a:xfrm>
          <a:prstGeom prst="rect">
            <a:avLst/>
          </a:prstGeom>
          <a:solidFill>
            <a:schemeClr val="bg1"/>
          </a:solidFill>
        </p:spPr>
        <p:txBody>
          <a:bodyPr wrap="square" rtlCol="0">
            <a:spAutoFit/>
          </a:bodyPr>
          <a:lstStyle/>
          <a:p>
            <a:r>
              <a:rPr lang="nb-NO" sz="1400" b="1" dirty="0"/>
              <a:t>Small Modular </a:t>
            </a:r>
            <a:r>
              <a:rPr lang="nb-NO" sz="1400" b="1" dirty="0" err="1"/>
              <a:t>Pressurized</a:t>
            </a:r>
            <a:r>
              <a:rPr lang="nb-NO" sz="1400" b="1" dirty="0"/>
              <a:t> Water </a:t>
            </a:r>
            <a:r>
              <a:rPr lang="nb-NO" sz="1400" b="1" dirty="0" err="1"/>
              <a:t>Reactor</a:t>
            </a:r>
            <a:endParaRPr lang="nb-NO" sz="1600" b="1" dirty="0"/>
          </a:p>
        </p:txBody>
      </p:sp>
      <p:sp>
        <p:nvSpPr>
          <p:cNvPr id="8" name="Rectangle 7">
            <a:extLst>
              <a:ext uri="{FF2B5EF4-FFF2-40B4-BE49-F238E27FC236}">
                <a16:creationId xmlns:a16="http://schemas.microsoft.com/office/drawing/2014/main" id="{B20831C7-2945-5F5B-0443-E7AEC31B0539}"/>
              </a:ext>
            </a:extLst>
          </p:cNvPr>
          <p:cNvSpPr/>
          <p:nvPr/>
        </p:nvSpPr>
        <p:spPr>
          <a:xfrm>
            <a:off x="3677266" y="1691146"/>
            <a:ext cx="3519948" cy="488025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058" name="Picture 10" descr="A diagram is shown that is composed of three main sections. The first section shows an intake pipe labeled with blue arrows and the terms, “N subscript 2, H subscript 2, feed gases,” and “Compressor.” This pipe leads to a large chamber with a turbine in the top section and a coil in the bottom section. From top to bottom, the sections of this chamber are labeled, “Heat exchanger,” “Catalyst chamber 400 to 500 degrees C,” “Catalyst,” “Heater,” and “Preheated feed gases.” One pipe leads from the top of this chamber with red arrows and is labeled, “N H subscript 3 and unreacted N subscript 2, H subscript 2,” while another pipe leads to the bottom of the chamber and reads, “Compressor,” and has orange arrows going through it. These two pipes are connected to a square container that is labeled, “Heat exchanger,” and has red arrows going into it from the upper pipe, orange arrows going away from it to the lower pipe and into a third system. The pipes leading into and out of the heat exchanger are labeled, “Recycled N subscript 2, H subscript 2.” The third system shows a container with an interior zig-zag-shaped pipe that sits on a base that contains a curled pipe on a storage tank. From the top of the image to the bottom are the terms, “N H subscript 3 and unreacted N subscript 2, H subscript 2,” “Condenser,” “Cold water in,” “Refrigeration,” “N H subscript 3 ( l ),” and “Storage” Blue arrows lead away from the base of this system and into the second system while other blue arrows lead into the system from the right side of the diagram and back out of the same chamber.">
            <a:extLst>
              <a:ext uri="{FF2B5EF4-FFF2-40B4-BE49-F238E27FC236}">
                <a16:creationId xmlns:a16="http://schemas.microsoft.com/office/drawing/2014/main" id="{B64AD4CA-9B00-9D49-946B-70AB1E8D24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73" r="6668"/>
          <a:stretch>
            <a:fillRect/>
          </a:stretch>
        </p:blipFill>
        <p:spPr bwMode="auto">
          <a:xfrm>
            <a:off x="7295536" y="2360572"/>
            <a:ext cx="4896464" cy="354139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E6BDD8C4-A946-5E03-F5A3-06E5F3B7467E}"/>
              </a:ext>
            </a:extLst>
          </p:cNvPr>
          <p:cNvSpPr/>
          <p:nvPr/>
        </p:nvSpPr>
        <p:spPr>
          <a:xfrm>
            <a:off x="7197216" y="1691146"/>
            <a:ext cx="4994784" cy="488025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TextBox 10">
            <a:extLst>
              <a:ext uri="{FF2B5EF4-FFF2-40B4-BE49-F238E27FC236}">
                <a16:creationId xmlns:a16="http://schemas.microsoft.com/office/drawing/2014/main" id="{72F62F48-005A-748B-F387-DF7D327A4C93}"/>
              </a:ext>
            </a:extLst>
          </p:cNvPr>
          <p:cNvSpPr txBox="1"/>
          <p:nvPr/>
        </p:nvSpPr>
        <p:spPr>
          <a:xfrm>
            <a:off x="7203204" y="1730092"/>
            <a:ext cx="3484480" cy="369332"/>
          </a:xfrm>
          <a:prstGeom prst="rect">
            <a:avLst/>
          </a:prstGeom>
          <a:noFill/>
        </p:spPr>
        <p:txBody>
          <a:bodyPr wrap="none" rtlCol="0">
            <a:spAutoFit/>
          </a:bodyPr>
          <a:lstStyle/>
          <a:p>
            <a:r>
              <a:rPr lang="nb-NO" b="1" dirty="0" err="1">
                <a:solidFill>
                  <a:schemeClr val="tx2"/>
                </a:solidFill>
              </a:rPr>
              <a:t>Haber</a:t>
            </a:r>
            <a:r>
              <a:rPr lang="nb-NO" b="1" dirty="0">
                <a:solidFill>
                  <a:schemeClr val="tx2"/>
                </a:solidFill>
              </a:rPr>
              <a:t> Bosch (</a:t>
            </a:r>
            <a:r>
              <a:rPr lang="nb-NO" b="1" dirty="0" err="1">
                <a:solidFill>
                  <a:schemeClr val="tx2"/>
                </a:solidFill>
              </a:rPr>
              <a:t>Ammonia</a:t>
            </a:r>
            <a:r>
              <a:rPr lang="nb-NO" b="1" dirty="0">
                <a:solidFill>
                  <a:schemeClr val="tx2"/>
                </a:solidFill>
              </a:rPr>
              <a:t> </a:t>
            </a:r>
            <a:r>
              <a:rPr lang="nb-NO" b="1" dirty="0" err="1">
                <a:solidFill>
                  <a:schemeClr val="tx2"/>
                </a:solidFill>
              </a:rPr>
              <a:t>synthesis</a:t>
            </a:r>
            <a:r>
              <a:rPr lang="nb-NO" b="1" dirty="0">
                <a:solidFill>
                  <a:schemeClr val="tx2"/>
                </a:solidFill>
              </a:rPr>
              <a:t>)</a:t>
            </a:r>
          </a:p>
        </p:txBody>
      </p:sp>
      <p:sp>
        <p:nvSpPr>
          <p:cNvPr id="12" name="TextBox 11">
            <a:extLst>
              <a:ext uri="{FF2B5EF4-FFF2-40B4-BE49-F238E27FC236}">
                <a16:creationId xmlns:a16="http://schemas.microsoft.com/office/drawing/2014/main" id="{5A4EECA0-04AF-5865-E327-9F5EE27DDB16}"/>
              </a:ext>
            </a:extLst>
          </p:cNvPr>
          <p:cNvSpPr txBox="1"/>
          <p:nvPr/>
        </p:nvSpPr>
        <p:spPr>
          <a:xfrm>
            <a:off x="3677264" y="1730092"/>
            <a:ext cx="1249573" cy="369332"/>
          </a:xfrm>
          <a:prstGeom prst="rect">
            <a:avLst/>
          </a:prstGeom>
          <a:noFill/>
        </p:spPr>
        <p:txBody>
          <a:bodyPr wrap="none" rtlCol="0">
            <a:spAutoFit/>
          </a:bodyPr>
          <a:lstStyle/>
          <a:p>
            <a:r>
              <a:rPr lang="nb-NO" b="1" dirty="0" err="1">
                <a:solidFill>
                  <a:schemeClr val="tx2"/>
                </a:solidFill>
              </a:rPr>
              <a:t>Electrolysis</a:t>
            </a:r>
            <a:endParaRPr lang="nb-NO" b="1" dirty="0">
              <a:solidFill>
                <a:schemeClr val="tx2"/>
              </a:solidFill>
            </a:endParaRPr>
          </a:p>
        </p:txBody>
      </p:sp>
      <p:cxnSp>
        <p:nvCxnSpPr>
          <p:cNvPr id="14" name="Straight Arrow Connector 13">
            <a:extLst>
              <a:ext uri="{FF2B5EF4-FFF2-40B4-BE49-F238E27FC236}">
                <a16:creationId xmlns:a16="http://schemas.microsoft.com/office/drawing/2014/main" id="{C7655F5F-F627-BBD4-A6E6-C6802BA5DDE1}"/>
              </a:ext>
            </a:extLst>
          </p:cNvPr>
          <p:cNvCxnSpPr>
            <a:cxnSpLocks/>
          </p:cNvCxnSpPr>
          <p:nvPr/>
        </p:nvCxnSpPr>
        <p:spPr>
          <a:xfrm>
            <a:off x="6996573" y="2360572"/>
            <a:ext cx="800408" cy="7070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5CCDC2D-08A2-42C2-51BF-E69DED740789}"/>
              </a:ext>
            </a:extLst>
          </p:cNvPr>
          <p:cNvSpPr txBox="1"/>
          <p:nvPr/>
        </p:nvSpPr>
        <p:spPr>
          <a:xfrm>
            <a:off x="2045111" y="2815887"/>
            <a:ext cx="1592824" cy="307777"/>
          </a:xfrm>
          <a:prstGeom prst="rect">
            <a:avLst/>
          </a:prstGeom>
          <a:solidFill>
            <a:schemeClr val="bg1"/>
          </a:solidFill>
        </p:spPr>
        <p:txBody>
          <a:bodyPr wrap="square" rtlCol="0">
            <a:spAutoFit/>
          </a:bodyPr>
          <a:lstStyle/>
          <a:p>
            <a:r>
              <a:rPr lang="nb-NO" sz="1400" b="1" dirty="0">
                <a:solidFill>
                  <a:srgbClr val="0070C0"/>
                </a:solidFill>
              </a:rPr>
              <a:t>Steam </a:t>
            </a:r>
            <a:r>
              <a:rPr lang="nb-NO" sz="1400" b="1" dirty="0" err="1">
                <a:solidFill>
                  <a:srgbClr val="0070C0"/>
                </a:solidFill>
              </a:rPr>
              <a:t>extraction</a:t>
            </a:r>
            <a:endParaRPr lang="nb-NO" sz="1400" b="1" dirty="0">
              <a:solidFill>
                <a:srgbClr val="0070C0"/>
              </a:solidFill>
            </a:endParaRPr>
          </a:p>
        </p:txBody>
      </p:sp>
      <p:sp>
        <p:nvSpPr>
          <p:cNvPr id="20" name="TextBox 19">
            <a:extLst>
              <a:ext uri="{FF2B5EF4-FFF2-40B4-BE49-F238E27FC236}">
                <a16:creationId xmlns:a16="http://schemas.microsoft.com/office/drawing/2014/main" id="{AC53084B-D211-A454-70C1-6A52BEF709AD}"/>
              </a:ext>
            </a:extLst>
          </p:cNvPr>
          <p:cNvSpPr txBox="1"/>
          <p:nvPr/>
        </p:nvSpPr>
        <p:spPr>
          <a:xfrm>
            <a:off x="1378578" y="3285000"/>
            <a:ext cx="432000" cy="144000"/>
          </a:xfrm>
          <a:prstGeom prst="rect">
            <a:avLst/>
          </a:prstGeom>
          <a:solidFill>
            <a:schemeClr val="bg1"/>
          </a:solidFill>
        </p:spPr>
        <p:txBody>
          <a:bodyPr wrap="square" rtlCol="0">
            <a:spAutoFit/>
          </a:bodyPr>
          <a:lstStyle/>
          <a:p>
            <a:r>
              <a:rPr lang="nb-NO" sz="700" dirty="0"/>
              <a:t>Steam</a:t>
            </a:r>
            <a:endParaRPr lang="nb-NO" sz="800" dirty="0"/>
          </a:p>
        </p:txBody>
      </p:sp>
      <p:sp>
        <p:nvSpPr>
          <p:cNvPr id="2" name="TextBox 1">
            <a:extLst>
              <a:ext uri="{FF2B5EF4-FFF2-40B4-BE49-F238E27FC236}">
                <a16:creationId xmlns:a16="http://schemas.microsoft.com/office/drawing/2014/main" id="{BABDBFD4-8BA0-9FBD-8B7A-1841439C4FCF}"/>
              </a:ext>
            </a:extLst>
          </p:cNvPr>
          <p:cNvSpPr txBox="1"/>
          <p:nvPr/>
        </p:nvSpPr>
        <p:spPr>
          <a:xfrm>
            <a:off x="69135" y="5648067"/>
            <a:ext cx="1741443" cy="1200329"/>
          </a:xfrm>
          <a:prstGeom prst="rect">
            <a:avLst/>
          </a:prstGeom>
          <a:noFill/>
        </p:spPr>
        <p:txBody>
          <a:bodyPr wrap="square" rtlCol="0">
            <a:spAutoFit/>
          </a:bodyPr>
          <a:lstStyle/>
          <a:p>
            <a:r>
              <a:rPr lang="nb-NO" b="1" dirty="0" err="1"/>
              <a:t>Reactors</a:t>
            </a:r>
            <a:r>
              <a:rPr lang="nb-NO" b="1" dirty="0"/>
              <a:t> </a:t>
            </a:r>
            <a:r>
              <a:rPr lang="nb-NO" b="1" dirty="0" err="1"/>
              <a:t>supply</a:t>
            </a:r>
            <a:r>
              <a:rPr lang="nb-NO" b="1" dirty="0"/>
              <a:t> </a:t>
            </a:r>
            <a:r>
              <a:rPr lang="nb-NO" b="1" dirty="0" err="1"/>
              <a:t>power</a:t>
            </a:r>
            <a:r>
              <a:rPr lang="nb-NO" b="1" dirty="0"/>
              <a:t> to </a:t>
            </a:r>
            <a:r>
              <a:rPr lang="nb-NO" b="1" dirty="0" err="1"/>
              <a:t>entire</a:t>
            </a:r>
            <a:r>
              <a:rPr lang="nb-NO" b="1" dirty="0"/>
              <a:t> system</a:t>
            </a:r>
          </a:p>
        </p:txBody>
      </p:sp>
    </p:spTree>
    <p:extLst>
      <p:ext uri="{BB962C8B-B14F-4D97-AF65-F5344CB8AC3E}">
        <p14:creationId xmlns:p14="http://schemas.microsoft.com/office/powerpoint/2010/main" val="796331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F6470-B3D1-0BA4-879B-56E6E71EA9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D55CD3-9790-3D63-4F24-F66743712874}"/>
              </a:ext>
            </a:extLst>
          </p:cNvPr>
          <p:cNvSpPr>
            <a:spLocks noGrp="1"/>
          </p:cNvSpPr>
          <p:nvPr>
            <p:ph type="title"/>
          </p:nvPr>
        </p:nvSpPr>
        <p:spPr>
          <a:xfrm>
            <a:off x="1092200" y="1885125"/>
            <a:ext cx="3068833" cy="2093975"/>
          </a:xfrm>
        </p:spPr>
        <p:txBody>
          <a:bodyPr anchor="ctr">
            <a:normAutofit/>
          </a:bodyPr>
          <a:lstStyle/>
          <a:p>
            <a:r>
              <a:rPr lang="nb-NO" sz="3400" dirty="0" err="1"/>
              <a:t>Theory</a:t>
            </a:r>
            <a:r>
              <a:rPr lang="nb-NO" sz="3400" dirty="0"/>
              <a:t> </a:t>
            </a:r>
            <a:r>
              <a:rPr lang="nb-NO" sz="3400" dirty="0" err="1"/>
              <a:t>on</a:t>
            </a:r>
            <a:r>
              <a:rPr lang="nb-NO" sz="3400" dirty="0"/>
              <a:t> </a:t>
            </a:r>
            <a:r>
              <a:rPr lang="nb-NO" sz="3400" dirty="0" err="1"/>
              <a:t>techno-economic</a:t>
            </a:r>
            <a:r>
              <a:rPr lang="nb-NO" sz="3400" dirty="0"/>
              <a:t> </a:t>
            </a:r>
            <a:r>
              <a:rPr lang="nb-NO" sz="3400" dirty="0" err="1"/>
              <a:t>analysis</a:t>
            </a:r>
            <a:endParaRPr lang="nb-NO" sz="3400" dirty="0"/>
          </a:p>
        </p:txBody>
      </p:sp>
    </p:spTree>
    <p:extLst>
      <p:ext uri="{BB962C8B-B14F-4D97-AF65-F5344CB8AC3E}">
        <p14:creationId xmlns:p14="http://schemas.microsoft.com/office/powerpoint/2010/main" val="1772993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45A495F-F12D-070A-5B0E-94F97A8F6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4B042-3F60-A8F0-5BCE-0928B0CF8A48}"/>
              </a:ext>
            </a:extLst>
          </p:cNvPr>
          <p:cNvSpPr>
            <a:spLocks noGrp="1"/>
          </p:cNvSpPr>
          <p:nvPr>
            <p:ph type="title"/>
          </p:nvPr>
        </p:nvSpPr>
        <p:spPr>
          <a:xfrm>
            <a:off x="2590800" y="825719"/>
            <a:ext cx="7010399" cy="962230"/>
          </a:xfrm>
        </p:spPr>
        <p:txBody>
          <a:bodyPr>
            <a:normAutofit/>
          </a:bodyPr>
          <a:lstStyle/>
          <a:p>
            <a:pPr algn="ctr"/>
            <a:r>
              <a:rPr lang="nb-NO" sz="2800" b="1" dirty="0">
                <a:solidFill>
                  <a:schemeClr val="tx1">
                    <a:lumMod val="75000"/>
                    <a:lumOff val="25000"/>
                  </a:schemeClr>
                </a:solidFill>
              </a:rPr>
              <a:t>Total </a:t>
            </a:r>
            <a:r>
              <a:rPr lang="nb-NO" sz="2800" b="1" dirty="0" err="1">
                <a:solidFill>
                  <a:schemeClr val="tx1">
                    <a:lumMod val="75000"/>
                    <a:lumOff val="25000"/>
                  </a:schemeClr>
                </a:solidFill>
              </a:rPr>
              <a:t>revenues</a:t>
            </a:r>
            <a:r>
              <a:rPr lang="nb-NO" sz="2800" b="1" dirty="0">
                <a:solidFill>
                  <a:schemeClr val="tx1">
                    <a:lumMod val="75000"/>
                    <a:lumOff val="25000"/>
                  </a:schemeClr>
                </a:solidFill>
              </a:rPr>
              <a:t> from </a:t>
            </a:r>
            <a:r>
              <a:rPr lang="nb-NO" sz="2800" b="1" dirty="0" err="1">
                <a:solidFill>
                  <a:schemeClr val="tx1">
                    <a:lumMod val="75000"/>
                    <a:lumOff val="25000"/>
                  </a:schemeClr>
                </a:solidFill>
              </a:rPr>
              <a:t>power</a:t>
            </a:r>
            <a:r>
              <a:rPr lang="nb-NO" sz="2800" b="1" dirty="0">
                <a:solidFill>
                  <a:schemeClr val="tx1">
                    <a:lumMod val="75000"/>
                    <a:lumOff val="25000"/>
                  </a:schemeClr>
                </a:solidFill>
              </a:rPr>
              <a:t> and </a:t>
            </a:r>
            <a:r>
              <a:rPr lang="nb-NO" sz="2800" b="1" dirty="0" err="1">
                <a:solidFill>
                  <a:schemeClr val="tx1">
                    <a:lumMod val="75000"/>
                    <a:lumOff val="25000"/>
                  </a:schemeClr>
                </a:solidFill>
              </a:rPr>
              <a:t>ammonia</a:t>
            </a:r>
            <a:endParaRPr lang="nb-NO" sz="2800" b="1" dirty="0">
              <a:solidFill>
                <a:schemeClr val="tx1">
                  <a:lumMod val="75000"/>
                  <a:lumOff val="25000"/>
                </a:schemeClr>
              </a:solidFill>
            </a:endParaRPr>
          </a:p>
        </p:txBody>
      </p:sp>
      <p:pic>
        <p:nvPicPr>
          <p:cNvPr id="4" name="Picture 3">
            <a:extLst>
              <a:ext uri="{FF2B5EF4-FFF2-40B4-BE49-F238E27FC236}">
                <a16:creationId xmlns:a16="http://schemas.microsoft.com/office/drawing/2014/main" id="{6BFBCC42-A797-D043-867A-1373AA1051B9}"/>
              </a:ext>
            </a:extLst>
          </p:cNvPr>
          <p:cNvPicPr>
            <a:picLocks noChangeAspect="1"/>
          </p:cNvPicPr>
          <p:nvPr/>
        </p:nvPicPr>
        <p:blipFill>
          <a:blip r:embed="rId2"/>
          <a:stretch>
            <a:fillRect/>
          </a:stretch>
        </p:blipFill>
        <p:spPr>
          <a:xfrm>
            <a:off x="917688" y="2864201"/>
            <a:ext cx="10356623" cy="962229"/>
          </a:xfrm>
          <a:prstGeom prst="rect">
            <a:avLst/>
          </a:prstGeom>
        </p:spPr>
      </p:pic>
    </p:spTree>
    <p:extLst>
      <p:ext uri="{BB962C8B-B14F-4D97-AF65-F5344CB8AC3E}">
        <p14:creationId xmlns:p14="http://schemas.microsoft.com/office/powerpoint/2010/main" val="807113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9105C-FE35-1A9F-9F12-98830602D839}"/>
              </a:ext>
            </a:extLst>
          </p:cNvPr>
          <p:cNvSpPr>
            <a:spLocks noGrp="1"/>
          </p:cNvSpPr>
          <p:nvPr>
            <p:ph type="title"/>
          </p:nvPr>
        </p:nvSpPr>
        <p:spPr>
          <a:xfrm>
            <a:off x="2590799" y="237891"/>
            <a:ext cx="7010399" cy="962230"/>
          </a:xfrm>
        </p:spPr>
        <p:txBody>
          <a:bodyPr>
            <a:normAutofit/>
          </a:bodyPr>
          <a:lstStyle/>
          <a:p>
            <a:pPr algn="ctr"/>
            <a:r>
              <a:rPr lang="nb-NO" sz="2800" b="1" dirty="0">
                <a:solidFill>
                  <a:schemeClr val="tx1">
                    <a:lumMod val="75000"/>
                    <a:lumOff val="25000"/>
                  </a:schemeClr>
                </a:solidFill>
              </a:rPr>
              <a:t>Power </a:t>
            </a:r>
            <a:r>
              <a:rPr lang="nb-NO" sz="2800" b="1" dirty="0" err="1">
                <a:solidFill>
                  <a:schemeClr val="tx1">
                    <a:lumMod val="75000"/>
                    <a:lumOff val="25000"/>
                  </a:schemeClr>
                </a:solidFill>
              </a:rPr>
              <a:t>prices</a:t>
            </a:r>
            <a:r>
              <a:rPr lang="nb-NO" sz="2800" b="1" dirty="0">
                <a:solidFill>
                  <a:schemeClr val="tx1">
                    <a:lumMod val="75000"/>
                    <a:lumOff val="25000"/>
                  </a:schemeClr>
                </a:solidFill>
              </a:rPr>
              <a:t> in Europe</a:t>
            </a:r>
          </a:p>
        </p:txBody>
      </p:sp>
      <p:pic>
        <p:nvPicPr>
          <p:cNvPr id="26" name="Picture 25">
            <a:extLst>
              <a:ext uri="{FF2B5EF4-FFF2-40B4-BE49-F238E27FC236}">
                <a16:creationId xmlns:a16="http://schemas.microsoft.com/office/drawing/2014/main" id="{3198B421-ADD7-B221-A46D-B9EF8E5BF95A}"/>
              </a:ext>
            </a:extLst>
          </p:cNvPr>
          <p:cNvPicPr>
            <a:picLocks noChangeAspect="1"/>
          </p:cNvPicPr>
          <p:nvPr/>
        </p:nvPicPr>
        <p:blipFill>
          <a:blip r:embed="rId2"/>
          <a:stretch>
            <a:fillRect/>
          </a:stretch>
        </p:blipFill>
        <p:spPr>
          <a:xfrm>
            <a:off x="1938495" y="1306285"/>
            <a:ext cx="8315009" cy="4736881"/>
          </a:xfrm>
          <a:prstGeom prst="rect">
            <a:avLst/>
          </a:prstGeom>
        </p:spPr>
      </p:pic>
      <p:sp>
        <p:nvSpPr>
          <p:cNvPr id="3" name="TextBox 2">
            <a:extLst>
              <a:ext uri="{FF2B5EF4-FFF2-40B4-BE49-F238E27FC236}">
                <a16:creationId xmlns:a16="http://schemas.microsoft.com/office/drawing/2014/main" id="{29D44DB3-176D-927B-15F7-20D5AD2B0028}"/>
              </a:ext>
            </a:extLst>
          </p:cNvPr>
          <p:cNvSpPr txBox="1"/>
          <p:nvPr/>
        </p:nvSpPr>
        <p:spPr>
          <a:xfrm>
            <a:off x="5617028" y="6043166"/>
            <a:ext cx="1114408" cy="307777"/>
          </a:xfrm>
          <a:prstGeom prst="rect">
            <a:avLst/>
          </a:prstGeom>
          <a:noFill/>
        </p:spPr>
        <p:txBody>
          <a:bodyPr wrap="none" rtlCol="0">
            <a:spAutoFit/>
          </a:bodyPr>
          <a:lstStyle/>
          <a:p>
            <a:r>
              <a:rPr lang="nb-NO" sz="1400" dirty="0" err="1">
                <a:hlinkClick r:id="rId3"/>
              </a:rPr>
              <a:t>Ember</a:t>
            </a:r>
            <a:r>
              <a:rPr lang="nb-NO" sz="1400" dirty="0">
                <a:hlinkClick r:id="rId3"/>
              </a:rPr>
              <a:t> 2025</a:t>
            </a:r>
            <a:endParaRPr lang="nb-NO" dirty="0"/>
          </a:p>
        </p:txBody>
      </p:sp>
    </p:spTree>
    <p:extLst>
      <p:ext uri="{BB962C8B-B14F-4D97-AF65-F5344CB8AC3E}">
        <p14:creationId xmlns:p14="http://schemas.microsoft.com/office/powerpoint/2010/main" val="1439528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AF3C3A0-9BD4-7A3D-1326-FDC7BE1F0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2EADE-165F-73CE-52E5-DDEAC35096D2}"/>
              </a:ext>
            </a:extLst>
          </p:cNvPr>
          <p:cNvSpPr>
            <a:spLocks noGrp="1"/>
          </p:cNvSpPr>
          <p:nvPr>
            <p:ph type="title"/>
          </p:nvPr>
        </p:nvSpPr>
        <p:spPr>
          <a:xfrm>
            <a:off x="2590800" y="206105"/>
            <a:ext cx="7010399" cy="962230"/>
          </a:xfrm>
        </p:spPr>
        <p:txBody>
          <a:bodyPr>
            <a:normAutofit/>
          </a:bodyPr>
          <a:lstStyle/>
          <a:p>
            <a:pPr algn="ctr"/>
            <a:r>
              <a:rPr lang="nb-NO" sz="2800" b="1" dirty="0" err="1">
                <a:solidFill>
                  <a:schemeClr val="tx1">
                    <a:lumMod val="75000"/>
                    <a:lumOff val="25000"/>
                  </a:schemeClr>
                </a:solidFill>
              </a:rPr>
              <a:t>Ammonia</a:t>
            </a:r>
            <a:r>
              <a:rPr lang="nb-NO" sz="2800" b="1" dirty="0">
                <a:solidFill>
                  <a:schemeClr val="tx1">
                    <a:lumMod val="75000"/>
                    <a:lumOff val="25000"/>
                  </a:schemeClr>
                </a:solidFill>
              </a:rPr>
              <a:t> </a:t>
            </a:r>
            <a:r>
              <a:rPr lang="nb-NO" sz="2800" b="1" dirty="0" err="1">
                <a:solidFill>
                  <a:schemeClr val="tx1">
                    <a:lumMod val="75000"/>
                    <a:lumOff val="25000"/>
                  </a:schemeClr>
                </a:solidFill>
              </a:rPr>
              <a:t>prices</a:t>
            </a:r>
            <a:r>
              <a:rPr lang="nb-NO" sz="2800" b="1" dirty="0">
                <a:solidFill>
                  <a:schemeClr val="tx1">
                    <a:lumMod val="75000"/>
                    <a:lumOff val="25000"/>
                  </a:schemeClr>
                </a:solidFill>
              </a:rPr>
              <a:t> in Europe</a:t>
            </a:r>
          </a:p>
        </p:txBody>
      </p:sp>
      <p:pic>
        <p:nvPicPr>
          <p:cNvPr id="28" name="Picture 27">
            <a:extLst>
              <a:ext uri="{FF2B5EF4-FFF2-40B4-BE49-F238E27FC236}">
                <a16:creationId xmlns:a16="http://schemas.microsoft.com/office/drawing/2014/main" id="{6D1C260C-D9E3-81B2-411D-868446C971A8}"/>
              </a:ext>
            </a:extLst>
          </p:cNvPr>
          <p:cNvPicPr>
            <a:picLocks noChangeAspect="1"/>
          </p:cNvPicPr>
          <p:nvPr/>
        </p:nvPicPr>
        <p:blipFill>
          <a:blip r:embed="rId2"/>
          <a:stretch>
            <a:fillRect/>
          </a:stretch>
        </p:blipFill>
        <p:spPr>
          <a:xfrm>
            <a:off x="3675554" y="1269107"/>
            <a:ext cx="8251371" cy="4489435"/>
          </a:xfrm>
          <a:prstGeom prst="rect">
            <a:avLst/>
          </a:prstGeom>
        </p:spPr>
      </p:pic>
      <p:sp>
        <p:nvSpPr>
          <p:cNvPr id="29" name="TextBox 28">
            <a:extLst>
              <a:ext uri="{FF2B5EF4-FFF2-40B4-BE49-F238E27FC236}">
                <a16:creationId xmlns:a16="http://schemas.microsoft.com/office/drawing/2014/main" id="{A73AE895-7BAF-90D0-4999-0F0176942B67}"/>
              </a:ext>
            </a:extLst>
          </p:cNvPr>
          <p:cNvSpPr txBox="1"/>
          <p:nvPr/>
        </p:nvSpPr>
        <p:spPr>
          <a:xfrm>
            <a:off x="108857" y="2422856"/>
            <a:ext cx="3722913" cy="1754326"/>
          </a:xfrm>
          <a:prstGeom prst="rect">
            <a:avLst/>
          </a:prstGeom>
          <a:noFill/>
        </p:spPr>
        <p:txBody>
          <a:bodyPr wrap="square" rtlCol="0">
            <a:spAutoFit/>
          </a:bodyPr>
          <a:lstStyle/>
          <a:p>
            <a:r>
              <a:rPr lang="en-US" dirty="0"/>
              <a:t>In 2025:</a:t>
            </a:r>
          </a:p>
          <a:p>
            <a:endParaRPr lang="en-US" dirty="0"/>
          </a:p>
          <a:p>
            <a:pPr marL="285750" indent="-285750">
              <a:buFont typeface="Arial" panose="020B0604020202020204" pitchFamily="34" charset="0"/>
              <a:buChar char="•"/>
            </a:pPr>
            <a:r>
              <a:rPr lang="en-US" dirty="0"/>
              <a:t>Blue ammonia 590 – 770 €/t</a:t>
            </a:r>
          </a:p>
          <a:p>
            <a:endParaRPr lang="en-US" dirty="0"/>
          </a:p>
          <a:p>
            <a:pPr marL="285750" indent="-285750">
              <a:buFont typeface="Arial" panose="020B0604020202020204" pitchFamily="34" charset="0"/>
              <a:buChar char="•"/>
            </a:pPr>
            <a:r>
              <a:rPr lang="en-US" dirty="0"/>
              <a:t>Green ammonia 800 – 1000 €/t</a:t>
            </a:r>
          </a:p>
          <a:p>
            <a:r>
              <a:rPr lang="en-US" dirty="0"/>
              <a:t>		</a:t>
            </a:r>
            <a:endParaRPr lang="nb-NO" dirty="0"/>
          </a:p>
        </p:txBody>
      </p:sp>
      <p:sp>
        <p:nvSpPr>
          <p:cNvPr id="30" name="TextBox 29">
            <a:extLst>
              <a:ext uri="{FF2B5EF4-FFF2-40B4-BE49-F238E27FC236}">
                <a16:creationId xmlns:a16="http://schemas.microsoft.com/office/drawing/2014/main" id="{2EC37176-684C-8DBB-AAAA-52F802AF35D0}"/>
              </a:ext>
            </a:extLst>
          </p:cNvPr>
          <p:cNvSpPr txBox="1"/>
          <p:nvPr/>
        </p:nvSpPr>
        <p:spPr>
          <a:xfrm>
            <a:off x="108857" y="3900183"/>
            <a:ext cx="4314560" cy="276999"/>
          </a:xfrm>
          <a:prstGeom prst="rect">
            <a:avLst/>
          </a:prstGeom>
          <a:noFill/>
        </p:spPr>
        <p:txBody>
          <a:bodyPr wrap="square" rtlCol="0">
            <a:spAutoFit/>
          </a:bodyPr>
          <a:lstStyle/>
          <a:p>
            <a:r>
              <a:rPr lang="nb-NO" sz="1200" dirty="0">
                <a:hlinkClick r:id="rId3"/>
              </a:rPr>
              <a:t>Source: </a:t>
            </a:r>
            <a:r>
              <a:rPr lang="nb-NO" sz="1200" dirty="0" err="1">
                <a:hlinkClick r:id="rId3"/>
              </a:rPr>
              <a:t>businessanalytiq</a:t>
            </a:r>
            <a:r>
              <a:rPr lang="nb-NO" sz="1200" dirty="0"/>
              <a:t>, </a:t>
            </a:r>
            <a:r>
              <a:rPr lang="nb-NO" sz="1200" dirty="0" err="1">
                <a:hlinkClick r:id="rId4"/>
              </a:rPr>
              <a:t>Imarcgroup</a:t>
            </a:r>
            <a:r>
              <a:rPr lang="nb-NO" sz="1200" dirty="0"/>
              <a:t>, </a:t>
            </a:r>
            <a:r>
              <a:rPr lang="nb-NO" sz="1200" dirty="0">
                <a:hlinkClick r:id="rId5"/>
              </a:rPr>
              <a:t>SP-global</a:t>
            </a:r>
            <a:endParaRPr lang="nb-NO" sz="1200" dirty="0"/>
          </a:p>
        </p:txBody>
      </p:sp>
      <p:sp>
        <p:nvSpPr>
          <p:cNvPr id="3" name="TextBox 2">
            <a:extLst>
              <a:ext uri="{FF2B5EF4-FFF2-40B4-BE49-F238E27FC236}">
                <a16:creationId xmlns:a16="http://schemas.microsoft.com/office/drawing/2014/main" id="{1AD204D0-E1EC-7E6F-ABC7-E2EFA962BD01}"/>
              </a:ext>
            </a:extLst>
          </p:cNvPr>
          <p:cNvSpPr txBox="1"/>
          <p:nvPr/>
        </p:nvSpPr>
        <p:spPr>
          <a:xfrm>
            <a:off x="9355387" y="1099458"/>
            <a:ext cx="2571538" cy="338554"/>
          </a:xfrm>
          <a:prstGeom prst="rect">
            <a:avLst/>
          </a:prstGeom>
          <a:noFill/>
        </p:spPr>
        <p:txBody>
          <a:bodyPr wrap="none" rtlCol="0">
            <a:spAutoFit/>
          </a:bodyPr>
          <a:lstStyle/>
          <a:p>
            <a:r>
              <a:rPr lang="nb-NO" sz="1600" dirty="0">
                <a:hlinkClick r:id="rId6"/>
              </a:rPr>
              <a:t>Data: Argus </a:t>
            </a:r>
            <a:r>
              <a:rPr lang="nb-NO" sz="1600" dirty="0" err="1">
                <a:hlinkClick r:id="rId6"/>
              </a:rPr>
              <a:t>ammonia</a:t>
            </a:r>
            <a:r>
              <a:rPr lang="nb-NO" sz="1600" dirty="0">
                <a:hlinkClick r:id="rId6"/>
              </a:rPr>
              <a:t> 2025</a:t>
            </a:r>
            <a:endParaRPr lang="nb-NO" dirty="0"/>
          </a:p>
        </p:txBody>
      </p:sp>
    </p:spTree>
    <p:extLst>
      <p:ext uri="{BB962C8B-B14F-4D97-AF65-F5344CB8AC3E}">
        <p14:creationId xmlns:p14="http://schemas.microsoft.com/office/powerpoint/2010/main" val="4153003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9FAC3D36-1F39-26E6-4428-8D46AE401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F153A-7ADB-FD79-1412-BCF9D91B32F0}"/>
              </a:ext>
            </a:extLst>
          </p:cNvPr>
          <p:cNvSpPr>
            <a:spLocks noGrp="1"/>
          </p:cNvSpPr>
          <p:nvPr>
            <p:ph type="title"/>
          </p:nvPr>
        </p:nvSpPr>
        <p:spPr>
          <a:xfrm>
            <a:off x="4130777" y="321810"/>
            <a:ext cx="3930445" cy="962230"/>
          </a:xfrm>
        </p:spPr>
        <p:txBody>
          <a:bodyPr>
            <a:normAutofit/>
          </a:bodyPr>
          <a:lstStyle/>
          <a:p>
            <a:pPr algn="ctr"/>
            <a:r>
              <a:rPr lang="nb-NO" sz="2800" b="1" dirty="0">
                <a:solidFill>
                  <a:schemeClr val="tx1">
                    <a:lumMod val="75000"/>
                    <a:lumOff val="25000"/>
                  </a:schemeClr>
                </a:solidFill>
              </a:rPr>
              <a:t>Production </a:t>
            </a:r>
            <a:r>
              <a:rPr lang="nb-NO" sz="2800" b="1" dirty="0" err="1">
                <a:solidFill>
                  <a:schemeClr val="tx1">
                    <a:lumMod val="75000"/>
                    <a:lumOff val="25000"/>
                  </a:schemeClr>
                </a:solidFill>
              </a:rPr>
              <a:t>costs</a:t>
            </a:r>
            <a:endParaRPr lang="nb-NO" sz="2800" b="1" dirty="0">
              <a:solidFill>
                <a:schemeClr val="tx1">
                  <a:lumMod val="75000"/>
                  <a:lumOff val="25000"/>
                </a:schemeClr>
              </a:solidFill>
            </a:endParaRPr>
          </a:p>
        </p:txBody>
      </p:sp>
      <p:pic>
        <p:nvPicPr>
          <p:cNvPr id="5" name="Picture 4">
            <a:extLst>
              <a:ext uri="{FF2B5EF4-FFF2-40B4-BE49-F238E27FC236}">
                <a16:creationId xmlns:a16="http://schemas.microsoft.com/office/drawing/2014/main" id="{9436A3EE-6C49-AA3C-9BF0-924337E60834}"/>
              </a:ext>
            </a:extLst>
          </p:cNvPr>
          <p:cNvPicPr>
            <a:picLocks noChangeAspect="1"/>
          </p:cNvPicPr>
          <p:nvPr/>
        </p:nvPicPr>
        <p:blipFill>
          <a:blip r:embed="rId2"/>
          <a:stretch>
            <a:fillRect/>
          </a:stretch>
        </p:blipFill>
        <p:spPr>
          <a:xfrm>
            <a:off x="4984216" y="5221655"/>
            <a:ext cx="6154009" cy="514422"/>
          </a:xfrm>
          <a:prstGeom prst="rect">
            <a:avLst/>
          </a:prstGeom>
        </p:spPr>
      </p:pic>
      <p:sp>
        <p:nvSpPr>
          <p:cNvPr id="6" name="TextBox 5">
            <a:extLst>
              <a:ext uri="{FF2B5EF4-FFF2-40B4-BE49-F238E27FC236}">
                <a16:creationId xmlns:a16="http://schemas.microsoft.com/office/drawing/2014/main" id="{46E88856-1148-6FCC-4B8F-9DDE4C7D1B78}"/>
              </a:ext>
            </a:extLst>
          </p:cNvPr>
          <p:cNvSpPr txBox="1"/>
          <p:nvPr/>
        </p:nvSpPr>
        <p:spPr>
          <a:xfrm>
            <a:off x="735136" y="2438398"/>
            <a:ext cx="3124200" cy="923330"/>
          </a:xfrm>
          <a:prstGeom prst="rect">
            <a:avLst/>
          </a:prstGeom>
          <a:noFill/>
        </p:spPr>
        <p:txBody>
          <a:bodyPr wrap="square" rtlCol="0">
            <a:spAutoFit/>
          </a:bodyPr>
          <a:lstStyle/>
          <a:p>
            <a:r>
              <a:rPr lang="en-US" dirty="0">
                <a:hlinkClick r:id="rId3"/>
              </a:rPr>
              <a:t>INL: literature review of advanced reactor cost estimates</a:t>
            </a:r>
            <a:endParaRPr lang="nb-NO" dirty="0"/>
          </a:p>
        </p:txBody>
      </p:sp>
      <p:sp>
        <p:nvSpPr>
          <p:cNvPr id="7" name="TextBox 6">
            <a:extLst>
              <a:ext uri="{FF2B5EF4-FFF2-40B4-BE49-F238E27FC236}">
                <a16:creationId xmlns:a16="http://schemas.microsoft.com/office/drawing/2014/main" id="{1EC8B7BE-1E7C-9B3A-4C0B-82B907138932}"/>
              </a:ext>
            </a:extLst>
          </p:cNvPr>
          <p:cNvSpPr txBox="1"/>
          <p:nvPr/>
        </p:nvSpPr>
        <p:spPr>
          <a:xfrm>
            <a:off x="735136" y="5017201"/>
            <a:ext cx="3124200" cy="923330"/>
          </a:xfrm>
          <a:prstGeom prst="rect">
            <a:avLst/>
          </a:prstGeom>
          <a:noFill/>
        </p:spPr>
        <p:txBody>
          <a:bodyPr wrap="square" rtlCol="0">
            <a:spAutoFit/>
          </a:bodyPr>
          <a:lstStyle/>
          <a:p>
            <a:r>
              <a:rPr lang="en-US" dirty="0">
                <a:hlinkClick r:id="rId4"/>
              </a:rPr>
              <a:t>Richard Turton et al. Analysis, Synthesis, and Design of Chemical Processes. </a:t>
            </a:r>
            <a:endParaRPr lang="nb-NO" dirty="0"/>
          </a:p>
        </p:txBody>
      </p:sp>
      <p:pic>
        <p:nvPicPr>
          <p:cNvPr id="3" name="Content Placeholder 4">
            <a:extLst>
              <a:ext uri="{FF2B5EF4-FFF2-40B4-BE49-F238E27FC236}">
                <a16:creationId xmlns:a16="http://schemas.microsoft.com/office/drawing/2014/main" id="{2A4AE77F-B501-00DF-4B30-0E2BC17DA555}"/>
              </a:ext>
            </a:extLst>
          </p:cNvPr>
          <p:cNvPicPr>
            <a:picLocks noChangeAspect="1"/>
          </p:cNvPicPr>
          <p:nvPr/>
        </p:nvPicPr>
        <p:blipFill>
          <a:blip r:embed="rId5"/>
          <a:stretch>
            <a:fillRect/>
          </a:stretch>
        </p:blipFill>
        <p:spPr>
          <a:xfrm>
            <a:off x="4011736" y="1686811"/>
            <a:ext cx="8098971" cy="2572614"/>
          </a:xfrm>
          <a:prstGeom prst="rect">
            <a:avLst/>
          </a:prstGeom>
        </p:spPr>
      </p:pic>
    </p:spTree>
    <p:extLst>
      <p:ext uri="{BB962C8B-B14F-4D97-AF65-F5344CB8AC3E}">
        <p14:creationId xmlns:p14="http://schemas.microsoft.com/office/powerpoint/2010/main" val="380743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22F3E0C-F7E7-9E80-E993-4EF6303D9A4A}"/>
              </a:ext>
            </a:extLst>
          </p:cNvPr>
          <p:cNvSpPr>
            <a:spLocks noGrp="1"/>
          </p:cNvSpPr>
          <p:nvPr>
            <p:ph type="title"/>
          </p:nvPr>
        </p:nvSpPr>
        <p:spPr>
          <a:xfrm>
            <a:off x="1093839" y="585787"/>
            <a:ext cx="10515600" cy="1325563"/>
          </a:xfrm>
        </p:spPr>
        <p:txBody>
          <a:bodyPr/>
          <a:lstStyle/>
          <a:p>
            <a:r>
              <a:rPr lang="en-US" sz="3600" b="1" dirty="0">
                <a:solidFill>
                  <a:schemeClr val="accent1">
                    <a:lumMod val="75000"/>
                  </a:schemeClr>
                </a:solidFill>
              </a:rPr>
              <a:t>Methodology</a:t>
            </a:r>
            <a:endParaRPr lang="en-US" b="1" dirty="0">
              <a:solidFill>
                <a:schemeClr val="accent1">
                  <a:lumMod val="75000"/>
                </a:schemeClr>
              </a:solidFill>
            </a:endParaRPr>
          </a:p>
        </p:txBody>
      </p:sp>
      <p:sp>
        <p:nvSpPr>
          <p:cNvPr id="4" name="TextBox 3">
            <a:extLst>
              <a:ext uri="{FF2B5EF4-FFF2-40B4-BE49-F238E27FC236}">
                <a16:creationId xmlns:a16="http://schemas.microsoft.com/office/drawing/2014/main" id="{E84E58F7-76D4-6898-7BE1-9E4598434658}"/>
              </a:ext>
            </a:extLst>
          </p:cNvPr>
          <p:cNvSpPr txBox="1"/>
          <p:nvPr/>
        </p:nvSpPr>
        <p:spPr>
          <a:xfrm>
            <a:off x="332413" y="1911350"/>
            <a:ext cx="10357932" cy="4862870"/>
          </a:xfrm>
          <a:prstGeom prst="rect">
            <a:avLst/>
          </a:prstGeom>
          <a:noFill/>
        </p:spPr>
        <p:txBody>
          <a:bodyPr wrap="square" rtlCol="0">
            <a:spAutoFit/>
          </a:bodyPr>
          <a:lstStyle/>
          <a:p>
            <a:pPr marL="285750" indent="-285750">
              <a:buFont typeface="Arial" panose="020B0604020202020204" pitchFamily="34" charset="0"/>
              <a:buChar char="•"/>
            </a:pPr>
            <a:r>
              <a:rPr lang="en-US" sz="2000" dirty="0"/>
              <a:t>Thermodynamic model developed using DWSIM chemical process simulator</a:t>
            </a:r>
          </a:p>
          <a:p>
            <a:endParaRPr lang="en-US" sz="2000" dirty="0"/>
          </a:p>
          <a:p>
            <a:pPr marL="285750" indent="-285750">
              <a:buFont typeface="Arial" panose="020B0604020202020204" pitchFamily="34" charset="0"/>
              <a:buChar char="•"/>
            </a:pPr>
            <a:r>
              <a:rPr lang="en-US" sz="2000" dirty="0"/>
              <a:t>Simulated loads from 200 to 700 tons per day (</a:t>
            </a:r>
            <a:r>
              <a:rPr lang="en-US" sz="2000" dirty="0" err="1"/>
              <a:t>tpd</a:t>
            </a:r>
            <a:r>
              <a:rPr lang="en-US" sz="2000" dirty="0"/>
              <a:t>) of ammonia</a:t>
            </a:r>
          </a:p>
          <a:p>
            <a:endParaRPr lang="en-US" sz="2000" dirty="0"/>
          </a:p>
          <a:p>
            <a:pPr marL="285750" indent="-285750">
              <a:buFont typeface="Arial" panose="020B0604020202020204" pitchFamily="34" charset="0"/>
              <a:buChar char="•"/>
            </a:pPr>
            <a:r>
              <a:rPr lang="en-US" sz="2000" dirty="0"/>
              <a:t>Techno-economic analysis based on the marginal break-even electricity price using:</a:t>
            </a:r>
          </a:p>
          <a:p>
            <a:pPr marL="285750" indent="-285750">
              <a:buFont typeface="Arial" panose="020B0604020202020204" pitchFamily="34" charset="0"/>
              <a:buChar char="•"/>
            </a:pPr>
            <a:endParaRPr lang="en-US" sz="2000" dirty="0"/>
          </a:p>
          <a:p>
            <a:pPr marL="742950" lvl="1" indent="-285750">
              <a:buFont typeface="Arial" panose="020B0604020202020204" pitchFamily="34" charset="0"/>
              <a:buChar char="•"/>
            </a:pPr>
            <a:r>
              <a:rPr lang="en-US" dirty="0"/>
              <a:t>Median values for the OPEX (38 €/MWh) and MOM (0.625) of SMRs. </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Operating cost of ammonia production estimated for a nominal capacity of </a:t>
            </a:r>
            <a:r>
              <a:rPr lang="en-US" b="1" dirty="0"/>
              <a:t>500 </a:t>
            </a:r>
            <a:r>
              <a:rPr lang="en-US" dirty="0" err="1"/>
              <a:t>tpd</a:t>
            </a:r>
            <a:r>
              <a:rPr lang="en-US" dirty="0"/>
              <a:t>.</a:t>
            </a:r>
          </a:p>
          <a:p>
            <a:endParaRPr lang="en-US" sz="2000" dirty="0"/>
          </a:p>
          <a:p>
            <a:pPr marL="285750" indent="-285750">
              <a:buFont typeface="Arial" panose="020B0604020202020204" pitchFamily="34" charset="0"/>
              <a:buChar char="•"/>
            </a:pPr>
            <a:r>
              <a:rPr lang="en-US" sz="2000" dirty="0"/>
              <a:t>Nuclear reactor supplies power to all process equipment</a:t>
            </a:r>
          </a:p>
          <a:p>
            <a:endParaRPr lang="en-US" sz="2000" dirty="0"/>
          </a:p>
          <a:p>
            <a:pPr marL="285750" indent="-285750">
              <a:buFont typeface="Arial" panose="020B0604020202020204" pitchFamily="34" charset="0"/>
              <a:buChar char="•"/>
            </a:pPr>
            <a:r>
              <a:rPr lang="en-US" sz="2000" dirty="0"/>
              <a:t>Capacity factor of 90%</a:t>
            </a:r>
          </a:p>
          <a:p>
            <a:pPr marL="285750" indent="-285750">
              <a:buFont typeface="Arial" panose="020B0604020202020204" pitchFamily="34" charset="0"/>
              <a:buChar char="•"/>
            </a:pPr>
            <a:endParaRPr lang="en-US" sz="2000" b="1" dirty="0"/>
          </a:p>
          <a:p>
            <a:endParaRPr lang="en-US" dirty="0"/>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394433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E1FA30D-FA15-F41A-AF5C-C7F3A13A07EF}"/>
            </a:ext>
          </a:extLst>
        </p:cNvPr>
        <p:cNvGrpSpPr/>
        <p:nvPr/>
      </p:nvGrpSpPr>
      <p:grpSpPr>
        <a:xfrm>
          <a:off x="0" y="0"/>
          <a:ext cx="0" cy="0"/>
          <a:chOff x="0" y="0"/>
          <a:chExt cx="0" cy="0"/>
        </a:xfrm>
      </p:grpSpPr>
      <p:sp>
        <p:nvSpPr>
          <p:cNvPr id="5" name="Tittel 4">
            <a:extLst>
              <a:ext uri="{FF2B5EF4-FFF2-40B4-BE49-F238E27FC236}">
                <a16:creationId xmlns:a16="http://schemas.microsoft.com/office/drawing/2014/main" id="{BB66F5A7-002E-3A78-5031-5449628596F0}"/>
              </a:ext>
            </a:extLst>
          </p:cNvPr>
          <p:cNvSpPr>
            <a:spLocks noGrp="1"/>
          </p:cNvSpPr>
          <p:nvPr>
            <p:ph type="title"/>
          </p:nvPr>
        </p:nvSpPr>
        <p:spPr>
          <a:xfrm>
            <a:off x="2819401" y="460952"/>
            <a:ext cx="6705600" cy="599274"/>
          </a:xfrm>
        </p:spPr>
        <p:txBody>
          <a:bodyPr rtlCol="0" anchor="b">
            <a:normAutofit/>
          </a:bodyPr>
          <a:lstStyle/>
          <a:p>
            <a:pPr algn="ctr"/>
            <a:r>
              <a:rPr lang="nb-NO" sz="2800" b="1" dirty="0" err="1">
                <a:solidFill>
                  <a:schemeClr val="tx1">
                    <a:lumMod val="75000"/>
                    <a:lumOff val="25000"/>
                  </a:schemeClr>
                </a:solidFill>
              </a:rPr>
              <a:t>Reactor</a:t>
            </a:r>
            <a:r>
              <a:rPr lang="nb-NO" sz="2800" b="1" dirty="0">
                <a:solidFill>
                  <a:schemeClr val="tx1">
                    <a:lumMod val="75000"/>
                    <a:lumOff val="25000"/>
                  </a:schemeClr>
                </a:solidFill>
              </a:rPr>
              <a:t> </a:t>
            </a:r>
            <a:r>
              <a:rPr lang="nb-NO" sz="2800" b="1" dirty="0" err="1">
                <a:solidFill>
                  <a:schemeClr val="tx1">
                    <a:lumMod val="75000"/>
                    <a:lumOff val="25000"/>
                  </a:schemeClr>
                </a:solidFill>
              </a:rPr>
              <a:t>model</a:t>
            </a:r>
            <a:r>
              <a:rPr lang="nb-NO" sz="2800" b="1" dirty="0">
                <a:solidFill>
                  <a:schemeClr val="tx1">
                    <a:lumMod val="75000"/>
                    <a:lumOff val="25000"/>
                  </a:schemeClr>
                </a:solidFill>
              </a:rPr>
              <a:t> </a:t>
            </a:r>
            <a:r>
              <a:rPr lang="nb-NO" sz="2800" b="1" dirty="0" err="1">
                <a:solidFill>
                  <a:schemeClr val="tx1">
                    <a:lumMod val="75000"/>
                    <a:lumOff val="25000"/>
                  </a:schemeClr>
                </a:solidFill>
              </a:rPr>
              <a:t>based</a:t>
            </a:r>
            <a:r>
              <a:rPr lang="nb-NO" sz="2800" b="1" dirty="0">
                <a:solidFill>
                  <a:schemeClr val="tx1">
                    <a:lumMod val="75000"/>
                    <a:lumOff val="25000"/>
                  </a:schemeClr>
                </a:solidFill>
              </a:rPr>
              <a:t> </a:t>
            </a:r>
            <a:r>
              <a:rPr lang="nb-NO" sz="2800" b="1" dirty="0" err="1">
                <a:solidFill>
                  <a:schemeClr val="tx1">
                    <a:lumMod val="75000"/>
                    <a:lumOff val="25000"/>
                  </a:schemeClr>
                </a:solidFill>
              </a:rPr>
              <a:t>on</a:t>
            </a:r>
            <a:r>
              <a:rPr lang="nb-NO" sz="2800" b="1" dirty="0">
                <a:solidFill>
                  <a:schemeClr val="tx1">
                    <a:lumMod val="75000"/>
                    <a:lumOff val="25000"/>
                  </a:schemeClr>
                </a:solidFill>
              </a:rPr>
              <a:t> European-SMR</a:t>
            </a:r>
          </a:p>
        </p:txBody>
      </p:sp>
      <p:pic>
        <p:nvPicPr>
          <p:cNvPr id="3" name="Picture 2">
            <a:extLst>
              <a:ext uri="{FF2B5EF4-FFF2-40B4-BE49-F238E27FC236}">
                <a16:creationId xmlns:a16="http://schemas.microsoft.com/office/drawing/2014/main" id="{FD526152-6812-17B1-2719-E58849718695}"/>
              </a:ext>
            </a:extLst>
          </p:cNvPr>
          <p:cNvPicPr>
            <a:picLocks noChangeAspect="1"/>
          </p:cNvPicPr>
          <p:nvPr/>
        </p:nvPicPr>
        <p:blipFill>
          <a:blip r:embed="rId3"/>
          <a:stretch>
            <a:fillRect/>
          </a:stretch>
        </p:blipFill>
        <p:spPr>
          <a:xfrm>
            <a:off x="5991883" y="1547782"/>
            <a:ext cx="5863362" cy="4939513"/>
          </a:xfrm>
          <a:prstGeom prst="rect">
            <a:avLst/>
          </a:prstGeom>
        </p:spPr>
      </p:pic>
      <p:sp>
        <p:nvSpPr>
          <p:cNvPr id="4" name="TextBox 3">
            <a:extLst>
              <a:ext uri="{FF2B5EF4-FFF2-40B4-BE49-F238E27FC236}">
                <a16:creationId xmlns:a16="http://schemas.microsoft.com/office/drawing/2014/main" id="{7E1C6B3A-970C-5BE5-8381-9CFF954EC9B9}"/>
              </a:ext>
            </a:extLst>
          </p:cNvPr>
          <p:cNvSpPr txBox="1"/>
          <p:nvPr/>
        </p:nvSpPr>
        <p:spPr>
          <a:xfrm>
            <a:off x="7737486" y="6318018"/>
            <a:ext cx="1253164" cy="307777"/>
          </a:xfrm>
          <a:prstGeom prst="rect">
            <a:avLst/>
          </a:prstGeom>
          <a:noFill/>
        </p:spPr>
        <p:txBody>
          <a:bodyPr wrap="none" rtlCol="0">
            <a:spAutoFit/>
          </a:bodyPr>
          <a:lstStyle/>
          <a:p>
            <a:r>
              <a:rPr lang="nb-NO" sz="1400" dirty="0">
                <a:hlinkClick r:id="rId4"/>
              </a:rPr>
              <a:t>Tandem 2023</a:t>
            </a:r>
            <a:endParaRPr lang="nb-NO" sz="1600" dirty="0"/>
          </a:p>
        </p:txBody>
      </p:sp>
      <p:sp>
        <p:nvSpPr>
          <p:cNvPr id="2" name="TextBox 1">
            <a:extLst>
              <a:ext uri="{FF2B5EF4-FFF2-40B4-BE49-F238E27FC236}">
                <a16:creationId xmlns:a16="http://schemas.microsoft.com/office/drawing/2014/main" id="{6F1BED85-E272-20B2-2B06-90AACA795BAA}"/>
              </a:ext>
            </a:extLst>
          </p:cNvPr>
          <p:cNvSpPr txBox="1"/>
          <p:nvPr/>
        </p:nvSpPr>
        <p:spPr>
          <a:xfrm>
            <a:off x="591427" y="2319899"/>
            <a:ext cx="4695782" cy="347787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European Small Modular Reactor   (E-SMR) – Tandem Euratom project</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p:txBody>
      </p:sp>
      <p:pic>
        <p:nvPicPr>
          <p:cNvPr id="7" name="Picture 6">
            <a:extLst>
              <a:ext uri="{FF2B5EF4-FFF2-40B4-BE49-F238E27FC236}">
                <a16:creationId xmlns:a16="http://schemas.microsoft.com/office/drawing/2014/main" id="{01292133-27F5-A455-0669-07FF021B99E7}"/>
              </a:ext>
            </a:extLst>
          </p:cNvPr>
          <p:cNvPicPr>
            <a:picLocks noChangeAspect="1"/>
          </p:cNvPicPr>
          <p:nvPr/>
        </p:nvPicPr>
        <p:blipFill>
          <a:blip r:embed="rId5"/>
          <a:stretch>
            <a:fillRect/>
          </a:stretch>
        </p:blipFill>
        <p:spPr>
          <a:xfrm>
            <a:off x="591427" y="3255580"/>
            <a:ext cx="5047373" cy="2268584"/>
          </a:xfrm>
          <a:prstGeom prst="rect">
            <a:avLst/>
          </a:prstGeom>
        </p:spPr>
      </p:pic>
    </p:spTree>
    <p:extLst>
      <p:ext uri="{BB962C8B-B14F-4D97-AF65-F5344CB8AC3E}">
        <p14:creationId xmlns:p14="http://schemas.microsoft.com/office/powerpoint/2010/main" val="129550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B5858D-7D41-632C-8B56-25D48EE30BB9}"/>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4DA52881-098B-59C4-EC4F-B9B92A62BF23}"/>
              </a:ext>
            </a:extLst>
          </p:cNvPr>
          <p:cNvSpPr>
            <a:spLocks noGrp="1"/>
          </p:cNvSpPr>
          <p:nvPr>
            <p:ph type="title"/>
          </p:nvPr>
        </p:nvSpPr>
        <p:spPr>
          <a:xfrm>
            <a:off x="1149766" y="183410"/>
            <a:ext cx="10515600" cy="894258"/>
          </a:xfrm>
        </p:spPr>
        <p:txBody>
          <a:bodyPr>
            <a:normAutofit/>
          </a:bodyPr>
          <a:lstStyle/>
          <a:p>
            <a:pPr algn="ctr"/>
            <a:r>
              <a:rPr lang="en-US" sz="2800" b="1" dirty="0">
                <a:solidFill>
                  <a:schemeClr val="tx1">
                    <a:lumMod val="75000"/>
                    <a:lumOff val="25000"/>
                  </a:schemeClr>
                </a:solidFill>
              </a:rPr>
              <a:t>Thermodynamic model</a:t>
            </a:r>
            <a:endParaRPr lang="en-US" sz="3600" b="1" dirty="0">
              <a:solidFill>
                <a:schemeClr val="tx1">
                  <a:lumMod val="75000"/>
                  <a:lumOff val="25000"/>
                </a:schemeClr>
              </a:solidFill>
            </a:endParaRPr>
          </a:p>
        </p:txBody>
      </p:sp>
      <p:grpSp>
        <p:nvGrpSpPr>
          <p:cNvPr id="2" name="Group 1">
            <a:extLst>
              <a:ext uri="{FF2B5EF4-FFF2-40B4-BE49-F238E27FC236}">
                <a16:creationId xmlns:a16="http://schemas.microsoft.com/office/drawing/2014/main" id="{6724B38C-90B7-4FFE-FA24-920C2970290F}"/>
              </a:ext>
            </a:extLst>
          </p:cNvPr>
          <p:cNvGrpSpPr/>
          <p:nvPr/>
        </p:nvGrpSpPr>
        <p:grpSpPr>
          <a:xfrm>
            <a:off x="3526628" y="803889"/>
            <a:ext cx="8643601" cy="5998028"/>
            <a:chOff x="4147457" y="1031133"/>
            <a:chExt cx="8044543" cy="5826867"/>
          </a:xfrm>
        </p:grpSpPr>
        <p:pic>
          <p:nvPicPr>
            <p:cNvPr id="6" name="Picture 5">
              <a:extLst>
                <a:ext uri="{FF2B5EF4-FFF2-40B4-BE49-F238E27FC236}">
                  <a16:creationId xmlns:a16="http://schemas.microsoft.com/office/drawing/2014/main" id="{6A2AD4C6-87A7-300B-EB67-279B3B42CAA6}"/>
                </a:ext>
              </a:extLst>
            </p:cNvPr>
            <p:cNvPicPr>
              <a:picLocks noChangeAspect="1"/>
            </p:cNvPicPr>
            <p:nvPr/>
          </p:nvPicPr>
          <p:blipFill>
            <a:blip r:embed="rId2"/>
            <a:stretch>
              <a:fillRect/>
            </a:stretch>
          </p:blipFill>
          <p:spPr>
            <a:xfrm>
              <a:off x="4147457" y="1297099"/>
              <a:ext cx="8044543" cy="5560901"/>
            </a:xfrm>
            <a:prstGeom prst="rect">
              <a:avLst/>
            </a:prstGeom>
          </p:spPr>
        </p:pic>
        <p:sp>
          <p:nvSpPr>
            <p:cNvPr id="7" name="TextBox 6">
              <a:extLst>
                <a:ext uri="{FF2B5EF4-FFF2-40B4-BE49-F238E27FC236}">
                  <a16:creationId xmlns:a16="http://schemas.microsoft.com/office/drawing/2014/main" id="{1D7599C2-B4EC-9A37-3E45-AC7135C4549A}"/>
                </a:ext>
              </a:extLst>
            </p:cNvPr>
            <p:cNvSpPr txBox="1"/>
            <p:nvPr/>
          </p:nvSpPr>
          <p:spPr>
            <a:xfrm>
              <a:off x="4912702" y="5882989"/>
              <a:ext cx="1869953" cy="298994"/>
            </a:xfrm>
            <a:prstGeom prst="rect">
              <a:avLst/>
            </a:prstGeom>
            <a:noFill/>
          </p:spPr>
          <p:txBody>
            <a:bodyPr wrap="none" rtlCol="0">
              <a:spAutoFit/>
            </a:bodyPr>
            <a:lstStyle/>
            <a:p>
              <a:r>
                <a:rPr lang="nb-NO" sz="1400" b="1" dirty="0" err="1"/>
                <a:t>Secondary</a:t>
              </a:r>
              <a:r>
                <a:rPr lang="nb-NO" sz="1400" b="1" dirty="0"/>
                <a:t> steam loop</a:t>
              </a:r>
              <a:endParaRPr lang="nb-NO" b="1" dirty="0"/>
            </a:p>
          </p:txBody>
        </p:sp>
        <p:sp>
          <p:nvSpPr>
            <p:cNvPr id="8" name="TextBox 7">
              <a:extLst>
                <a:ext uri="{FF2B5EF4-FFF2-40B4-BE49-F238E27FC236}">
                  <a16:creationId xmlns:a16="http://schemas.microsoft.com/office/drawing/2014/main" id="{6DBE5B09-91CA-7400-3194-FFDF24372469}"/>
                </a:ext>
              </a:extLst>
            </p:cNvPr>
            <p:cNvSpPr txBox="1"/>
            <p:nvPr/>
          </p:nvSpPr>
          <p:spPr>
            <a:xfrm>
              <a:off x="7963229" y="6457270"/>
              <a:ext cx="1231427" cy="307777"/>
            </a:xfrm>
            <a:prstGeom prst="rect">
              <a:avLst/>
            </a:prstGeom>
            <a:noFill/>
          </p:spPr>
          <p:txBody>
            <a:bodyPr wrap="none" rtlCol="0">
              <a:spAutoFit/>
            </a:bodyPr>
            <a:lstStyle/>
            <a:p>
              <a:r>
                <a:rPr lang="nb-NO" sz="1400" b="1" dirty="0" err="1"/>
                <a:t>Haber</a:t>
              </a:r>
              <a:r>
                <a:rPr lang="nb-NO" sz="1400" b="1" dirty="0"/>
                <a:t> Bosch</a:t>
              </a:r>
              <a:endParaRPr lang="nb-NO" b="1" dirty="0"/>
            </a:p>
          </p:txBody>
        </p:sp>
        <p:sp>
          <p:nvSpPr>
            <p:cNvPr id="9" name="TextBox 8">
              <a:extLst>
                <a:ext uri="{FF2B5EF4-FFF2-40B4-BE49-F238E27FC236}">
                  <a16:creationId xmlns:a16="http://schemas.microsoft.com/office/drawing/2014/main" id="{7ED4480B-21B1-F2CB-F407-8D3879B7B108}"/>
                </a:ext>
              </a:extLst>
            </p:cNvPr>
            <p:cNvSpPr txBox="1"/>
            <p:nvPr/>
          </p:nvSpPr>
          <p:spPr>
            <a:xfrm>
              <a:off x="6520822" y="1486563"/>
              <a:ext cx="615810" cy="307777"/>
            </a:xfrm>
            <a:prstGeom prst="rect">
              <a:avLst/>
            </a:prstGeom>
            <a:noFill/>
          </p:spPr>
          <p:txBody>
            <a:bodyPr wrap="none" rtlCol="0">
              <a:spAutoFit/>
            </a:bodyPr>
            <a:lstStyle/>
            <a:p>
              <a:r>
                <a:rPr lang="nb-NO" sz="1400" b="1" dirty="0"/>
                <a:t>HTSE</a:t>
              </a:r>
              <a:endParaRPr lang="nb-NO" b="1" dirty="0"/>
            </a:p>
          </p:txBody>
        </p:sp>
        <p:sp>
          <p:nvSpPr>
            <p:cNvPr id="11" name="TextBox 10">
              <a:extLst>
                <a:ext uri="{FF2B5EF4-FFF2-40B4-BE49-F238E27FC236}">
                  <a16:creationId xmlns:a16="http://schemas.microsoft.com/office/drawing/2014/main" id="{5DC28C0A-391E-8105-8BB1-2F6903C9F6D5}"/>
                </a:ext>
              </a:extLst>
            </p:cNvPr>
            <p:cNvSpPr txBox="1"/>
            <p:nvPr/>
          </p:nvSpPr>
          <p:spPr>
            <a:xfrm>
              <a:off x="9628792" y="1031133"/>
              <a:ext cx="2212978" cy="307777"/>
            </a:xfrm>
            <a:prstGeom prst="rect">
              <a:avLst/>
            </a:prstGeom>
            <a:noFill/>
          </p:spPr>
          <p:txBody>
            <a:bodyPr wrap="none" rtlCol="0">
              <a:spAutoFit/>
            </a:bodyPr>
            <a:lstStyle/>
            <a:p>
              <a:r>
                <a:rPr lang="nb-NO" sz="1400" b="1" dirty="0" err="1"/>
                <a:t>Multi</a:t>
              </a:r>
              <a:r>
                <a:rPr lang="nb-NO" sz="1400" b="1" dirty="0"/>
                <a:t>-stage </a:t>
              </a:r>
              <a:r>
                <a:rPr lang="nb-NO" sz="1400" b="1" dirty="0" err="1"/>
                <a:t>compression</a:t>
              </a:r>
              <a:endParaRPr lang="nb-NO" b="1" dirty="0"/>
            </a:p>
          </p:txBody>
        </p:sp>
      </p:grpSp>
      <p:sp>
        <p:nvSpPr>
          <p:cNvPr id="5" name="TextBox 4">
            <a:extLst>
              <a:ext uri="{FF2B5EF4-FFF2-40B4-BE49-F238E27FC236}">
                <a16:creationId xmlns:a16="http://schemas.microsoft.com/office/drawing/2014/main" id="{CB191FB8-29C4-718A-3D3F-B883DE4CDBDB}"/>
              </a:ext>
            </a:extLst>
          </p:cNvPr>
          <p:cNvSpPr txBox="1"/>
          <p:nvPr/>
        </p:nvSpPr>
        <p:spPr>
          <a:xfrm>
            <a:off x="146670" y="1961954"/>
            <a:ext cx="3199755" cy="4585871"/>
          </a:xfrm>
          <a:prstGeom prst="rect">
            <a:avLst/>
          </a:prstGeom>
          <a:noFill/>
        </p:spPr>
        <p:txBody>
          <a:bodyPr wrap="square" rtlCol="0">
            <a:spAutoFit/>
          </a:bodyPr>
          <a:lstStyle/>
          <a:p>
            <a:endParaRPr lang="en-US" b="1" dirty="0"/>
          </a:p>
          <a:p>
            <a:pPr marL="285750" indent="-285750">
              <a:buFont typeface="Arial" panose="020B0604020202020204" pitchFamily="34" charset="0"/>
              <a:buChar char="•"/>
            </a:pPr>
            <a:r>
              <a:rPr lang="en-US" dirty="0"/>
              <a:t>Steam extracted before turbine train</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Electrolysis feed water superheated to 230 C at 1 bar.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HTSE operated at 750 C and atmospheric pressure.</a:t>
            </a:r>
          </a:p>
          <a:p>
            <a:pPr marL="285750" indent="-285750">
              <a:buFont typeface="Arial" panose="020B0604020202020204" pitchFamily="34" charset="0"/>
              <a:buChar char="•"/>
            </a:pPr>
            <a:endParaRPr lang="en-US" sz="2000" b="1" dirty="0"/>
          </a:p>
          <a:p>
            <a:pPr marL="285750" indent="-285750">
              <a:buFont typeface="Arial" panose="020B0604020202020204" pitchFamily="34" charset="0"/>
              <a:buChar char="•"/>
            </a:pPr>
            <a:endParaRPr lang="en-US" sz="2000" b="1" dirty="0"/>
          </a:p>
          <a:p>
            <a:endParaRPr lang="en-US" dirty="0"/>
          </a:p>
          <a:p>
            <a:pPr marL="285750" indent="-285750">
              <a:buFont typeface="Arial" panose="020B0604020202020204" pitchFamily="34" charset="0"/>
              <a:buChar char="•"/>
            </a:pPr>
            <a:endParaRPr lang="nb-NO" dirty="0"/>
          </a:p>
        </p:txBody>
      </p:sp>
      <p:cxnSp>
        <p:nvCxnSpPr>
          <p:cNvPr id="4" name="Connector: Elbow 3">
            <a:extLst>
              <a:ext uri="{FF2B5EF4-FFF2-40B4-BE49-F238E27FC236}">
                <a16:creationId xmlns:a16="http://schemas.microsoft.com/office/drawing/2014/main" id="{1BCCF260-C2FA-5281-C79D-303EFF6EB677}"/>
              </a:ext>
            </a:extLst>
          </p:cNvPr>
          <p:cNvCxnSpPr>
            <a:cxnSpLocks/>
          </p:cNvCxnSpPr>
          <p:nvPr/>
        </p:nvCxnSpPr>
        <p:spPr>
          <a:xfrm flipV="1">
            <a:off x="4659086" y="3068010"/>
            <a:ext cx="381002" cy="275667"/>
          </a:xfrm>
          <a:prstGeom prst="bentConnector3">
            <a:avLst>
              <a:gd name="adj1" fmla="val 714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7A3946B-77FB-9093-ADAA-8F71CB762177}"/>
              </a:ext>
            </a:extLst>
          </p:cNvPr>
          <p:cNvSpPr txBox="1"/>
          <p:nvPr/>
        </p:nvSpPr>
        <p:spPr>
          <a:xfrm>
            <a:off x="4659086" y="3022468"/>
            <a:ext cx="911801" cy="276999"/>
          </a:xfrm>
          <a:prstGeom prst="rect">
            <a:avLst/>
          </a:prstGeom>
          <a:noFill/>
        </p:spPr>
        <p:txBody>
          <a:bodyPr wrap="square" rtlCol="0">
            <a:spAutoFit/>
          </a:bodyPr>
          <a:lstStyle/>
          <a:p>
            <a:r>
              <a:rPr lang="nb-NO" sz="1200" dirty="0">
                <a:solidFill>
                  <a:srgbClr val="FF0000"/>
                </a:solidFill>
              </a:rPr>
              <a:t>300 </a:t>
            </a:r>
            <a:r>
              <a:rPr lang="nb-NO" sz="1100" dirty="0">
                <a:solidFill>
                  <a:srgbClr val="FF0000"/>
                </a:solidFill>
              </a:rPr>
              <a:t>C</a:t>
            </a:r>
            <a:endParaRPr lang="nb-NO" sz="1200" dirty="0">
              <a:solidFill>
                <a:srgbClr val="FF0000"/>
              </a:solidFill>
            </a:endParaRPr>
          </a:p>
        </p:txBody>
      </p:sp>
      <p:cxnSp>
        <p:nvCxnSpPr>
          <p:cNvPr id="19" name="Straight Arrow Connector 18">
            <a:extLst>
              <a:ext uri="{FF2B5EF4-FFF2-40B4-BE49-F238E27FC236}">
                <a16:creationId xmlns:a16="http://schemas.microsoft.com/office/drawing/2014/main" id="{68BDF35D-6740-6188-DDD8-054D7AB993A0}"/>
              </a:ext>
            </a:extLst>
          </p:cNvPr>
          <p:cNvCxnSpPr>
            <a:cxnSpLocks/>
          </p:cNvCxnSpPr>
          <p:nvPr/>
        </p:nvCxnSpPr>
        <p:spPr>
          <a:xfrm>
            <a:off x="4985419" y="2313004"/>
            <a:ext cx="359228"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8F62B66-F52F-5D88-094F-5AE21F88018B}"/>
              </a:ext>
            </a:extLst>
          </p:cNvPr>
          <p:cNvSpPr txBox="1"/>
          <p:nvPr/>
        </p:nvSpPr>
        <p:spPr>
          <a:xfrm>
            <a:off x="4909219" y="2019290"/>
            <a:ext cx="661668" cy="307777"/>
          </a:xfrm>
          <a:prstGeom prst="rect">
            <a:avLst/>
          </a:prstGeom>
          <a:noFill/>
        </p:spPr>
        <p:txBody>
          <a:bodyPr wrap="square" rtlCol="0">
            <a:spAutoFit/>
          </a:bodyPr>
          <a:lstStyle/>
          <a:p>
            <a:r>
              <a:rPr lang="nb-NO" sz="1400" dirty="0">
                <a:solidFill>
                  <a:schemeClr val="accent2"/>
                </a:solidFill>
              </a:rPr>
              <a:t>230</a:t>
            </a:r>
          </a:p>
        </p:txBody>
      </p:sp>
      <p:cxnSp>
        <p:nvCxnSpPr>
          <p:cNvPr id="24" name="Straight Arrow Connector 23">
            <a:extLst>
              <a:ext uri="{FF2B5EF4-FFF2-40B4-BE49-F238E27FC236}">
                <a16:creationId xmlns:a16="http://schemas.microsoft.com/office/drawing/2014/main" id="{69B0702E-753C-727F-1743-FA2D3446D0E6}"/>
              </a:ext>
            </a:extLst>
          </p:cNvPr>
          <p:cNvCxnSpPr/>
          <p:nvPr/>
        </p:nvCxnSpPr>
        <p:spPr>
          <a:xfrm>
            <a:off x="8360229" y="1458686"/>
            <a:ext cx="5894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F88F47B-4494-52ED-ABCF-B99FC0D97E40}"/>
              </a:ext>
            </a:extLst>
          </p:cNvPr>
          <p:cNvSpPr txBox="1"/>
          <p:nvPr/>
        </p:nvSpPr>
        <p:spPr>
          <a:xfrm>
            <a:off x="8251370" y="1158522"/>
            <a:ext cx="788463" cy="307777"/>
          </a:xfrm>
          <a:prstGeom prst="rect">
            <a:avLst/>
          </a:prstGeom>
          <a:noFill/>
        </p:spPr>
        <p:txBody>
          <a:bodyPr wrap="square" rtlCol="0">
            <a:spAutoFit/>
          </a:bodyPr>
          <a:lstStyle/>
          <a:p>
            <a:r>
              <a:rPr lang="nb-NO" sz="1400" dirty="0"/>
              <a:t>H2+N2</a:t>
            </a:r>
          </a:p>
        </p:txBody>
      </p:sp>
      <p:cxnSp>
        <p:nvCxnSpPr>
          <p:cNvPr id="27" name="Straight Arrow Connector 26">
            <a:extLst>
              <a:ext uri="{FF2B5EF4-FFF2-40B4-BE49-F238E27FC236}">
                <a16:creationId xmlns:a16="http://schemas.microsoft.com/office/drawing/2014/main" id="{83D43754-48A4-C596-93ED-A38F03CDB56A}"/>
              </a:ext>
            </a:extLst>
          </p:cNvPr>
          <p:cNvCxnSpPr/>
          <p:nvPr/>
        </p:nvCxnSpPr>
        <p:spPr>
          <a:xfrm>
            <a:off x="11665366" y="6389416"/>
            <a:ext cx="385120" cy="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FE521A7-AC52-8C30-660E-A01D3381FBA3}"/>
              </a:ext>
            </a:extLst>
          </p:cNvPr>
          <p:cNvSpPr txBox="1"/>
          <p:nvPr/>
        </p:nvSpPr>
        <p:spPr>
          <a:xfrm>
            <a:off x="11599586" y="6119427"/>
            <a:ext cx="646843" cy="307777"/>
          </a:xfrm>
          <a:prstGeom prst="rect">
            <a:avLst/>
          </a:prstGeom>
          <a:noFill/>
        </p:spPr>
        <p:txBody>
          <a:bodyPr wrap="square" rtlCol="0">
            <a:spAutoFit/>
          </a:bodyPr>
          <a:lstStyle/>
          <a:p>
            <a:r>
              <a:rPr lang="nb-NO" sz="1400" dirty="0">
                <a:solidFill>
                  <a:schemeClr val="accent6"/>
                </a:solidFill>
              </a:rPr>
              <a:t>NH3</a:t>
            </a:r>
          </a:p>
        </p:txBody>
      </p:sp>
      <p:cxnSp>
        <p:nvCxnSpPr>
          <p:cNvPr id="30" name="Straight Arrow Connector 29">
            <a:extLst>
              <a:ext uri="{FF2B5EF4-FFF2-40B4-BE49-F238E27FC236}">
                <a16:creationId xmlns:a16="http://schemas.microsoft.com/office/drawing/2014/main" id="{ADE3ED0F-7FE1-A743-3F74-AE6A963DB1F9}"/>
              </a:ext>
            </a:extLst>
          </p:cNvPr>
          <p:cNvCxnSpPr/>
          <p:nvPr/>
        </p:nvCxnSpPr>
        <p:spPr>
          <a:xfrm>
            <a:off x="3200400" y="3068010"/>
            <a:ext cx="4789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04AD63A-185B-60C2-E4F4-E7E842696F1A}"/>
              </a:ext>
            </a:extLst>
          </p:cNvPr>
          <p:cNvSpPr txBox="1"/>
          <p:nvPr/>
        </p:nvSpPr>
        <p:spPr>
          <a:xfrm>
            <a:off x="3102426" y="2810785"/>
            <a:ext cx="702717" cy="307777"/>
          </a:xfrm>
          <a:prstGeom prst="rect">
            <a:avLst/>
          </a:prstGeom>
          <a:noFill/>
        </p:spPr>
        <p:txBody>
          <a:bodyPr wrap="square" rtlCol="0">
            <a:spAutoFit/>
          </a:bodyPr>
          <a:lstStyle/>
          <a:p>
            <a:r>
              <a:rPr lang="nb-NO" sz="1400" dirty="0">
                <a:solidFill>
                  <a:schemeClr val="accent1"/>
                </a:solidFill>
              </a:rPr>
              <a:t>H2O</a:t>
            </a:r>
          </a:p>
        </p:txBody>
      </p:sp>
    </p:spTree>
    <p:extLst>
      <p:ext uri="{BB962C8B-B14F-4D97-AF65-F5344CB8AC3E}">
        <p14:creationId xmlns:p14="http://schemas.microsoft.com/office/powerpoint/2010/main" val="361367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EBB73-394D-A856-2946-E7C141FD1ED5}"/>
              </a:ext>
            </a:extLst>
          </p:cNvPr>
          <p:cNvSpPr>
            <a:spLocks noGrp="1"/>
          </p:cNvSpPr>
          <p:nvPr>
            <p:ph type="title"/>
          </p:nvPr>
        </p:nvSpPr>
        <p:spPr>
          <a:xfrm>
            <a:off x="838199" y="180039"/>
            <a:ext cx="10515600" cy="1325563"/>
          </a:xfrm>
        </p:spPr>
        <p:txBody>
          <a:bodyPr>
            <a:normAutofit/>
          </a:bodyPr>
          <a:lstStyle/>
          <a:p>
            <a:pPr algn="ctr"/>
            <a:r>
              <a:rPr lang="nb-NO" sz="2800" b="1" dirty="0">
                <a:solidFill>
                  <a:schemeClr val="tx1">
                    <a:lumMod val="75000"/>
                    <a:lumOff val="25000"/>
                  </a:schemeClr>
                </a:solidFill>
              </a:rPr>
              <a:t>Marginal Break-Even </a:t>
            </a:r>
            <a:r>
              <a:rPr lang="nb-NO" sz="2800" b="1" dirty="0" err="1">
                <a:solidFill>
                  <a:schemeClr val="tx1">
                    <a:lumMod val="75000"/>
                    <a:lumOff val="25000"/>
                  </a:schemeClr>
                </a:solidFill>
              </a:rPr>
              <a:t>Electricity</a:t>
            </a:r>
            <a:r>
              <a:rPr lang="nb-NO" sz="2800" b="1" dirty="0">
                <a:solidFill>
                  <a:schemeClr val="tx1">
                    <a:lumMod val="75000"/>
                    <a:lumOff val="25000"/>
                  </a:schemeClr>
                </a:solidFill>
              </a:rPr>
              <a:t> </a:t>
            </a:r>
            <a:r>
              <a:rPr lang="nb-NO" sz="2800" b="1" dirty="0" err="1">
                <a:solidFill>
                  <a:schemeClr val="tx1">
                    <a:lumMod val="75000"/>
                    <a:lumOff val="25000"/>
                  </a:schemeClr>
                </a:solidFill>
              </a:rPr>
              <a:t>price</a:t>
            </a:r>
            <a:endParaRPr lang="nb-NO" sz="4000" b="1" dirty="0">
              <a:solidFill>
                <a:schemeClr val="tx1">
                  <a:lumMod val="75000"/>
                  <a:lumOff val="25000"/>
                </a:schemeClr>
              </a:solidFill>
            </a:endParaRPr>
          </a:p>
        </p:txBody>
      </p:sp>
      <p:sp>
        <p:nvSpPr>
          <p:cNvPr id="9" name="Arrow: Down 8">
            <a:extLst>
              <a:ext uri="{FF2B5EF4-FFF2-40B4-BE49-F238E27FC236}">
                <a16:creationId xmlns:a16="http://schemas.microsoft.com/office/drawing/2014/main" id="{4387A24B-B7E9-0ADD-A67E-43D43F79EE83}"/>
              </a:ext>
            </a:extLst>
          </p:cNvPr>
          <p:cNvSpPr/>
          <p:nvPr/>
        </p:nvSpPr>
        <p:spPr>
          <a:xfrm>
            <a:off x="5969999" y="3189405"/>
            <a:ext cx="252000" cy="293995"/>
          </a:xfrm>
          <a:prstGeom prst="downArrow">
            <a:avLst/>
          </a:prstGeom>
          <a:solidFill>
            <a:schemeClr val="tx2"/>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7" name="Picture 16">
            <a:extLst>
              <a:ext uri="{FF2B5EF4-FFF2-40B4-BE49-F238E27FC236}">
                <a16:creationId xmlns:a16="http://schemas.microsoft.com/office/drawing/2014/main" id="{BECD6D16-E2D8-A48A-FB5A-CF972E1BB261}"/>
              </a:ext>
            </a:extLst>
          </p:cNvPr>
          <p:cNvPicPr>
            <a:picLocks noChangeAspect="1"/>
          </p:cNvPicPr>
          <p:nvPr/>
        </p:nvPicPr>
        <p:blipFill>
          <a:blip r:embed="rId3"/>
          <a:stretch>
            <a:fillRect/>
          </a:stretch>
        </p:blipFill>
        <p:spPr>
          <a:xfrm>
            <a:off x="1809527" y="3680778"/>
            <a:ext cx="8572945" cy="1144133"/>
          </a:xfrm>
          <a:prstGeom prst="rect">
            <a:avLst/>
          </a:prstGeom>
        </p:spPr>
      </p:pic>
      <p:sp>
        <p:nvSpPr>
          <p:cNvPr id="19" name="TextBox 18">
            <a:extLst>
              <a:ext uri="{FF2B5EF4-FFF2-40B4-BE49-F238E27FC236}">
                <a16:creationId xmlns:a16="http://schemas.microsoft.com/office/drawing/2014/main" id="{5A6F8C6E-DFAD-4429-2917-9456DB8E7A43}"/>
              </a:ext>
            </a:extLst>
          </p:cNvPr>
          <p:cNvSpPr txBox="1"/>
          <p:nvPr/>
        </p:nvSpPr>
        <p:spPr>
          <a:xfrm>
            <a:off x="5463678" y="5200825"/>
            <a:ext cx="1264641" cy="369332"/>
          </a:xfrm>
          <a:prstGeom prst="rect">
            <a:avLst/>
          </a:prstGeom>
          <a:noFill/>
        </p:spPr>
        <p:txBody>
          <a:bodyPr wrap="none" rtlCol="0">
            <a:spAutoFit/>
          </a:bodyPr>
          <a:lstStyle/>
          <a:p>
            <a:pPr algn="ctr"/>
            <a:r>
              <a:rPr lang="nb-NO" b="1" dirty="0" err="1"/>
              <a:t>Generally</a:t>
            </a:r>
            <a:r>
              <a:rPr lang="nb-NO" b="1" dirty="0"/>
              <a:t>:</a:t>
            </a:r>
          </a:p>
        </p:txBody>
      </p:sp>
      <p:pic>
        <p:nvPicPr>
          <p:cNvPr id="8" name="Picture 7">
            <a:extLst>
              <a:ext uri="{FF2B5EF4-FFF2-40B4-BE49-F238E27FC236}">
                <a16:creationId xmlns:a16="http://schemas.microsoft.com/office/drawing/2014/main" id="{9E241CA8-C340-6C09-7DDA-D666DC56ECBC}"/>
              </a:ext>
            </a:extLst>
          </p:cNvPr>
          <p:cNvPicPr>
            <a:picLocks noChangeAspect="1"/>
          </p:cNvPicPr>
          <p:nvPr/>
        </p:nvPicPr>
        <p:blipFill>
          <a:blip r:embed="rId4"/>
          <a:stretch>
            <a:fillRect/>
          </a:stretch>
        </p:blipFill>
        <p:spPr>
          <a:xfrm>
            <a:off x="4280549" y="5615462"/>
            <a:ext cx="3696216" cy="638264"/>
          </a:xfrm>
          <a:prstGeom prst="rect">
            <a:avLst/>
          </a:prstGeom>
        </p:spPr>
      </p:pic>
      <p:pic>
        <p:nvPicPr>
          <p:cNvPr id="13" name="Picture 12">
            <a:extLst>
              <a:ext uri="{FF2B5EF4-FFF2-40B4-BE49-F238E27FC236}">
                <a16:creationId xmlns:a16="http://schemas.microsoft.com/office/drawing/2014/main" id="{EABE9BDB-B414-8111-D414-F85041211BF4}"/>
              </a:ext>
            </a:extLst>
          </p:cNvPr>
          <p:cNvPicPr>
            <a:picLocks noChangeAspect="1"/>
          </p:cNvPicPr>
          <p:nvPr/>
        </p:nvPicPr>
        <p:blipFill>
          <a:blip r:embed="rId5"/>
          <a:stretch>
            <a:fillRect/>
          </a:stretch>
        </p:blipFill>
        <p:spPr>
          <a:xfrm>
            <a:off x="4237005" y="6075405"/>
            <a:ext cx="3867690" cy="609685"/>
          </a:xfrm>
          <a:prstGeom prst="rect">
            <a:avLst/>
          </a:prstGeom>
        </p:spPr>
      </p:pic>
      <p:pic>
        <p:nvPicPr>
          <p:cNvPr id="20" name="Picture 19">
            <a:extLst>
              <a:ext uri="{FF2B5EF4-FFF2-40B4-BE49-F238E27FC236}">
                <a16:creationId xmlns:a16="http://schemas.microsoft.com/office/drawing/2014/main" id="{E9210C35-47CB-C146-AD1E-70FF02893157}"/>
              </a:ext>
            </a:extLst>
          </p:cNvPr>
          <p:cNvPicPr>
            <a:picLocks noChangeAspect="1"/>
          </p:cNvPicPr>
          <p:nvPr/>
        </p:nvPicPr>
        <p:blipFill>
          <a:blip r:embed="rId6"/>
          <a:stretch>
            <a:fillRect/>
          </a:stretch>
        </p:blipFill>
        <p:spPr>
          <a:xfrm>
            <a:off x="1058149" y="2070428"/>
            <a:ext cx="9823701" cy="819799"/>
          </a:xfrm>
          <a:prstGeom prst="rect">
            <a:avLst/>
          </a:prstGeom>
        </p:spPr>
      </p:pic>
      <p:sp>
        <p:nvSpPr>
          <p:cNvPr id="22" name="Left Brace 21">
            <a:extLst>
              <a:ext uri="{FF2B5EF4-FFF2-40B4-BE49-F238E27FC236}">
                <a16:creationId xmlns:a16="http://schemas.microsoft.com/office/drawing/2014/main" id="{914E078B-9A20-2EF2-AA1B-E60137D39619}"/>
              </a:ext>
            </a:extLst>
          </p:cNvPr>
          <p:cNvSpPr/>
          <p:nvPr/>
        </p:nvSpPr>
        <p:spPr>
          <a:xfrm rot="5400000">
            <a:off x="3469414" y="-267680"/>
            <a:ext cx="435427" cy="456574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b-NO"/>
          </a:p>
        </p:txBody>
      </p:sp>
      <p:sp>
        <p:nvSpPr>
          <p:cNvPr id="23" name="Left Brace 22">
            <a:extLst>
              <a:ext uri="{FF2B5EF4-FFF2-40B4-BE49-F238E27FC236}">
                <a16:creationId xmlns:a16="http://schemas.microsoft.com/office/drawing/2014/main" id="{BF5A685D-4A1B-E3B1-3AA9-0C03F9024CD1}"/>
              </a:ext>
            </a:extLst>
          </p:cNvPr>
          <p:cNvSpPr/>
          <p:nvPr/>
        </p:nvSpPr>
        <p:spPr>
          <a:xfrm rot="5400000">
            <a:off x="8490154" y="69778"/>
            <a:ext cx="367157" cy="389082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b-NO"/>
          </a:p>
        </p:txBody>
      </p:sp>
      <p:sp>
        <p:nvSpPr>
          <p:cNvPr id="24" name="TextBox 23">
            <a:extLst>
              <a:ext uri="{FF2B5EF4-FFF2-40B4-BE49-F238E27FC236}">
                <a16:creationId xmlns:a16="http://schemas.microsoft.com/office/drawing/2014/main" id="{D4C19634-658D-92DB-730F-9FBC75850085}"/>
              </a:ext>
            </a:extLst>
          </p:cNvPr>
          <p:cNvSpPr txBox="1"/>
          <p:nvPr/>
        </p:nvSpPr>
        <p:spPr>
          <a:xfrm>
            <a:off x="2811502" y="1475082"/>
            <a:ext cx="1751249" cy="369332"/>
          </a:xfrm>
          <a:prstGeom prst="rect">
            <a:avLst/>
          </a:prstGeom>
          <a:noFill/>
        </p:spPr>
        <p:txBody>
          <a:bodyPr wrap="none" rtlCol="0">
            <a:spAutoFit/>
          </a:bodyPr>
          <a:lstStyle/>
          <a:p>
            <a:r>
              <a:rPr lang="nb-NO" dirty="0"/>
              <a:t>Power </a:t>
            </a:r>
            <a:r>
              <a:rPr lang="nb-NO" dirty="0" err="1"/>
              <a:t>revenues</a:t>
            </a:r>
            <a:endParaRPr lang="nb-NO" dirty="0"/>
          </a:p>
        </p:txBody>
      </p:sp>
      <p:sp>
        <p:nvSpPr>
          <p:cNvPr id="25" name="TextBox 24">
            <a:extLst>
              <a:ext uri="{FF2B5EF4-FFF2-40B4-BE49-F238E27FC236}">
                <a16:creationId xmlns:a16="http://schemas.microsoft.com/office/drawing/2014/main" id="{1E27EF33-35B7-A0A4-D342-BACA096785B9}"/>
              </a:ext>
            </a:extLst>
          </p:cNvPr>
          <p:cNvSpPr txBox="1"/>
          <p:nvPr/>
        </p:nvSpPr>
        <p:spPr>
          <a:xfrm>
            <a:off x="7798107" y="1475082"/>
            <a:ext cx="2101024" cy="369332"/>
          </a:xfrm>
          <a:prstGeom prst="rect">
            <a:avLst/>
          </a:prstGeom>
          <a:noFill/>
        </p:spPr>
        <p:txBody>
          <a:bodyPr wrap="none" rtlCol="0">
            <a:spAutoFit/>
          </a:bodyPr>
          <a:lstStyle/>
          <a:p>
            <a:r>
              <a:rPr lang="nb-NO" dirty="0" err="1"/>
              <a:t>Ammonia</a:t>
            </a:r>
            <a:r>
              <a:rPr lang="nb-NO" dirty="0"/>
              <a:t> </a:t>
            </a:r>
            <a:r>
              <a:rPr lang="nb-NO" dirty="0" err="1"/>
              <a:t>revenues</a:t>
            </a:r>
            <a:endParaRPr lang="nb-NO" dirty="0"/>
          </a:p>
        </p:txBody>
      </p:sp>
    </p:spTree>
    <p:extLst>
      <p:ext uri="{BB962C8B-B14F-4D97-AF65-F5344CB8AC3E}">
        <p14:creationId xmlns:p14="http://schemas.microsoft.com/office/powerpoint/2010/main" val="86605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69D9-364B-EC5B-4BE5-C0B2513BEF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52B8C3-F6C9-CE9A-FC20-7745DC506A73}"/>
              </a:ext>
            </a:extLst>
          </p:cNvPr>
          <p:cNvSpPr>
            <a:spLocks noGrp="1"/>
          </p:cNvSpPr>
          <p:nvPr>
            <p:ph type="title"/>
          </p:nvPr>
        </p:nvSpPr>
        <p:spPr>
          <a:xfrm>
            <a:off x="1092200" y="1885125"/>
            <a:ext cx="3068833" cy="2093975"/>
          </a:xfrm>
        </p:spPr>
        <p:txBody>
          <a:bodyPr anchor="ctr">
            <a:normAutofit/>
          </a:bodyPr>
          <a:lstStyle/>
          <a:p>
            <a:r>
              <a:rPr lang="nb-NO" sz="3400" dirty="0" err="1"/>
              <a:t>Results</a:t>
            </a:r>
            <a:endParaRPr lang="nb-NO" sz="3400" dirty="0"/>
          </a:p>
        </p:txBody>
      </p:sp>
    </p:spTree>
    <p:extLst>
      <p:ext uri="{BB962C8B-B14F-4D97-AF65-F5344CB8AC3E}">
        <p14:creationId xmlns:p14="http://schemas.microsoft.com/office/powerpoint/2010/main" val="2824338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02420D-D0B1-56D9-28E2-28DD701A8600}"/>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479233-F6EE-0D91-1AAB-2D3C05FC968A}"/>
              </a:ext>
            </a:extLst>
          </p:cNvPr>
          <p:cNvGrpSpPr/>
          <p:nvPr/>
        </p:nvGrpSpPr>
        <p:grpSpPr>
          <a:xfrm>
            <a:off x="1436915" y="225867"/>
            <a:ext cx="9014286" cy="5812951"/>
            <a:chOff x="21771" y="1348896"/>
            <a:chExt cx="6096255" cy="4207802"/>
          </a:xfrm>
        </p:grpSpPr>
        <p:pic>
          <p:nvPicPr>
            <p:cNvPr id="6" name="Picture 5">
              <a:extLst>
                <a:ext uri="{FF2B5EF4-FFF2-40B4-BE49-F238E27FC236}">
                  <a16:creationId xmlns:a16="http://schemas.microsoft.com/office/drawing/2014/main" id="{909D38E6-BC95-6B70-DD7A-01CC42A78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1" y="1776698"/>
              <a:ext cx="6096255" cy="3780000"/>
            </a:xfrm>
            <a:prstGeom prst="rect">
              <a:avLst/>
            </a:prstGeom>
          </p:spPr>
        </p:pic>
        <p:sp>
          <p:nvSpPr>
            <p:cNvPr id="9" name="TextBox 8">
              <a:extLst>
                <a:ext uri="{FF2B5EF4-FFF2-40B4-BE49-F238E27FC236}">
                  <a16:creationId xmlns:a16="http://schemas.microsoft.com/office/drawing/2014/main" id="{1D0A0AB4-2485-68BA-4465-B0550826AE7A}"/>
                </a:ext>
              </a:extLst>
            </p:cNvPr>
            <p:cNvSpPr txBox="1"/>
            <p:nvPr/>
          </p:nvSpPr>
          <p:spPr>
            <a:xfrm>
              <a:off x="517301" y="1348896"/>
              <a:ext cx="5472669" cy="378742"/>
            </a:xfrm>
            <a:prstGeom prst="rect">
              <a:avLst/>
            </a:prstGeom>
            <a:noFill/>
          </p:spPr>
          <p:txBody>
            <a:bodyPr wrap="none" rtlCol="0">
              <a:spAutoFit/>
            </a:bodyPr>
            <a:lstStyle/>
            <a:p>
              <a:pPr algn="ctr"/>
              <a:r>
                <a:rPr lang="nb-NO" sz="2800" b="1" dirty="0">
                  <a:solidFill>
                    <a:schemeClr val="tx1">
                      <a:lumMod val="75000"/>
                      <a:lumOff val="25000"/>
                    </a:schemeClr>
                  </a:solidFill>
                </a:rPr>
                <a:t>Power &amp; </a:t>
              </a:r>
              <a:r>
                <a:rPr lang="nb-NO" sz="2800" b="1" dirty="0" err="1">
                  <a:solidFill>
                    <a:schemeClr val="tx1">
                      <a:lumMod val="75000"/>
                      <a:lumOff val="25000"/>
                    </a:schemeClr>
                  </a:solidFill>
                </a:rPr>
                <a:t>ammonia</a:t>
              </a:r>
              <a:r>
                <a:rPr lang="nb-NO" sz="2800" b="1" dirty="0">
                  <a:solidFill>
                    <a:schemeClr val="tx1">
                      <a:lumMod val="75000"/>
                      <a:lumOff val="25000"/>
                    </a:schemeClr>
                  </a:solidFill>
                </a:rPr>
                <a:t> </a:t>
              </a:r>
              <a:r>
                <a:rPr lang="nb-NO" sz="2800" b="1" dirty="0" err="1">
                  <a:solidFill>
                    <a:schemeClr val="tx1">
                      <a:lumMod val="75000"/>
                      <a:lumOff val="25000"/>
                    </a:schemeClr>
                  </a:solidFill>
                </a:rPr>
                <a:t>production</a:t>
              </a:r>
              <a:r>
                <a:rPr lang="nb-NO" sz="2800" b="1" dirty="0">
                  <a:solidFill>
                    <a:schemeClr val="tx1">
                      <a:lumMod val="75000"/>
                      <a:lumOff val="25000"/>
                    </a:schemeClr>
                  </a:solidFill>
                </a:rPr>
                <a:t> </a:t>
              </a:r>
              <a:r>
                <a:rPr lang="nb-NO" sz="2800" b="1" dirty="0" err="1">
                  <a:solidFill>
                    <a:schemeClr val="tx1">
                      <a:lumMod val="75000"/>
                      <a:lumOff val="25000"/>
                    </a:schemeClr>
                  </a:solidFill>
                </a:rPr>
                <a:t>with</a:t>
              </a:r>
              <a:r>
                <a:rPr lang="nb-NO" sz="2800" b="1" dirty="0">
                  <a:solidFill>
                    <a:schemeClr val="tx1">
                      <a:lumMod val="75000"/>
                      <a:lumOff val="25000"/>
                    </a:schemeClr>
                  </a:solidFill>
                </a:rPr>
                <a:t> 2 E-SMR units</a:t>
              </a:r>
              <a:endParaRPr lang="nb-NO" sz="3200" b="1" dirty="0">
                <a:solidFill>
                  <a:schemeClr val="tx1">
                    <a:lumMod val="75000"/>
                    <a:lumOff val="25000"/>
                  </a:schemeClr>
                </a:solidFill>
              </a:endParaRPr>
            </a:p>
          </p:txBody>
        </p:sp>
      </p:grpSp>
      <p:sp>
        <p:nvSpPr>
          <p:cNvPr id="13" name="TextBox 12">
            <a:extLst>
              <a:ext uri="{FF2B5EF4-FFF2-40B4-BE49-F238E27FC236}">
                <a16:creationId xmlns:a16="http://schemas.microsoft.com/office/drawing/2014/main" id="{939738EF-034A-4D12-6D4B-F68BDB0EF14A}"/>
              </a:ext>
            </a:extLst>
          </p:cNvPr>
          <p:cNvSpPr txBox="1"/>
          <p:nvPr/>
        </p:nvSpPr>
        <p:spPr>
          <a:xfrm>
            <a:off x="4516713" y="6047358"/>
            <a:ext cx="3158574" cy="584775"/>
          </a:xfrm>
          <a:prstGeom prst="rect">
            <a:avLst/>
          </a:prstGeom>
          <a:noFill/>
          <a:ln>
            <a:solidFill>
              <a:schemeClr val="tx1"/>
            </a:solidFill>
          </a:ln>
        </p:spPr>
        <p:txBody>
          <a:bodyPr wrap="square" rtlCol="0">
            <a:spAutoFit/>
          </a:bodyPr>
          <a:lstStyle/>
          <a:p>
            <a:r>
              <a:rPr lang="nb-NO" sz="1600" b="1" dirty="0"/>
              <a:t>One SMR unit </a:t>
            </a:r>
            <a:r>
              <a:rPr lang="nb-NO" sz="1600" b="1" dirty="0" err="1"/>
              <a:t>can</a:t>
            </a:r>
            <a:r>
              <a:rPr lang="nb-NO" sz="1600" b="1" dirty="0"/>
              <a:t> </a:t>
            </a:r>
            <a:r>
              <a:rPr lang="nb-NO" sz="1600" b="1" dirty="0" err="1"/>
              <a:t>supply</a:t>
            </a:r>
            <a:r>
              <a:rPr lang="nb-NO" sz="1600" b="1" dirty="0"/>
              <a:t> </a:t>
            </a:r>
            <a:r>
              <a:rPr lang="nb-NO" sz="1600" b="1" dirty="0" err="1"/>
              <a:t>power</a:t>
            </a:r>
            <a:r>
              <a:rPr lang="nb-NO" sz="1600" b="1" dirty="0"/>
              <a:t> up to 453.8 </a:t>
            </a:r>
            <a:r>
              <a:rPr lang="nb-NO" sz="1600" b="1" dirty="0" err="1"/>
              <a:t>tpd</a:t>
            </a:r>
            <a:r>
              <a:rPr lang="nb-NO" sz="1600" b="1" dirty="0"/>
              <a:t>.</a:t>
            </a:r>
            <a:endParaRPr lang="nb-NO" b="1" dirty="0"/>
          </a:p>
        </p:txBody>
      </p:sp>
    </p:spTree>
    <p:extLst>
      <p:ext uri="{BB962C8B-B14F-4D97-AF65-F5344CB8AC3E}">
        <p14:creationId xmlns:p14="http://schemas.microsoft.com/office/powerpoint/2010/main" val="445883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F2CDD6-91D3-1636-34E2-8A765B81D22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6BB0050-BA72-B098-C191-B917E2A5F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8046" y="1000018"/>
            <a:ext cx="9095267" cy="5639548"/>
          </a:xfrm>
          <a:prstGeom prst="rect">
            <a:avLst/>
          </a:prstGeom>
        </p:spPr>
      </p:pic>
      <p:sp>
        <p:nvSpPr>
          <p:cNvPr id="11" name="TextBox 10">
            <a:extLst>
              <a:ext uri="{FF2B5EF4-FFF2-40B4-BE49-F238E27FC236}">
                <a16:creationId xmlns:a16="http://schemas.microsoft.com/office/drawing/2014/main" id="{748B4020-CFEC-6AF8-AD57-991D8E9E1178}"/>
              </a:ext>
            </a:extLst>
          </p:cNvPr>
          <p:cNvSpPr txBox="1"/>
          <p:nvPr/>
        </p:nvSpPr>
        <p:spPr>
          <a:xfrm>
            <a:off x="736885" y="302626"/>
            <a:ext cx="10718230" cy="523220"/>
          </a:xfrm>
          <a:prstGeom prst="rect">
            <a:avLst/>
          </a:prstGeom>
          <a:noFill/>
        </p:spPr>
        <p:txBody>
          <a:bodyPr wrap="square" rtlCol="0">
            <a:spAutoFit/>
          </a:bodyPr>
          <a:lstStyle/>
          <a:p>
            <a:pPr algn="ctr"/>
            <a:r>
              <a:rPr lang="nb-NO" sz="2800" b="1" dirty="0" err="1"/>
              <a:t>Thermal</a:t>
            </a:r>
            <a:r>
              <a:rPr lang="nb-NO" sz="2800" b="1" dirty="0"/>
              <a:t> to </a:t>
            </a:r>
            <a:r>
              <a:rPr lang="nb-NO" sz="2800" b="1" dirty="0" err="1"/>
              <a:t>net</a:t>
            </a:r>
            <a:r>
              <a:rPr lang="nb-NO" sz="2800" b="1" dirty="0"/>
              <a:t> </a:t>
            </a:r>
            <a:r>
              <a:rPr lang="nb-NO" sz="2800" b="1" dirty="0" err="1"/>
              <a:t>electric</a:t>
            </a:r>
            <a:r>
              <a:rPr lang="nb-NO" sz="2800" b="1" dirty="0"/>
              <a:t>, </a:t>
            </a:r>
            <a:r>
              <a:rPr lang="nb-NO" sz="2800" b="1" dirty="0" err="1"/>
              <a:t>ammonia</a:t>
            </a:r>
            <a:r>
              <a:rPr lang="nb-NO" sz="2800" b="1" dirty="0"/>
              <a:t>, and </a:t>
            </a:r>
            <a:r>
              <a:rPr lang="nb-NO" sz="2800" b="1" dirty="0" err="1"/>
              <a:t>cogeneration</a:t>
            </a:r>
            <a:r>
              <a:rPr lang="nb-NO" sz="2800" b="1" dirty="0"/>
              <a:t> </a:t>
            </a:r>
            <a:r>
              <a:rPr lang="nb-NO" sz="2800" b="1" dirty="0" err="1"/>
              <a:t>efficiency</a:t>
            </a:r>
            <a:endParaRPr lang="nb-NO" sz="3200" b="1" dirty="0"/>
          </a:p>
        </p:txBody>
      </p:sp>
    </p:spTree>
    <p:extLst>
      <p:ext uri="{BB962C8B-B14F-4D97-AF65-F5344CB8AC3E}">
        <p14:creationId xmlns:p14="http://schemas.microsoft.com/office/powerpoint/2010/main" val="1781466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9E9CAC-27B2-E6D4-124C-8D6AB89EC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345B3-B1DC-36E0-2611-3DF0F2D11ED3}"/>
              </a:ext>
            </a:extLst>
          </p:cNvPr>
          <p:cNvSpPr>
            <a:spLocks noGrp="1"/>
          </p:cNvSpPr>
          <p:nvPr>
            <p:ph type="title"/>
          </p:nvPr>
        </p:nvSpPr>
        <p:spPr>
          <a:xfrm>
            <a:off x="522515" y="0"/>
            <a:ext cx="11669485" cy="909392"/>
          </a:xfrm>
        </p:spPr>
        <p:txBody>
          <a:bodyPr>
            <a:normAutofit/>
          </a:bodyPr>
          <a:lstStyle/>
          <a:p>
            <a:pPr algn="ctr"/>
            <a:r>
              <a:rPr lang="nb-NO" sz="2800" b="1" dirty="0">
                <a:solidFill>
                  <a:schemeClr val="tx1">
                    <a:lumMod val="75000"/>
                    <a:lumOff val="25000"/>
                  </a:schemeClr>
                </a:solidFill>
              </a:rPr>
              <a:t>Marginal break-</a:t>
            </a:r>
            <a:r>
              <a:rPr lang="nb-NO" sz="2800" b="1" dirty="0" err="1">
                <a:solidFill>
                  <a:schemeClr val="tx1">
                    <a:lumMod val="75000"/>
                    <a:lumOff val="25000"/>
                  </a:schemeClr>
                </a:solidFill>
              </a:rPr>
              <a:t>even</a:t>
            </a:r>
            <a:r>
              <a:rPr lang="nb-NO" sz="2800" b="1" dirty="0">
                <a:solidFill>
                  <a:schemeClr val="tx1">
                    <a:lumMod val="75000"/>
                    <a:lumOff val="25000"/>
                  </a:schemeClr>
                </a:solidFill>
              </a:rPr>
              <a:t> </a:t>
            </a:r>
            <a:r>
              <a:rPr lang="nb-NO" sz="2800" b="1" dirty="0" err="1">
                <a:solidFill>
                  <a:schemeClr val="tx1">
                    <a:lumMod val="75000"/>
                    <a:lumOff val="25000"/>
                  </a:schemeClr>
                </a:solidFill>
              </a:rPr>
              <a:t>electricity</a:t>
            </a:r>
            <a:r>
              <a:rPr lang="nb-NO" sz="2800" b="1" dirty="0">
                <a:solidFill>
                  <a:schemeClr val="tx1">
                    <a:lumMod val="75000"/>
                    <a:lumOff val="25000"/>
                  </a:schemeClr>
                </a:solidFill>
              </a:rPr>
              <a:t> </a:t>
            </a:r>
            <a:r>
              <a:rPr lang="nb-NO" sz="2800" b="1" dirty="0" err="1">
                <a:solidFill>
                  <a:schemeClr val="tx1">
                    <a:lumMod val="75000"/>
                    <a:lumOff val="25000"/>
                  </a:schemeClr>
                </a:solidFill>
              </a:rPr>
              <a:t>price</a:t>
            </a:r>
            <a:endParaRPr lang="nb-NO" sz="3200" dirty="0">
              <a:solidFill>
                <a:schemeClr val="tx1">
                  <a:lumMod val="75000"/>
                  <a:lumOff val="25000"/>
                </a:schemeClr>
              </a:solidFill>
            </a:endParaRPr>
          </a:p>
        </p:txBody>
      </p:sp>
      <p:sp>
        <p:nvSpPr>
          <p:cNvPr id="12" name="TextBox 11">
            <a:extLst>
              <a:ext uri="{FF2B5EF4-FFF2-40B4-BE49-F238E27FC236}">
                <a16:creationId xmlns:a16="http://schemas.microsoft.com/office/drawing/2014/main" id="{75B08F03-DE6A-BF1C-4DE2-052D00D0D18B}"/>
              </a:ext>
            </a:extLst>
          </p:cNvPr>
          <p:cNvSpPr txBox="1"/>
          <p:nvPr/>
        </p:nvSpPr>
        <p:spPr>
          <a:xfrm>
            <a:off x="-1" y="6488668"/>
            <a:ext cx="2173993" cy="338554"/>
          </a:xfrm>
          <a:prstGeom prst="rect">
            <a:avLst/>
          </a:prstGeom>
          <a:noFill/>
        </p:spPr>
        <p:txBody>
          <a:bodyPr wrap="none" rtlCol="0">
            <a:spAutoFit/>
          </a:bodyPr>
          <a:lstStyle/>
          <a:p>
            <a:r>
              <a:rPr lang="nb-NO" sz="1600" dirty="0">
                <a:solidFill>
                  <a:schemeClr val="tx1">
                    <a:lumMod val="75000"/>
                    <a:lumOff val="25000"/>
                  </a:schemeClr>
                </a:solidFill>
              </a:rPr>
              <a:t>(500 </a:t>
            </a:r>
            <a:r>
              <a:rPr lang="nb-NO" sz="1600" dirty="0" err="1">
                <a:solidFill>
                  <a:schemeClr val="tx1">
                    <a:lumMod val="75000"/>
                    <a:lumOff val="25000"/>
                  </a:schemeClr>
                </a:solidFill>
              </a:rPr>
              <a:t>tpd</a:t>
            </a:r>
            <a:r>
              <a:rPr lang="nb-NO" sz="1600" dirty="0">
                <a:solidFill>
                  <a:schemeClr val="tx1">
                    <a:lumMod val="75000"/>
                    <a:lumOff val="25000"/>
                  </a:schemeClr>
                </a:solidFill>
              </a:rPr>
              <a:t> nominal </a:t>
            </a:r>
            <a:r>
              <a:rPr lang="nb-NO" sz="1600" dirty="0" err="1">
                <a:solidFill>
                  <a:schemeClr val="tx1">
                    <a:lumMod val="75000"/>
                    <a:lumOff val="25000"/>
                  </a:schemeClr>
                </a:solidFill>
              </a:rPr>
              <a:t>load</a:t>
            </a:r>
            <a:r>
              <a:rPr lang="nb-NO" sz="1600" dirty="0">
                <a:solidFill>
                  <a:schemeClr val="tx1">
                    <a:lumMod val="75000"/>
                    <a:lumOff val="25000"/>
                  </a:schemeClr>
                </a:solidFill>
              </a:rPr>
              <a:t>)</a:t>
            </a:r>
            <a:endParaRPr lang="nb-NO" sz="1600" dirty="0"/>
          </a:p>
        </p:txBody>
      </p:sp>
      <p:pic>
        <p:nvPicPr>
          <p:cNvPr id="14" name="Picture 13">
            <a:extLst>
              <a:ext uri="{FF2B5EF4-FFF2-40B4-BE49-F238E27FC236}">
                <a16:creationId xmlns:a16="http://schemas.microsoft.com/office/drawing/2014/main" id="{1AA9E1E6-ADBB-C0C8-14B4-88EEB0D92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3613" y="626485"/>
            <a:ext cx="9205530" cy="5862183"/>
          </a:xfrm>
          <a:prstGeom prst="rect">
            <a:avLst/>
          </a:prstGeom>
        </p:spPr>
      </p:pic>
    </p:spTree>
    <p:extLst>
      <p:ext uri="{BB962C8B-B14F-4D97-AF65-F5344CB8AC3E}">
        <p14:creationId xmlns:p14="http://schemas.microsoft.com/office/powerpoint/2010/main" val="2028126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AD1E62C-494E-C0A4-3088-BD46E0A8977C}"/>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9900A10-C497-489F-EFDA-35BAD7AEBC74}"/>
              </a:ext>
            </a:extLst>
          </p:cNvPr>
          <p:cNvSpPr>
            <a:spLocks noGrp="1"/>
          </p:cNvSpPr>
          <p:nvPr>
            <p:ph type="title"/>
          </p:nvPr>
        </p:nvSpPr>
        <p:spPr>
          <a:xfrm>
            <a:off x="3775256" y="119074"/>
            <a:ext cx="4641487" cy="769095"/>
          </a:xfrm>
        </p:spPr>
        <p:txBody>
          <a:bodyPr>
            <a:noAutofit/>
          </a:bodyPr>
          <a:lstStyle/>
          <a:p>
            <a:pPr algn="ctr"/>
            <a:r>
              <a:rPr lang="nb-NO" sz="2800" b="1" dirty="0" err="1">
                <a:solidFill>
                  <a:schemeClr val="tx1">
                    <a:lumMod val="75000"/>
                    <a:lumOff val="25000"/>
                  </a:schemeClr>
                </a:solidFill>
              </a:rPr>
              <a:t>Maximized</a:t>
            </a:r>
            <a:r>
              <a:rPr lang="nb-NO" sz="2800" b="1" dirty="0">
                <a:solidFill>
                  <a:schemeClr val="tx1">
                    <a:lumMod val="75000"/>
                    <a:lumOff val="25000"/>
                  </a:schemeClr>
                </a:solidFill>
              </a:rPr>
              <a:t> </a:t>
            </a:r>
            <a:r>
              <a:rPr lang="nb-NO" sz="2800" b="1" dirty="0" err="1">
                <a:solidFill>
                  <a:schemeClr val="tx1">
                    <a:lumMod val="75000"/>
                    <a:lumOff val="25000"/>
                  </a:schemeClr>
                </a:solidFill>
              </a:rPr>
              <a:t>profits</a:t>
            </a:r>
            <a:r>
              <a:rPr lang="nb-NO" sz="2800" b="1" dirty="0">
                <a:solidFill>
                  <a:schemeClr val="tx1">
                    <a:lumMod val="75000"/>
                    <a:lumOff val="25000"/>
                  </a:schemeClr>
                </a:solidFill>
              </a:rPr>
              <a:t> per </a:t>
            </a:r>
            <a:r>
              <a:rPr lang="nb-NO" sz="2800" b="1" dirty="0" err="1">
                <a:solidFill>
                  <a:schemeClr val="tx1">
                    <a:lumMod val="75000"/>
                    <a:lumOff val="25000"/>
                  </a:schemeClr>
                </a:solidFill>
              </a:rPr>
              <a:t>market</a:t>
            </a:r>
            <a:endParaRPr lang="nb-NO" sz="2800" b="1" dirty="0">
              <a:solidFill>
                <a:schemeClr val="tx1">
                  <a:lumMod val="75000"/>
                  <a:lumOff val="25000"/>
                </a:schemeClr>
              </a:solidFill>
            </a:endParaRPr>
          </a:p>
        </p:txBody>
      </p:sp>
      <p:sp>
        <p:nvSpPr>
          <p:cNvPr id="2" name="TextBox 1">
            <a:extLst>
              <a:ext uri="{FF2B5EF4-FFF2-40B4-BE49-F238E27FC236}">
                <a16:creationId xmlns:a16="http://schemas.microsoft.com/office/drawing/2014/main" id="{BAC37350-35DB-F27C-663D-D7EF14825B49}"/>
              </a:ext>
            </a:extLst>
          </p:cNvPr>
          <p:cNvSpPr txBox="1"/>
          <p:nvPr/>
        </p:nvSpPr>
        <p:spPr>
          <a:xfrm>
            <a:off x="-1" y="6488668"/>
            <a:ext cx="2173993" cy="338554"/>
          </a:xfrm>
          <a:prstGeom prst="rect">
            <a:avLst/>
          </a:prstGeom>
          <a:noFill/>
        </p:spPr>
        <p:txBody>
          <a:bodyPr wrap="none" rtlCol="0">
            <a:spAutoFit/>
          </a:bodyPr>
          <a:lstStyle/>
          <a:p>
            <a:r>
              <a:rPr lang="nb-NO" sz="1600" dirty="0">
                <a:solidFill>
                  <a:schemeClr val="tx1">
                    <a:lumMod val="75000"/>
                    <a:lumOff val="25000"/>
                  </a:schemeClr>
                </a:solidFill>
              </a:rPr>
              <a:t>(500 </a:t>
            </a:r>
            <a:r>
              <a:rPr lang="nb-NO" sz="1600" dirty="0" err="1">
                <a:solidFill>
                  <a:schemeClr val="tx1">
                    <a:lumMod val="75000"/>
                    <a:lumOff val="25000"/>
                  </a:schemeClr>
                </a:solidFill>
              </a:rPr>
              <a:t>tpd</a:t>
            </a:r>
            <a:r>
              <a:rPr lang="nb-NO" sz="1600" dirty="0">
                <a:solidFill>
                  <a:schemeClr val="tx1">
                    <a:lumMod val="75000"/>
                    <a:lumOff val="25000"/>
                  </a:schemeClr>
                </a:solidFill>
              </a:rPr>
              <a:t> nominal </a:t>
            </a:r>
            <a:r>
              <a:rPr lang="nb-NO" sz="1600" dirty="0" err="1">
                <a:solidFill>
                  <a:schemeClr val="tx1">
                    <a:lumMod val="75000"/>
                    <a:lumOff val="25000"/>
                  </a:schemeClr>
                </a:solidFill>
              </a:rPr>
              <a:t>load</a:t>
            </a:r>
            <a:r>
              <a:rPr lang="nb-NO" sz="1600" dirty="0">
                <a:solidFill>
                  <a:schemeClr val="tx1">
                    <a:lumMod val="75000"/>
                    <a:lumOff val="25000"/>
                  </a:schemeClr>
                </a:solidFill>
              </a:rPr>
              <a:t>)</a:t>
            </a:r>
            <a:endParaRPr lang="nb-NO" sz="1600" dirty="0"/>
          </a:p>
        </p:txBody>
      </p:sp>
      <p:pic>
        <p:nvPicPr>
          <p:cNvPr id="5" name="Picture 4">
            <a:extLst>
              <a:ext uri="{FF2B5EF4-FFF2-40B4-BE49-F238E27FC236}">
                <a16:creationId xmlns:a16="http://schemas.microsoft.com/office/drawing/2014/main" id="{23AC516F-BDDF-6451-1E3F-90DEC81851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9175" y="678505"/>
            <a:ext cx="8108234" cy="6060421"/>
          </a:xfrm>
          <a:prstGeom prst="rect">
            <a:avLst/>
          </a:prstGeom>
        </p:spPr>
      </p:pic>
    </p:spTree>
    <p:extLst>
      <p:ext uri="{BB962C8B-B14F-4D97-AF65-F5344CB8AC3E}">
        <p14:creationId xmlns:p14="http://schemas.microsoft.com/office/powerpoint/2010/main" val="3340445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65C0379C-A104-A436-47DB-658D98437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4C52D-3A89-66E8-95FC-E1BA5C9109BE}"/>
              </a:ext>
            </a:extLst>
          </p:cNvPr>
          <p:cNvSpPr>
            <a:spLocks noGrp="1"/>
          </p:cNvSpPr>
          <p:nvPr>
            <p:ph type="title"/>
          </p:nvPr>
        </p:nvSpPr>
        <p:spPr>
          <a:xfrm>
            <a:off x="49971" y="58111"/>
            <a:ext cx="2840407" cy="1325563"/>
          </a:xfrm>
        </p:spPr>
        <p:txBody>
          <a:bodyPr>
            <a:noAutofit/>
          </a:bodyPr>
          <a:lstStyle/>
          <a:p>
            <a:pPr algn="ctr"/>
            <a:r>
              <a:rPr lang="nb-NO" sz="2400" b="1" dirty="0">
                <a:solidFill>
                  <a:schemeClr val="tx1">
                    <a:lumMod val="75000"/>
                    <a:lumOff val="25000"/>
                  </a:schemeClr>
                </a:solidFill>
              </a:rPr>
              <a:t>Mode </a:t>
            </a:r>
            <a:r>
              <a:rPr lang="nb-NO" sz="2400" b="1" dirty="0" err="1">
                <a:solidFill>
                  <a:schemeClr val="tx1">
                    <a:lumMod val="75000"/>
                    <a:lumOff val="25000"/>
                  </a:schemeClr>
                </a:solidFill>
              </a:rPr>
              <a:t>of</a:t>
            </a:r>
            <a:r>
              <a:rPr lang="nb-NO" sz="2400" b="1" dirty="0">
                <a:solidFill>
                  <a:schemeClr val="tx1">
                    <a:lumMod val="75000"/>
                    <a:lumOff val="25000"/>
                  </a:schemeClr>
                </a:solidFill>
              </a:rPr>
              <a:t> </a:t>
            </a:r>
            <a:r>
              <a:rPr lang="nb-NO" sz="2400" b="1" dirty="0" err="1">
                <a:solidFill>
                  <a:schemeClr val="tx1">
                    <a:lumMod val="75000"/>
                    <a:lumOff val="25000"/>
                  </a:schemeClr>
                </a:solidFill>
              </a:rPr>
              <a:t>operation</a:t>
            </a:r>
            <a:r>
              <a:rPr lang="nb-NO" sz="2400" b="1" dirty="0">
                <a:solidFill>
                  <a:schemeClr val="tx1">
                    <a:lumMod val="75000"/>
                    <a:lumOff val="25000"/>
                  </a:schemeClr>
                </a:solidFill>
              </a:rPr>
              <a:t> </a:t>
            </a:r>
            <a:r>
              <a:rPr lang="nb-NO" sz="2400" b="1" dirty="0" err="1">
                <a:solidFill>
                  <a:schemeClr val="tx1">
                    <a:lumMod val="75000"/>
                    <a:lumOff val="25000"/>
                  </a:schemeClr>
                </a:solidFill>
              </a:rPr>
              <a:t>based</a:t>
            </a:r>
            <a:r>
              <a:rPr lang="nb-NO" sz="2400" b="1" dirty="0">
                <a:solidFill>
                  <a:schemeClr val="tx1">
                    <a:lumMod val="75000"/>
                    <a:lumOff val="25000"/>
                  </a:schemeClr>
                </a:solidFill>
              </a:rPr>
              <a:t> </a:t>
            </a:r>
            <a:r>
              <a:rPr lang="nb-NO" sz="2400" b="1" dirty="0" err="1">
                <a:solidFill>
                  <a:schemeClr val="tx1">
                    <a:lumMod val="75000"/>
                    <a:lumOff val="25000"/>
                  </a:schemeClr>
                </a:solidFill>
              </a:rPr>
              <a:t>on</a:t>
            </a:r>
            <a:r>
              <a:rPr lang="nb-NO" sz="2400" b="1" dirty="0">
                <a:solidFill>
                  <a:schemeClr val="tx1">
                    <a:lumMod val="75000"/>
                    <a:lumOff val="25000"/>
                  </a:schemeClr>
                </a:solidFill>
              </a:rPr>
              <a:t> </a:t>
            </a:r>
            <a:r>
              <a:rPr lang="nb-NO" sz="2400" b="1" dirty="0" err="1">
                <a:solidFill>
                  <a:schemeClr val="tx1">
                    <a:lumMod val="75000"/>
                    <a:lumOff val="25000"/>
                  </a:schemeClr>
                </a:solidFill>
              </a:rPr>
              <a:t>market</a:t>
            </a:r>
            <a:r>
              <a:rPr lang="nb-NO" sz="2400" b="1" dirty="0">
                <a:solidFill>
                  <a:schemeClr val="tx1">
                    <a:lumMod val="75000"/>
                    <a:lumOff val="25000"/>
                  </a:schemeClr>
                </a:solidFill>
              </a:rPr>
              <a:t> </a:t>
            </a:r>
            <a:r>
              <a:rPr lang="nb-NO" sz="2400" b="1" dirty="0" err="1">
                <a:solidFill>
                  <a:schemeClr val="tx1">
                    <a:lumMod val="75000"/>
                    <a:lumOff val="25000"/>
                  </a:schemeClr>
                </a:solidFill>
              </a:rPr>
              <a:t>volatility</a:t>
            </a:r>
            <a:endParaRPr lang="nb-NO" sz="2400" b="1" dirty="0">
              <a:solidFill>
                <a:schemeClr val="tx1">
                  <a:lumMod val="75000"/>
                  <a:lumOff val="25000"/>
                </a:schemeClr>
              </a:solidFill>
            </a:endParaRPr>
          </a:p>
        </p:txBody>
      </p:sp>
      <p:sp>
        <p:nvSpPr>
          <p:cNvPr id="3" name="TextBox 2">
            <a:extLst>
              <a:ext uri="{FF2B5EF4-FFF2-40B4-BE49-F238E27FC236}">
                <a16:creationId xmlns:a16="http://schemas.microsoft.com/office/drawing/2014/main" id="{877AA896-641B-03E6-DE68-75D352049661}"/>
              </a:ext>
            </a:extLst>
          </p:cNvPr>
          <p:cNvSpPr txBox="1"/>
          <p:nvPr/>
        </p:nvSpPr>
        <p:spPr>
          <a:xfrm>
            <a:off x="49971" y="2745576"/>
            <a:ext cx="2840407" cy="2369880"/>
          </a:xfrm>
          <a:prstGeom prst="rect">
            <a:avLst/>
          </a:prstGeom>
          <a:noFill/>
        </p:spPr>
        <p:txBody>
          <a:bodyPr wrap="square" rtlCol="0">
            <a:spAutoFit/>
          </a:bodyPr>
          <a:lstStyle/>
          <a:p>
            <a:pPr marL="285750" indent="-285750">
              <a:buFont typeface="Arial" panose="020B0604020202020204" pitchFamily="34" charset="0"/>
              <a:buChar char="•"/>
            </a:pPr>
            <a:r>
              <a:rPr lang="en-US" sz="1600" dirty="0"/>
              <a:t>Frequency of 2025 power prices in each market.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MBEP at nominal capacity (500 </a:t>
            </a:r>
            <a:r>
              <a:rPr lang="en-US" sz="1600" dirty="0" err="1"/>
              <a:t>tpd</a:t>
            </a:r>
            <a:r>
              <a:rPr lang="en-US" sz="1600" dirty="0"/>
              <a:t>)  and an ammonia price of 700 €/t.</a:t>
            </a:r>
          </a:p>
          <a:p>
            <a:endParaRPr lang="en-US" dirty="0"/>
          </a:p>
          <a:p>
            <a:pPr marL="285750" indent="-285750">
              <a:buFont typeface="Arial" panose="020B0604020202020204" pitchFamily="34" charset="0"/>
              <a:buChar char="•"/>
            </a:pPr>
            <a:endParaRPr lang="nb-NO" dirty="0"/>
          </a:p>
        </p:txBody>
      </p:sp>
      <p:grpSp>
        <p:nvGrpSpPr>
          <p:cNvPr id="10" name="Group 9">
            <a:extLst>
              <a:ext uri="{FF2B5EF4-FFF2-40B4-BE49-F238E27FC236}">
                <a16:creationId xmlns:a16="http://schemas.microsoft.com/office/drawing/2014/main" id="{11AA6466-76B8-629F-058F-8682B45C5881}"/>
              </a:ext>
            </a:extLst>
          </p:cNvPr>
          <p:cNvGrpSpPr/>
          <p:nvPr/>
        </p:nvGrpSpPr>
        <p:grpSpPr>
          <a:xfrm>
            <a:off x="2890379" y="21772"/>
            <a:ext cx="9312508" cy="6784451"/>
            <a:chOff x="3244686" y="74340"/>
            <a:chExt cx="8947314" cy="6535935"/>
          </a:xfrm>
        </p:grpSpPr>
        <p:pic>
          <p:nvPicPr>
            <p:cNvPr id="20" name="Picture 19">
              <a:extLst>
                <a:ext uri="{FF2B5EF4-FFF2-40B4-BE49-F238E27FC236}">
                  <a16:creationId xmlns:a16="http://schemas.microsoft.com/office/drawing/2014/main" id="{F403C77F-682F-2E35-C7EA-F4D09E78E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690" y="3354336"/>
              <a:ext cx="4443450" cy="3255939"/>
            </a:xfrm>
            <a:prstGeom prst="rect">
              <a:avLst/>
            </a:prstGeom>
          </p:spPr>
        </p:pic>
        <p:pic>
          <p:nvPicPr>
            <p:cNvPr id="24" name="Picture 23">
              <a:extLst>
                <a:ext uri="{FF2B5EF4-FFF2-40B4-BE49-F238E27FC236}">
                  <a16:creationId xmlns:a16="http://schemas.microsoft.com/office/drawing/2014/main" id="{202F1AEB-BF50-E143-D479-958E334EC2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2850" y="75087"/>
              <a:ext cx="4490951" cy="3255939"/>
            </a:xfrm>
            <a:prstGeom prst="rect">
              <a:avLst/>
            </a:prstGeom>
          </p:spPr>
        </p:pic>
        <p:sp>
          <p:nvSpPr>
            <p:cNvPr id="17" name="TextBox 16">
              <a:extLst>
                <a:ext uri="{FF2B5EF4-FFF2-40B4-BE49-F238E27FC236}">
                  <a16:creationId xmlns:a16="http://schemas.microsoft.com/office/drawing/2014/main" id="{51FB9936-33B4-FD90-31C0-B6EA8A97D599}"/>
                </a:ext>
              </a:extLst>
            </p:cNvPr>
            <p:cNvSpPr txBox="1"/>
            <p:nvPr/>
          </p:nvSpPr>
          <p:spPr>
            <a:xfrm>
              <a:off x="5369572" y="3679965"/>
              <a:ext cx="673582" cy="261610"/>
            </a:xfrm>
            <a:prstGeom prst="rect">
              <a:avLst/>
            </a:prstGeom>
            <a:noFill/>
          </p:spPr>
          <p:txBody>
            <a:bodyPr wrap="none" rtlCol="0">
              <a:spAutoFit/>
            </a:bodyPr>
            <a:lstStyle/>
            <a:p>
              <a:r>
                <a:rPr lang="nb-NO" sz="1100" b="1" dirty="0"/>
                <a:t>Norway</a:t>
              </a:r>
              <a:endParaRPr lang="nb-NO" b="1" dirty="0"/>
            </a:p>
          </p:txBody>
        </p:sp>
        <p:pic>
          <p:nvPicPr>
            <p:cNvPr id="26" name="Picture 25">
              <a:extLst>
                <a:ext uri="{FF2B5EF4-FFF2-40B4-BE49-F238E27FC236}">
                  <a16:creationId xmlns:a16="http://schemas.microsoft.com/office/drawing/2014/main" id="{0AC28D33-CA6C-FFD2-EFA6-2A6CBDD072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1049" y="3347156"/>
              <a:ext cx="4490951" cy="3255939"/>
            </a:xfrm>
            <a:prstGeom prst="rect">
              <a:avLst/>
            </a:prstGeom>
          </p:spPr>
        </p:pic>
        <p:sp>
          <p:nvSpPr>
            <p:cNvPr id="15" name="TextBox 14">
              <a:extLst>
                <a:ext uri="{FF2B5EF4-FFF2-40B4-BE49-F238E27FC236}">
                  <a16:creationId xmlns:a16="http://schemas.microsoft.com/office/drawing/2014/main" id="{42A89F12-B745-04D5-24E4-F1D9DF0263DB}"/>
                </a:ext>
              </a:extLst>
            </p:cNvPr>
            <p:cNvSpPr txBox="1"/>
            <p:nvPr/>
          </p:nvSpPr>
          <p:spPr>
            <a:xfrm>
              <a:off x="9673859" y="568930"/>
              <a:ext cx="1212191" cy="261610"/>
            </a:xfrm>
            <a:prstGeom prst="rect">
              <a:avLst/>
            </a:prstGeom>
            <a:noFill/>
          </p:spPr>
          <p:txBody>
            <a:bodyPr wrap="none" rtlCol="0">
              <a:spAutoFit/>
            </a:bodyPr>
            <a:lstStyle/>
            <a:p>
              <a:r>
                <a:rPr lang="nb-NO" sz="1100" b="1" dirty="0"/>
                <a:t>United Kingdom</a:t>
              </a:r>
              <a:endParaRPr lang="nb-NO" b="1" dirty="0"/>
            </a:p>
          </p:txBody>
        </p:sp>
        <p:sp>
          <p:nvSpPr>
            <p:cNvPr id="16" name="TextBox 15">
              <a:extLst>
                <a:ext uri="{FF2B5EF4-FFF2-40B4-BE49-F238E27FC236}">
                  <a16:creationId xmlns:a16="http://schemas.microsoft.com/office/drawing/2014/main" id="{6C815030-D66B-C6F3-8265-EC2C1900FD5C}"/>
                </a:ext>
              </a:extLst>
            </p:cNvPr>
            <p:cNvSpPr txBox="1"/>
            <p:nvPr/>
          </p:nvSpPr>
          <p:spPr>
            <a:xfrm>
              <a:off x="10050343" y="3679965"/>
              <a:ext cx="699230" cy="261610"/>
            </a:xfrm>
            <a:prstGeom prst="rect">
              <a:avLst/>
            </a:prstGeom>
            <a:noFill/>
          </p:spPr>
          <p:txBody>
            <a:bodyPr wrap="none" rtlCol="0">
              <a:spAutoFit/>
            </a:bodyPr>
            <a:lstStyle/>
            <a:p>
              <a:r>
                <a:rPr lang="nb-NO" sz="1050" b="1" dirty="0" err="1"/>
                <a:t>Sweden</a:t>
              </a:r>
              <a:endParaRPr lang="nb-NO" sz="1050" b="1" dirty="0"/>
            </a:p>
          </p:txBody>
        </p:sp>
        <p:pic>
          <p:nvPicPr>
            <p:cNvPr id="6" name="Picture 5">
              <a:extLst>
                <a:ext uri="{FF2B5EF4-FFF2-40B4-BE49-F238E27FC236}">
                  <a16:creationId xmlns:a16="http://schemas.microsoft.com/office/drawing/2014/main" id="{6451D4CB-58D5-AED0-03DE-22C1095B86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44686" y="74340"/>
              <a:ext cx="4443450" cy="3255939"/>
            </a:xfrm>
            <a:prstGeom prst="rect">
              <a:avLst/>
            </a:prstGeom>
          </p:spPr>
        </p:pic>
        <p:sp>
          <p:nvSpPr>
            <p:cNvPr id="9" name="TextBox 8">
              <a:extLst>
                <a:ext uri="{FF2B5EF4-FFF2-40B4-BE49-F238E27FC236}">
                  <a16:creationId xmlns:a16="http://schemas.microsoft.com/office/drawing/2014/main" id="{67FD4EDE-D48E-1718-C686-D8C7AA27EFB0}"/>
                </a:ext>
              </a:extLst>
            </p:cNvPr>
            <p:cNvSpPr txBox="1"/>
            <p:nvPr/>
          </p:nvSpPr>
          <p:spPr>
            <a:xfrm>
              <a:off x="5369572" y="568930"/>
              <a:ext cx="635110" cy="261610"/>
            </a:xfrm>
            <a:prstGeom prst="rect">
              <a:avLst/>
            </a:prstGeom>
            <a:noFill/>
          </p:spPr>
          <p:txBody>
            <a:bodyPr wrap="none" rtlCol="0">
              <a:spAutoFit/>
            </a:bodyPr>
            <a:lstStyle/>
            <a:p>
              <a:r>
                <a:rPr lang="nb-NO" sz="1100" b="1" dirty="0" err="1"/>
                <a:t>Poland</a:t>
              </a:r>
              <a:endParaRPr lang="nb-NO" b="1" dirty="0"/>
            </a:p>
          </p:txBody>
        </p:sp>
      </p:grpSp>
    </p:spTree>
    <p:extLst>
      <p:ext uri="{BB962C8B-B14F-4D97-AF65-F5344CB8AC3E}">
        <p14:creationId xmlns:p14="http://schemas.microsoft.com/office/powerpoint/2010/main" val="293427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2204834-3E26-4C92-11B4-6DFE2B0036C4}"/>
              </a:ext>
            </a:extLst>
          </p:cNvPr>
          <p:cNvSpPr>
            <a:spLocks noGrp="1"/>
          </p:cNvSpPr>
          <p:nvPr>
            <p:ph type="title"/>
          </p:nvPr>
        </p:nvSpPr>
        <p:spPr>
          <a:xfrm>
            <a:off x="1292224" y="1061884"/>
            <a:ext cx="4803775" cy="677933"/>
          </a:xfrm>
        </p:spPr>
        <p:txBody>
          <a:bodyPr>
            <a:normAutofit/>
          </a:bodyPr>
          <a:lstStyle/>
          <a:p>
            <a:r>
              <a:rPr lang="en-US" sz="3600" b="1" dirty="0">
                <a:solidFill>
                  <a:schemeClr val="accent1">
                    <a:lumMod val="75000"/>
                  </a:schemeClr>
                </a:solidFill>
              </a:rPr>
              <a:t>Conclusion</a:t>
            </a:r>
          </a:p>
        </p:txBody>
      </p:sp>
      <p:sp>
        <p:nvSpPr>
          <p:cNvPr id="3" name="Content Placeholder 2">
            <a:extLst>
              <a:ext uri="{FF2B5EF4-FFF2-40B4-BE49-F238E27FC236}">
                <a16:creationId xmlns:a16="http://schemas.microsoft.com/office/drawing/2014/main" id="{81491403-8097-9CC0-1ED3-EC691BAA8019}"/>
              </a:ext>
            </a:extLst>
          </p:cNvPr>
          <p:cNvSpPr>
            <a:spLocks noGrp="1"/>
          </p:cNvSpPr>
          <p:nvPr>
            <p:ph idx="1"/>
          </p:nvPr>
        </p:nvSpPr>
        <p:spPr>
          <a:xfrm>
            <a:off x="2023384" y="1904869"/>
            <a:ext cx="8960302" cy="4365302"/>
          </a:xfrm>
        </p:spPr>
        <p:txBody>
          <a:bodyPr>
            <a:normAutofit fontScale="40000" lnSpcReduction="20000"/>
          </a:bodyPr>
          <a:lstStyle/>
          <a:p>
            <a:pPr marL="0" indent="0">
              <a:buNone/>
            </a:pPr>
            <a:endParaRPr lang="nb-NO" sz="2400" b="1" dirty="0"/>
          </a:p>
          <a:p>
            <a:r>
              <a:rPr lang="nb-NO" sz="5000" dirty="0"/>
              <a:t>Multiple SMRs </a:t>
            </a:r>
            <a:r>
              <a:rPr lang="nb-NO" sz="5000" dirty="0" err="1"/>
              <a:t>are</a:t>
            </a:r>
            <a:r>
              <a:rPr lang="nb-NO" sz="5000" dirty="0"/>
              <a:t> </a:t>
            </a:r>
            <a:r>
              <a:rPr lang="nb-NO" sz="5000" dirty="0" err="1"/>
              <a:t>required</a:t>
            </a:r>
            <a:r>
              <a:rPr lang="nb-NO" sz="5000" dirty="0"/>
              <a:t> to </a:t>
            </a:r>
            <a:r>
              <a:rPr lang="nb-NO" sz="5000" dirty="0" err="1"/>
              <a:t>supply</a:t>
            </a:r>
            <a:r>
              <a:rPr lang="nb-NO" sz="5000" dirty="0"/>
              <a:t> </a:t>
            </a:r>
            <a:r>
              <a:rPr lang="nb-NO" sz="5000" dirty="0" err="1"/>
              <a:t>sufficient</a:t>
            </a:r>
            <a:r>
              <a:rPr lang="nb-NO" sz="5000" dirty="0"/>
              <a:t> </a:t>
            </a:r>
            <a:r>
              <a:rPr lang="nb-NO" sz="5000" dirty="0" err="1"/>
              <a:t>energy</a:t>
            </a:r>
            <a:r>
              <a:rPr lang="nb-NO" sz="5000" dirty="0"/>
              <a:t> to </a:t>
            </a:r>
            <a:r>
              <a:rPr lang="nb-NO" sz="5000" dirty="0" err="1"/>
              <a:t>the</a:t>
            </a:r>
            <a:r>
              <a:rPr lang="nb-NO" sz="5000" dirty="0"/>
              <a:t> </a:t>
            </a:r>
            <a:r>
              <a:rPr lang="nb-NO" sz="5000" dirty="0" err="1"/>
              <a:t>entire</a:t>
            </a:r>
            <a:r>
              <a:rPr lang="nb-NO" sz="5000" dirty="0"/>
              <a:t> </a:t>
            </a:r>
            <a:r>
              <a:rPr lang="nb-NO" sz="5000" dirty="0" err="1"/>
              <a:t>facility</a:t>
            </a:r>
            <a:r>
              <a:rPr lang="nb-NO" sz="5000" dirty="0"/>
              <a:t> </a:t>
            </a:r>
            <a:r>
              <a:rPr lang="nb-NO" sz="5000" dirty="0" err="1"/>
              <a:t>when</a:t>
            </a:r>
            <a:r>
              <a:rPr lang="nb-NO" sz="5000" dirty="0"/>
              <a:t> </a:t>
            </a:r>
            <a:r>
              <a:rPr lang="nb-NO" sz="5000" dirty="0" err="1"/>
              <a:t>ammonia</a:t>
            </a:r>
            <a:r>
              <a:rPr lang="nb-NO" sz="5000" dirty="0"/>
              <a:t> </a:t>
            </a:r>
            <a:r>
              <a:rPr lang="nb-NO" sz="5000" dirty="0" err="1"/>
              <a:t>capacity</a:t>
            </a:r>
            <a:r>
              <a:rPr lang="nb-NO" sz="5000" dirty="0"/>
              <a:t> </a:t>
            </a:r>
            <a:r>
              <a:rPr lang="nb-NO" sz="5000" dirty="0" err="1"/>
              <a:t>exceeds</a:t>
            </a:r>
            <a:r>
              <a:rPr lang="nb-NO" sz="5000" dirty="0"/>
              <a:t> 453.8 </a:t>
            </a:r>
            <a:r>
              <a:rPr lang="nb-NO" sz="5000" dirty="0" err="1"/>
              <a:t>tpd</a:t>
            </a:r>
            <a:r>
              <a:rPr lang="nb-NO" sz="5000" dirty="0"/>
              <a:t>.</a:t>
            </a:r>
          </a:p>
          <a:p>
            <a:endParaRPr lang="nb-NO" sz="5000" dirty="0"/>
          </a:p>
          <a:p>
            <a:r>
              <a:rPr lang="nb-NO" sz="5000" dirty="0" err="1"/>
              <a:t>Cogeneration</a:t>
            </a:r>
            <a:r>
              <a:rPr lang="nb-NO" sz="5000" dirty="0"/>
              <a:t> </a:t>
            </a:r>
            <a:r>
              <a:rPr lang="nb-NO" sz="5000" dirty="0" err="1"/>
              <a:t>efficiency</a:t>
            </a:r>
            <a:r>
              <a:rPr lang="nb-NO" sz="5000" dirty="0"/>
              <a:t> </a:t>
            </a:r>
            <a:r>
              <a:rPr lang="nb-NO" sz="5000" dirty="0" err="1"/>
              <a:t>decreases</a:t>
            </a:r>
            <a:r>
              <a:rPr lang="nb-NO" sz="5000" dirty="0"/>
              <a:t> </a:t>
            </a:r>
            <a:r>
              <a:rPr lang="nb-NO" sz="5000" dirty="0" err="1"/>
              <a:t>with</a:t>
            </a:r>
            <a:r>
              <a:rPr lang="nb-NO" sz="5000" dirty="0"/>
              <a:t> </a:t>
            </a:r>
            <a:r>
              <a:rPr lang="nb-NO" sz="5000" dirty="0" err="1"/>
              <a:t>increasing</a:t>
            </a:r>
            <a:r>
              <a:rPr lang="nb-NO" sz="5000" dirty="0"/>
              <a:t> </a:t>
            </a:r>
            <a:r>
              <a:rPr lang="nb-NO" sz="5000" dirty="0" err="1"/>
              <a:t>ammonia</a:t>
            </a:r>
            <a:r>
              <a:rPr lang="nb-NO" sz="5000" dirty="0"/>
              <a:t> </a:t>
            </a:r>
            <a:r>
              <a:rPr lang="nb-NO" sz="5000" dirty="0" err="1"/>
              <a:t>production</a:t>
            </a:r>
            <a:endParaRPr lang="nb-NO" sz="5000" dirty="0"/>
          </a:p>
          <a:p>
            <a:endParaRPr lang="nb-NO" sz="5000" dirty="0"/>
          </a:p>
          <a:p>
            <a:r>
              <a:rPr lang="nb-NO" sz="5000" dirty="0"/>
              <a:t>At nominal </a:t>
            </a:r>
            <a:r>
              <a:rPr lang="nb-NO" sz="5000" dirty="0" err="1"/>
              <a:t>capacity</a:t>
            </a:r>
            <a:r>
              <a:rPr lang="nb-NO" sz="5000" dirty="0"/>
              <a:t> and an </a:t>
            </a:r>
            <a:r>
              <a:rPr lang="nb-NO" sz="5000" dirty="0" err="1"/>
              <a:t>ammonia</a:t>
            </a:r>
            <a:r>
              <a:rPr lang="nb-NO" sz="5000" dirty="0"/>
              <a:t> </a:t>
            </a:r>
            <a:r>
              <a:rPr lang="nb-NO" sz="5000" dirty="0" err="1"/>
              <a:t>price</a:t>
            </a:r>
            <a:r>
              <a:rPr lang="nb-NO" sz="5000" dirty="0"/>
              <a:t> </a:t>
            </a:r>
            <a:r>
              <a:rPr lang="nb-NO" sz="5000" dirty="0" err="1"/>
              <a:t>of</a:t>
            </a:r>
            <a:r>
              <a:rPr lang="nb-NO" sz="5000" dirty="0"/>
              <a:t> 700 €/t, </a:t>
            </a:r>
            <a:r>
              <a:rPr lang="nb-NO" sz="5000" dirty="0" err="1"/>
              <a:t>ammonia</a:t>
            </a:r>
            <a:r>
              <a:rPr lang="nb-NO" sz="5000" dirty="0"/>
              <a:t> </a:t>
            </a:r>
            <a:r>
              <a:rPr lang="nb-NO" sz="5000" dirty="0" err="1"/>
              <a:t>production</a:t>
            </a:r>
            <a:r>
              <a:rPr lang="nb-NO" sz="5000" dirty="0"/>
              <a:t> is more profitable </a:t>
            </a:r>
            <a:r>
              <a:rPr lang="nb-NO" sz="5000" dirty="0" err="1"/>
              <a:t>than</a:t>
            </a:r>
            <a:r>
              <a:rPr lang="nb-NO" sz="5000" dirty="0"/>
              <a:t> </a:t>
            </a:r>
            <a:r>
              <a:rPr lang="nb-NO" sz="5000" dirty="0" err="1"/>
              <a:t>power</a:t>
            </a:r>
            <a:r>
              <a:rPr lang="nb-NO" sz="5000" dirty="0"/>
              <a:t> </a:t>
            </a:r>
            <a:r>
              <a:rPr lang="nb-NO" sz="5000" dirty="0" err="1"/>
              <a:t>production</a:t>
            </a:r>
            <a:r>
              <a:rPr lang="nb-NO" sz="5000" dirty="0"/>
              <a:t> over 90% </a:t>
            </a:r>
            <a:r>
              <a:rPr lang="nb-NO" sz="5000" dirty="0" err="1"/>
              <a:t>of</a:t>
            </a:r>
            <a:r>
              <a:rPr lang="nb-NO" sz="5000" dirty="0"/>
              <a:t> </a:t>
            </a:r>
            <a:r>
              <a:rPr lang="nb-NO" sz="5000" dirty="0" err="1"/>
              <a:t>the</a:t>
            </a:r>
            <a:r>
              <a:rPr lang="nb-NO" sz="5000" dirty="0"/>
              <a:t> operating </a:t>
            </a:r>
            <a:r>
              <a:rPr lang="nb-NO" sz="5000" dirty="0" err="1"/>
              <a:t>hours</a:t>
            </a:r>
            <a:r>
              <a:rPr lang="nb-NO" sz="5000" dirty="0"/>
              <a:t> in </a:t>
            </a:r>
            <a:r>
              <a:rPr lang="nb-NO" sz="5000" dirty="0" err="1"/>
              <a:t>the</a:t>
            </a:r>
            <a:r>
              <a:rPr lang="nb-NO" sz="5000" dirty="0"/>
              <a:t> Norwegian </a:t>
            </a:r>
            <a:r>
              <a:rPr lang="nb-NO" sz="5000" dirty="0" err="1"/>
              <a:t>market</a:t>
            </a:r>
            <a:r>
              <a:rPr lang="nb-NO" sz="5000" dirty="0"/>
              <a:t>, 80% in </a:t>
            </a:r>
            <a:r>
              <a:rPr lang="nb-NO" sz="5000" dirty="0" err="1"/>
              <a:t>the</a:t>
            </a:r>
            <a:r>
              <a:rPr lang="nb-NO" sz="5000" dirty="0"/>
              <a:t> </a:t>
            </a:r>
            <a:r>
              <a:rPr lang="nb-NO" sz="5000" dirty="0" err="1"/>
              <a:t>Swedish</a:t>
            </a:r>
            <a:r>
              <a:rPr lang="nb-NO" sz="5000" dirty="0"/>
              <a:t> </a:t>
            </a:r>
            <a:r>
              <a:rPr lang="nb-NO" sz="5000" dirty="0" err="1"/>
              <a:t>market</a:t>
            </a:r>
            <a:r>
              <a:rPr lang="nb-NO" sz="5000" dirty="0"/>
              <a:t>, and 70% in </a:t>
            </a:r>
            <a:r>
              <a:rPr lang="nb-NO" sz="5000" dirty="0" err="1"/>
              <a:t>the</a:t>
            </a:r>
            <a:r>
              <a:rPr lang="nb-NO" sz="5000" dirty="0"/>
              <a:t> Finnish </a:t>
            </a:r>
            <a:r>
              <a:rPr lang="nb-NO" sz="5000" dirty="0" err="1"/>
              <a:t>market</a:t>
            </a:r>
            <a:r>
              <a:rPr lang="nb-NO" sz="5000" dirty="0"/>
              <a:t>.</a:t>
            </a:r>
          </a:p>
          <a:p>
            <a:endParaRPr lang="nb-NO" sz="5000" dirty="0"/>
          </a:p>
          <a:p>
            <a:r>
              <a:rPr lang="nb-NO" sz="5000" b="1" dirty="0" err="1"/>
              <a:t>Indicates</a:t>
            </a:r>
            <a:r>
              <a:rPr lang="nb-NO" sz="5000" b="1" dirty="0"/>
              <a:t> </a:t>
            </a:r>
            <a:r>
              <a:rPr lang="nb-NO" sz="5000" b="1" dirty="0" err="1"/>
              <a:t>that</a:t>
            </a:r>
            <a:r>
              <a:rPr lang="nb-NO" sz="5000" b="1" dirty="0"/>
              <a:t> </a:t>
            </a:r>
            <a:r>
              <a:rPr lang="nb-NO" sz="5000" b="1" dirty="0" err="1"/>
              <a:t>cogeneration</a:t>
            </a:r>
            <a:r>
              <a:rPr lang="nb-NO" sz="5000" b="1" dirty="0"/>
              <a:t> </a:t>
            </a:r>
            <a:r>
              <a:rPr lang="nb-NO" sz="5000" b="1" dirty="0" err="1"/>
              <a:t>of</a:t>
            </a:r>
            <a:r>
              <a:rPr lang="nb-NO" sz="5000" b="1" dirty="0"/>
              <a:t> </a:t>
            </a:r>
            <a:r>
              <a:rPr lang="nb-NO" sz="5000" b="1" dirty="0" err="1"/>
              <a:t>power</a:t>
            </a:r>
            <a:r>
              <a:rPr lang="nb-NO" sz="5000" b="1" dirty="0"/>
              <a:t> and medium-</a:t>
            </a:r>
            <a:r>
              <a:rPr lang="nb-NO" sz="5000" b="1" dirty="0" err="1"/>
              <a:t>scale</a:t>
            </a:r>
            <a:r>
              <a:rPr lang="nb-NO" sz="5000" b="1" dirty="0"/>
              <a:t> </a:t>
            </a:r>
            <a:r>
              <a:rPr lang="nb-NO" sz="5000" b="1" dirty="0" err="1"/>
              <a:t>ammonia</a:t>
            </a:r>
            <a:r>
              <a:rPr lang="nb-NO" sz="5000" b="1" dirty="0"/>
              <a:t> </a:t>
            </a:r>
            <a:r>
              <a:rPr lang="nb-NO" sz="5000" b="1" dirty="0" err="1"/>
              <a:t>production</a:t>
            </a:r>
            <a:r>
              <a:rPr lang="nb-NO" sz="5000" b="1" dirty="0"/>
              <a:t> is more profitable </a:t>
            </a:r>
            <a:r>
              <a:rPr lang="nb-NO" sz="5000" b="1" dirty="0" err="1"/>
              <a:t>compared</a:t>
            </a:r>
            <a:r>
              <a:rPr lang="nb-NO" sz="5000" b="1" dirty="0"/>
              <a:t> to </a:t>
            </a:r>
            <a:r>
              <a:rPr lang="nb-NO" sz="5000" b="1" dirty="0" err="1"/>
              <a:t>only</a:t>
            </a:r>
            <a:r>
              <a:rPr lang="nb-NO" sz="5000" b="1" dirty="0"/>
              <a:t> </a:t>
            </a:r>
            <a:r>
              <a:rPr lang="nb-NO" sz="5000" b="1" dirty="0" err="1"/>
              <a:t>power</a:t>
            </a:r>
            <a:r>
              <a:rPr lang="nb-NO" sz="5000" b="1" dirty="0"/>
              <a:t> </a:t>
            </a:r>
            <a:r>
              <a:rPr lang="nb-NO" sz="5000" b="1" dirty="0" err="1"/>
              <a:t>production</a:t>
            </a:r>
            <a:r>
              <a:rPr lang="nb-NO" sz="5000" b="1" dirty="0"/>
              <a:t> in North Europe, and in </a:t>
            </a:r>
            <a:r>
              <a:rPr lang="nb-NO" sz="5000" b="1" dirty="0" err="1"/>
              <a:t>other</a:t>
            </a:r>
            <a:r>
              <a:rPr lang="nb-NO" sz="5000" b="1" dirty="0"/>
              <a:t> regions </a:t>
            </a:r>
            <a:r>
              <a:rPr lang="nb-NO" sz="5000" b="1" dirty="0" err="1"/>
              <a:t>with</a:t>
            </a:r>
            <a:r>
              <a:rPr lang="nb-NO" sz="5000" b="1" dirty="0"/>
              <a:t> </a:t>
            </a:r>
            <a:r>
              <a:rPr lang="nb-NO" sz="5000" b="1" dirty="0" err="1"/>
              <a:t>similar</a:t>
            </a:r>
            <a:r>
              <a:rPr lang="nb-NO" sz="5000" b="1" dirty="0"/>
              <a:t> </a:t>
            </a:r>
            <a:r>
              <a:rPr lang="nb-NO" sz="5000" b="1" dirty="0" err="1"/>
              <a:t>low</a:t>
            </a:r>
            <a:r>
              <a:rPr lang="nb-NO" sz="5000" b="1" dirty="0"/>
              <a:t> </a:t>
            </a:r>
            <a:r>
              <a:rPr lang="nb-NO" sz="5000" b="1" dirty="0" err="1"/>
              <a:t>power</a:t>
            </a:r>
            <a:r>
              <a:rPr lang="nb-NO" sz="5000" b="1" dirty="0"/>
              <a:t> </a:t>
            </a:r>
            <a:r>
              <a:rPr lang="nb-NO" sz="5000" b="1" dirty="0" err="1"/>
              <a:t>prices</a:t>
            </a:r>
            <a:r>
              <a:rPr lang="nb-NO" sz="5000" b="1" dirty="0"/>
              <a:t>, </a:t>
            </a:r>
            <a:r>
              <a:rPr lang="nb-NO" sz="5000" b="1" dirty="0" err="1"/>
              <a:t>despite</a:t>
            </a:r>
            <a:r>
              <a:rPr lang="nb-NO" sz="5000" b="1" dirty="0"/>
              <a:t> </a:t>
            </a:r>
            <a:r>
              <a:rPr lang="nb-NO" sz="5000" b="1" dirty="0" err="1"/>
              <a:t>lower</a:t>
            </a:r>
            <a:r>
              <a:rPr lang="nb-NO" sz="5000" b="1" dirty="0"/>
              <a:t> system </a:t>
            </a:r>
            <a:r>
              <a:rPr lang="nb-NO" sz="5000" b="1" dirty="0" err="1"/>
              <a:t>efficiencies</a:t>
            </a:r>
            <a:r>
              <a:rPr lang="nb-NO" sz="5000" b="1" dirty="0"/>
              <a:t>.</a:t>
            </a:r>
          </a:p>
          <a:p>
            <a:endParaRPr lang="nb-NO" sz="2400" b="1" dirty="0"/>
          </a:p>
          <a:p>
            <a:endParaRPr lang="nb-NO" b="1" dirty="0"/>
          </a:p>
        </p:txBody>
      </p:sp>
    </p:spTree>
    <p:extLst>
      <p:ext uri="{BB962C8B-B14F-4D97-AF65-F5344CB8AC3E}">
        <p14:creationId xmlns:p14="http://schemas.microsoft.com/office/powerpoint/2010/main" val="227509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24AE9-B155-6E4D-1108-1A51D79B3C60}"/>
              </a:ext>
            </a:extLst>
          </p:cNvPr>
          <p:cNvSpPr>
            <a:spLocks noGrp="1"/>
          </p:cNvSpPr>
          <p:nvPr>
            <p:ph type="title"/>
          </p:nvPr>
        </p:nvSpPr>
        <p:spPr>
          <a:xfrm>
            <a:off x="1930399" y="2527300"/>
            <a:ext cx="8331202" cy="1308100"/>
          </a:xfrm>
        </p:spPr>
        <p:txBody>
          <a:bodyPr anchor="b">
            <a:normAutofit/>
          </a:bodyPr>
          <a:lstStyle/>
          <a:p>
            <a:r>
              <a:rPr lang="nb-NO" sz="8800" dirty="0" err="1"/>
              <a:t>Thank</a:t>
            </a:r>
            <a:r>
              <a:rPr lang="nb-NO" sz="8800" dirty="0"/>
              <a:t> </a:t>
            </a:r>
            <a:r>
              <a:rPr lang="nb-NO" sz="8800" dirty="0" err="1"/>
              <a:t>you</a:t>
            </a:r>
            <a:endParaRPr lang="nb-NO" sz="8800" dirty="0"/>
          </a:p>
        </p:txBody>
      </p:sp>
    </p:spTree>
    <p:extLst>
      <p:ext uri="{BB962C8B-B14F-4D97-AF65-F5344CB8AC3E}">
        <p14:creationId xmlns:p14="http://schemas.microsoft.com/office/powerpoint/2010/main" val="1974131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6CDD0112-4D4D-DDA1-9BCF-E1059A2B95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CF8C25-71B4-1104-9246-7C63035CB90F}"/>
              </a:ext>
            </a:extLst>
          </p:cNvPr>
          <p:cNvPicPr>
            <a:picLocks noChangeAspect="1"/>
          </p:cNvPicPr>
          <p:nvPr/>
        </p:nvPicPr>
        <p:blipFill>
          <a:blip r:embed="rId2"/>
          <a:stretch>
            <a:fillRect/>
          </a:stretch>
        </p:blipFill>
        <p:spPr>
          <a:xfrm>
            <a:off x="2200261" y="1328057"/>
            <a:ext cx="8695035" cy="5391380"/>
          </a:xfrm>
          <a:prstGeom prst="rect">
            <a:avLst/>
          </a:prstGeom>
        </p:spPr>
      </p:pic>
      <p:sp>
        <p:nvSpPr>
          <p:cNvPr id="9" name="TextBox 8">
            <a:extLst>
              <a:ext uri="{FF2B5EF4-FFF2-40B4-BE49-F238E27FC236}">
                <a16:creationId xmlns:a16="http://schemas.microsoft.com/office/drawing/2014/main" id="{3BC1E57D-603E-5F63-2E99-22149FAC4960}"/>
              </a:ext>
            </a:extLst>
          </p:cNvPr>
          <p:cNvSpPr txBox="1"/>
          <p:nvPr/>
        </p:nvSpPr>
        <p:spPr>
          <a:xfrm>
            <a:off x="3897084" y="522514"/>
            <a:ext cx="5301388" cy="461665"/>
          </a:xfrm>
          <a:prstGeom prst="rect">
            <a:avLst/>
          </a:prstGeom>
          <a:noFill/>
        </p:spPr>
        <p:txBody>
          <a:bodyPr wrap="none" rtlCol="0">
            <a:spAutoFit/>
          </a:bodyPr>
          <a:lstStyle/>
          <a:p>
            <a:r>
              <a:rPr lang="nb-NO" sz="2400" b="1" dirty="0" err="1">
                <a:latin typeface="+mj-lt"/>
              </a:rPr>
              <a:t>Efficiencies</a:t>
            </a:r>
            <a:r>
              <a:rPr lang="nb-NO" sz="2400" b="1" dirty="0">
                <a:latin typeface="+mj-lt"/>
              </a:rPr>
              <a:t> (Gross </a:t>
            </a:r>
            <a:r>
              <a:rPr lang="nb-NO" sz="2400" b="1" dirty="0" err="1">
                <a:latin typeface="+mj-lt"/>
              </a:rPr>
              <a:t>electric</a:t>
            </a:r>
            <a:r>
              <a:rPr lang="nb-NO" sz="2400" b="1" dirty="0">
                <a:latin typeface="+mj-lt"/>
              </a:rPr>
              <a:t> </a:t>
            </a:r>
            <a:r>
              <a:rPr lang="nb-NO" sz="2400" b="1" dirty="0" err="1">
                <a:latin typeface="+mj-lt"/>
              </a:rPr>
              <a:t>production</a:t>
            </a:r>
            <a:r>
              <a:rPr lang="nb-NO" sz="2400" b="1" dirty="0">
                <a:latin typeface="+mj-lt"/>
              </a:rPr>
              <a:t>)</a:t>
            </a:r>
          </a:p>
        </p:txBody>
      </p:sp>
    </p:spTree>
    <p:extLst>
      <p:ext uri="{BB962C8B-B14F-4D97-AF65-F5344CB8AC3E}">
        <p14:creationId xmlns:p14="http://schemas.microsoft.com/office/powerpoint/2010/main" val="3889625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A9148B3-5B53-41CB-4DFE-0CC2D8F7CCA3}"/>
              </a:ext>
            </a:extLst>
          </p:cNvPr>
          <p:cNvSpPr>
            <a:spLocks noGrp="1"/>
          </p:cNvSpPr>
          <p:nvPr>
            <p:ph type="title"/>
          </p:nvPr>
        </p:nvSpPr>
        <p:spPr>
          <a:xfrm>
            <a:off x="3585614" y="0"/>
            <a:ext cx="5580593" cy="1325563"/>
          </a:xfrm>
        </p:spPr>
        <p:txBody>
          <a:bodyPr>
            <a:normAutofit/>
          </a:bodyPr>
          <a:lstStyle/>
          <a:p>
            <a:pPr algn="ctr"/>
            <a:r>
              <a:rPr lang="nb-NO" sz="2800" b="1" dirty="0">
                <a:solidFill>
                  <a:schemeClr val="tx1">
                    <a:lumMod val="75000"/>
                    <a:lumOff val="25000"/>
                  </a:schemeClr>
                </a:solidFill>
              </a:rPr>
              <a:t>Optimal </a:t>
            </a:r>
            <a:r>
              <a:rPr lang="nb-NO" sz="2800" b="1" dirty="0" err="1">
                <a:solidFill>
                  <a:schemeClr val="tx1">
                    <a:lumMod val="75000"/>
                    <a:lumOff val="25000"/>
                  </a:schemeClr>
                </a:solidFill>
              </a:rPr>
              <a:t>ammonia</a:t>
            </a:r>
            <a:r>
              <a:rPr lang="nb-NO" sz="2800" b="1" dirty="0">
                <a:solidFill>
                  <a:schemeClr val="tx1">
                    <a:lumMod val="75000"/>
                    <a:lumOff val="25000"/>
                  </a:schemeClr>
                </a:solidFill>
              </a:rPr>
              <a:t> </a:t>
            </a:r>
            <a:r>
              <a:rPr lang="nb-NO" sz="2800" b="1" dirty="0" err="1">
                <a:solidFill>
                  <a:schemeClr val="tx1">
                    <a:lumMod val="75000"/>
                    <a:lumOff val="25000"/>
                  </a:schemeClr>
                </a:solidFill>
              </a:rPr>
              <a:t>capacity</a:t>
            </a:r>
            <a:endParaRPr lang="nb-NO" sz="4000" b="1" dirty="0">
              <a:solidFill>
                <a:schemeClr val="tx1">
                  <a:lumMod val="75000"/>
                  <a:lumOff val="25000"/>
                </a:schemeClr>
              </a:solidFill>
            </a:endParaRPr>
          </a:p>
        </p:txBody>
      </p:sp>
      <p:pic>
        <p:nvPicPr>
          <p:cNvPr id="3" name="Picture 2">
            <a:extLst>
              <a:ext uri="{FF2B5EF4-FFF2-40B4-BE49-F238E27FC236}">
                <a16:creationId xmlns:a16="http://schemas.microsoft.com/office/drawing/2014/main" id="{FA57CEFC-9FB0-EEDF-5025-9FBE4E7844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83" y="1050401"/>
            <a:ext cx="5888904" cy="5040000"/>
          </a:xfrm>
          <a:prstGeom prst="rect">
            <a:avLst/>
          </a:prstGeom>
        </p:spPr>
      </p:pic>
      <p:pic>
        <p:nvPicPr>
          <p:cNvPr id="5" name="Picture 4">
            <a:extLst>
              <a:ext uri="{FF2B5EF4-FFF2-40B4-BE49-F238E27FC236}">
                <a16:creationId xmlns:a16="http://schemas.microsoft.com/office/drawing/2014/main" id="{199576E7-33CB-759E-DD48-41B72A89F5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0413" y="1038042"/>
            <a:ext cx="5888905" cy="5040000"/>
          </a:xfrm>
          <a:prstGeom prst="rect">
            <a:avLst/>
          </a:prstGeom>
        </p:spPr>
      </p:pic>
      <p:sp>
        <p:nvSpPr>
          <p:cNvPr id="2" name="TextBox 1">
            <a:extLst>
              <a:ext uri="{FF2B5EF4-FFF2-40B4-BE49-F238E27FC236}">
                <a16:creationId xmlns:a16="http://schemas.microsoft.com/office/drawing/2014/main" id="{0C8CF6AB-67B6-A815-CD7B-488079F5E7D5}"/>
              </a:ext>
            </a:extLst>
          </p:cNvPr>
          <p:cNvSpPr txBox="1"/>
          <p:nvPr/>
        </p:nvSpPr>
        <p:spPr>
          <a:xfrm>
            <a:off x="-1" y="6488668"/>
            <a:ext cx="2173993" cy="338554"/>
          </a:xfrm>
          <a:prstGeom prst="rect">
            <a:avLst/>
          </a:prstGeom>
          <a:noFill/>
        </p:spPr>
        <p:txBody>
          <a:bodyPr wrap="none" rtlCol="0">
            <a:spAutoFit/>
          </a:bodyPr>
          <a:lstStyle/>
          <a:p>
            <a:r>
              <a:rPr lang="nb-NO" sz="1600" dirty="0">
                <a:solidFill>
                  <a:schemeClr val="tx1">
                    <a:lumMod val="75000"/>
                    <a:lumOff val="25000"/>
                  </a:schemeClr>
                </a:solidFill>
              </a:rPr>
              <a:t>(500 </a:t>
            </a:r>
            <a:r>
              <a:rPr lang="nb-NO" sz="1600" dirty="0" err="1">
                <a:solidFill>
                  <a:schemeClr val="tx1">
                    <a:lumMod val="75000"/>
                    <a:lumOff val="25000"/>
                  </a:schemeClr>
                </a:solidFill>
              </a:rPr>
              <a:t>tpd</a:t>
            </a:r>
            <a:r>
              <a:rPr lang="nb-NO" sz="1600" dirty="0">
                <a:solidFill>
                  <a:schemeClr val="tx1">
                    <a:lumMod val="75000"/>
                    <a:lumOff val="25000"/>
                  </a:schemeClr>
                </a:solidFill>
              </a:rPr>
              <a:t> nominal </a:t>
            </a:r>
            <a:r>
              <a:rPr lang="nb-NO" sz="1600" dirty="0" err="1">
                <a:solidFill>
                  <a:schemeClr val="tx1">
                    <a:lumMod val="75000"/>
                    <a:lumOff val="25000"/>
                  </a:schemeClr>
                </a:solidFill>
              </a:rPr>
              <a:t>load</a:t>
            </a:r>
            <a:r>
              <a:rPr lang="nb-NO" sz="1600" dirty="0">
                <a:solidFill>
                  <a:schemeClr val="tx1">
                    <a:lumMod val="75000"/>
                    <a:lumOff val="25000"/>
                  </a:schemeClr>
                </a:solidFill>
              </a:rPr>
              <a:t>)</a:t>
            </a:r>
            <a:endParaRPr lang="nb-NO" sz="1600" dirty="0"/>
          </a:p>
        </p:txBody>
      </p:sp>
    </p:spTree>
    <p:extLst>
      <p:ext uri="{BB962C8B-B14F-4D97-AF65-F5344CB8AC3E}">
        <p14:creationId xmlns:p14="http://schemas.microsoft.com/office/powerpoint/2010/main" val="3526828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41CA7C-A0BF-44EF-B2E5-7539C3B9B0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E879E6-8FFE-4154-8F2A-F7518B89B37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7E0A2CB4-6869-426F-8BC4-A32C90CBE2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18483</TotalTime>
  <Words>885</Words>
  <Application>Microsoft Office PowerPoint</Application>
  <PresentationFormat>Widescreen</PresentationFormat>
  <Paragraphs>187</Paragraphs>
  <Slides>32</Slides>
  <Notes>7</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Calibri</vt:lpstr>
      <vt:lpstr>Office Theme</vt:lpstr>
      <vt:lpstr>Master’s thesis presentation by Henrik Bergersen</vt:lpstr>
      <vt:lpstr>Cogeneration of Power and Ammonia in Europe using Small Modular Pressurized Water Reactors </vt:lpstr>
      <vt:lpstr>Table of contents</vt:lpstr>
      <vt:lpstr>Background</vt:lpstr>
      <vt:lpstr>Objective</vt:lpstr>
      <vt:lpstr>Theory on nuclear cogeneration</vt:lpstr>
      <vt:lpstr>Small modular pressurized water reactor</vt:lpstr>
      <vt:lpstr>Green ammonia synthesis</vt:lpstr>
      <vt:lpstr>Haber Bosch Process</vt:lpstr>
      <vt:lpstr>High-Temperature Steam Electrolysis</vt:lpstr>
      <vt:lpstr>Cogeneration</vt:lpstr>
      <vt:lpstr>Cogeneration efficiency</vt:lpstr>
      <vt:lpstr>Cogeneration of power &amp; green ammonia diagram </vt:lpstr>
      <vt:lpstr>Theory on techno-economic analysis</vt:lpstr>
      <vt:lpstr>Total revenues from power and ammonia</vt:lpstr>
      <vt:lpstr>Power prices in Europe</vt:lpstr>
      <vt:lpstr>Ammonia prices in Europe</vt:lpstr>
      <vt:lpstr>Production costs</vt:lpstr>
      <vt:lpstr>Methodology</vt:lpstr>
      <vt:lpstr>Reactor model based on European-SMR</vt:lpstr>
      <vt:lpstr>Thermodynamic model</vt:lpstr>
      <vt:lpstr>Marginal Break-Even Electricity price</vt:lpstr>
      <vt:lpstr>Results</vt:lpstr>
      <vt:lpstr>PowerPoint Presentation</vt:lpstr>
      <vt:lpstr>PowerPoint Presentation</vt:lpstr>
      <vt:lpstr>Marginal break-even electricity price</vt:lpstr>
      <vt:lpstr>Maximized profits per market</vt:lpstr>
      <vt:lpstr>Mode of operation based on market volatility</vt:lpstr>
      <vt:lpstr>Conclusion</vt:lpstr>
      <vt:lpstr>Thank you</vt:lpstr>
      <vt:lpstr>PowerPoint Presentation</vt:lpstr>
      <vt:lpstr>Optimal ammonia capacity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Henrik Stenrud Bergersen</dc:creator>
  <cp:lastModifiedBy>Henrik Stenrud Bergersen</cp:lastModifiedBy>
  <cp:revision>66</cp:revision>
  <dcterms:created xsi:type="dcterms:W3CDTF">2025-09-17T18:29:09Z</dcterms:created>
  <dcterms:modified xsi:type="dcterms:W3CDTF">2026-03-30T17:41:02Z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